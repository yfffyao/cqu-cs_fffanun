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3"/>
  </p:notesMasterIdLst>
  <p:handoutMasterIdLst>
    <p:handoutMasterId r:id="rId104"/>
  </p:handoutMasterIdLst>
  <p:sldIdLst>
    <p:sldId id="275" r:id="rId3"/>
    <p:sldId id="276" r:id="rId4"/>
    <p:sldId id="277" r:id="rId5"/>
    <p:sldId id="639" r:id="rId6"/>
    <p:sldId id="278" r:id="rId7"/>
    <p:sldId id="279" r:id="rId8"/>
    <p:sldId id="280" r:id="rId9"/>
    <p:sldId id="282" r:id="rId10"/>
    <p:sldId id="291" r:id="rId11"/>
    <p:sldId id="292" r:id="rId12"/>
    <p:sldId id="293" r:id="rId13"/>
    <p:sldId id="294" r:id="rId14"/>
    <p:sldId id="641" r:id="rId15"/>
    <p:sldId id="642" r:id="rId16"/>
    <p:sldId id="643" r:id="rId17"/>
    <p:sldId id="644" r:id="rId18"/>
    <p:sldId id="645" r:id="rId19"/>
    <p:sldId id="283" r:id="rId20"/>
    <p:sldId id="646" r:id="rId21"/>
    <p:sldId id="647" r:id="rId22"/>
    <p:sldId id="648" r:id="rId23"/>
    <p:sldId id="649" r:id="rId24"/>
    <p:sldId id="650" r:id="rId25"/>
    <p:sldId id="651" r:id="rId26"/>
    <p:sldId id="290" r:id="rId27"/>
    <p:sldId id="652" r:id="rId28"/>
    <p:sldId id="653" r:id="rId29"/>
    <p:sldId id="493" r:id="rId30"/>
    <p:sldId id="492" r:id="rId31"/>
    <p:sldId id="775" r:id="rId32"/>
    <p:sldId id="776" r:id="rId33"/>
    <p:sldId id="777" r:id="rId34"/>
    <p:sldId id="929" r:id="rId35"/>
    <p:sldId id="778" r:id="rId36"/>
    <p:sldId id="779" r:id="rId37"/>
    <p:sldId id="928" r:id="rId38"/>
    <p:sldId id="780" r:id="rId39"/>
    <p:sldId id="781" r:id="rId40"/>
    <p:sldId id="782" r:id="rId41"/>
    <p:sldId id="930" r:id="rId42"/>
    <p:sldId id="1059" r:id="rId43"/>
    <p:sldId id="1060" r:id="rId44"/>
    <p:sldId id="1061" r:id="rId45"/>
    <p:sldId id="1062" r:id="rId46"/>
    <p:sldId id="783" r:id="rId47"/>
    <p:sldId id="931" r:id="rId48"/>
    <p:sldId id="932" r:id="rId49"/>
    <p:sldId id="784" r:id="rId50"/>
    <p:sldId id="877" r:id="rId51"/>
    <p:sldId id="785" r:id="rId52"/>
    <p:sldId id="934" r:id="rId53"/>
    <p:sldId id="935" r:id="rId54"/>
    <p:sldId id="936" r:id="rId55"/>
    <p:sldId id="787" r:id="rId56"/>
    <p:sldId id="829" r:id="rId57"/>
    <p:sldId id="830" r:id="rId58"/>
    <p:sldId id="937" r:id="rId59"/>
    <p:sldId id="788" r:id="rId60"/>
    <p:sldId id="938" r:id="rId61"/>
    <p:sldId id="939" r:id="rId62"/>
    <p:sldId id="940" r:id="rId63"/>
    <p:sldId id="941" r:id="rId64"/>
    <p:sldId id="790" r:id="rId65"/>
    <p:sldId id="942" r:id="rId66"/>
    <p:sldId id="791" r:id="rId67"/>
    <p:sldId id="998" r:id="rId68"/>
    <p:sldId id="999" r:id="rId69"/>
    <p:sldId id="794" r:id="rId70"/>
    <p:sldId id="1001" r:id="rId71"/>
    <p:sldId id="793" r:id="rId72"/>
    <p:sldId id="797" r:id="rId73"/>
    <p:sldId id="1041" r:id="rId74"/>
    <p:sldId id="832" r:id="rId75"/>
    <p:sldId id="833" r:id="rId76"/>
    <p:sldId id="1043" r:id="rId77"/>
    <p:sldId id="1044" r:id="rId78"/>
    <p:sldId id="795" r:id="rId79"/>
    <p:sldId id="796" r:id="rId80"/>
    <p:sldId id="1045" r:id="rId81"/>
    <p:sldId id="1046" r:id="rId82"/>
    <p:sldId id="834" r:id="rId83"/>
    <p:sldId id="835" r:id="rId84"/>
    <p:sldId id="799" r:id="rId85"/>
    <p:sldId id="800" r:id="rId86"/>
    <p:sldId id="1047" r:id="rId87"/>
    <p:sldId id="1048" r:id="rId88"/>
    <p:sldId id="801" r:id="rId89"/>
    <p:sldId id="802" r:id="rId90"/>
    <p:sldId id="1049" r:id="rId91"/>
    <p:sldId id="1064" r:id="rId92"/>
    <p:sldId id="1050" r:id="rId93"/>
    <p:sldId id="1051" r:id="rId94"/>
    <p:sldId id="1052" r:id="rId95"/>
    <p:sldId id="1063" r:id="rId96"/>
    <p:sldId id="1053" r:id="rId97"/>
    <p:sldId id="1054" r:id="rId98"/>
    <p:sldId id="1055" r:id="rId99"/>
    <p:sldId id="1056" r:id="rId100"/>
    <p:sldId id="1057" r:id="rId101"/>
    <p:sldId id="1058" r:id="rId102"/>
  </p:sldIdLst>
  <p:sldSz cx="9144000" cy="6858000" type="screen4x3"/>
  <p:notesSz cx="6858000" cy="9144000"/>
  <p:custDataLst>
    <p:tags r:id="rId108"/>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2078"/>
    <p:restoredTop sz="93392"/>
  </p:normalViewPr>
  <p:slideViewPr>
    <p:cSldViewPr showGuides="1">
      <p:cViewPr varScale="1">
        <p:scale>
          <a:sx n="89" d="100"/>
          <a:sy n="89" d="100"/>
        </p:scale>
        <p:origin x="1720" y="1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8" Type="http://schemas.openxmlformats.org/officeDocument/2006/relationships/tags" Target="tags/tag22.xml"/><Relationship Id="rId107" Type="http://schemas.openxmlformats.org/officeDocument/2006/relationships/tableStyles" Target="tableStyles.xml"/><Relationship Id="rId106" Type="http://schemas.openxmlformats.org/officeDocument/2006/relationships/viewProps" Target="viewProps.xml"/><Relationship Id="rId105" Type="http://schemas.openxmlformats.org/officeDocument/2006/relationships/presProps" Target="presProps.xml"/><Relationship Id="rId104" Type="http://schemas.openxmlformats.org/officeDocument/2006/relationships/handoutMaster" Target="handoutMasters/handoutMaster1.xml"/><Relationship Id="rId103" Type="http://schemas.openxmlformats.org/officeDocument/2006/relationships/notesMaster" Target="notesMasters/notesMaster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kumimoji="1" sz="1200">
                <a:latin typeface="Arial" panose="020B0604020202090204" pitchFamily="34" charset="0"/>
                <a:ea typeface="宋体"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kumimoji="1" sz="1200">
                <a:latin typeface="Arial" panose="020B0604020202090204" pitchFamily="34" charset="0"/>
                <a:ea typeface="宋体"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921D5B80-0053-734A-916E-B57E5C85D004}" type="datetimeFigureOut">
              <a:rPr kumimoji="1"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fld>
            <a:endParaRPr kumimoji="1"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kumimoji="1" sz="1200">
                <a:latin typeface="Arial" panose="020B0604020202090204" pitchFamily="34" charset="0"/>
                <a:ea typeface="宋体"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 name="幻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kumimoji="1" sz="1200">
                <a:latin typeface="Arial" panose="020B0604020202090204" pitchFamily="34" charset="0"/>
                <a:ea typeface="宋体"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0238A741-4FA4-6740-9B03-088BC8626021}" type="slidenum">
              <a:rPr kumimoji="1"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fld>
            <a:endParaRPr kumimoji="1"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kumimoji="1" sz="1200">
                <a:latin typeface="Arial" panose="020B0604020202090204" pitchFamily="34" charset="0"/>
                <a:ea typeface="宋体"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kumimoji="1" sz="1200">
                <a:latin typeface="Arial" panose="020B0604020202090204" pitchFamily="34" charset="0"/>
                <a:ea typeface="宋体"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1547C221-3063-054E-ABFD-2C84277EC014}" type="datetimeFigureOut">
              <a:rPr kumimoji="1"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fld>
            <a:endParaRPr kumimoji="1"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等线" panose="02010600030101010101" charset="-122"/>
            </a:endParaRPr>
          </a:p>
        </p:txBody>
      </p:sp>
      <p:sp>
        <p:nvSpPr>
          <p:cNvPr id="4101" name="备注占位符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nchorCtr="0"/>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kumimoji="1" sz="1200">
                <a:latin typeface="Arial" panose="020B0604020202090204" pitchFamily="34" charset="0"/>
                <a:ea typeface="宋体"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7" name="幻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kumimoji="1" sz="1200">
                <a:latin typeface="Arial" panose="020B0604020202090204" pitchFamily="34" charset="0"/>
                <a:ea typeface="宋体"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C23E7635-2BC9-9B45-90E1-83CDC637BB5D}" type="slidenum">
              <a:rPr kumimoji="1"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fld>
            <a:endParaRPr kumimoji="1"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等线" panose="02010600030101010101" charset="-122"/>
      </a:defRPr>
    </a:lvl1pPr>
    <a:lvl2pPr marL="457200" algn="l" rtl="0" eaLnBrk="0" fontAlgn="base" hangingPunct="0">
      <a:spcBef>
        <a:spcPct val="30000"/>
      </a:spcBef>
      <a:spcAft>
        <a:spcPct val="0"/>
      </a:spcAft>
      <a:defRPr sz="1200" kern="1200">
        <a:solidFill>
          <a:schemeClr val="tx1"/>
        </a:solidFill>
        <a:latin typeface="+mn-lt"/>
        <a:ea typeface="+mn-ea"/>
        <a:cs typeface="等线" panose="02010600030101010101" charset="-122"/>
      </a:defRPr>
    </a:lvl2pPr>
    <a:lvl3pPr marL="914400" algn="l" rtl="0" eaLnBrk="0" fontAlgn="base" hangingPunct="0">
      <a:spcBef>
        <a:spcPct val="30000"/>
      </a:spcBef>
      <a:spcAft>
        <a:spcPct val="0"/>
      </a:spcAft>
      <a:defRPr sz="1200" kern="1200">
        <a:solidFill>
          <a:schemeClr val="tx1"/>
        </a:solidFill>
        <a:latin typeface="+mn-lt"/>
        <a:ea typeface="+mn-ea"/>
        <a:cs typeface="等线" panose="02010600030101010101" charset="-122"/>
      </a:defRPr>
    </a:lvl3pPr>
    <a:lvl4pPr marL="1371600" algn="l" rtl="0" eaLnBrk="0" fontAlgn="base" hangingPunct="0">
      <a:spcBef>
        <a:spcPct val="30000"/>
      </a:spcBef>
      <a:spcAft>
        <a:spcPct val="0"/>
      </a:spcAft>
      <a:defRPr sz="1200" kern="1200">
        <a:solidFill>
          <a:schemeClr val="tx1"/>
        </a:solidFill>
        <a:latin typeface="+mn-lt"/>
        <a:ea typeface="+mn-ea"/>
        <a:cs typeface="等线" panose="02010600030101010101" charset="-122"/>
      </a:defRPr>
    </a:lvl4pPr>
    <a:lvl5pPr marL="1828800" algn="l" rtl="0" eaLnBrk="0" fontAlgn="base" hangingPunct="0">
      <a:spcBef>
        <a:spcPct val="30000"/>
      </a:spcBef>
      <a:spcAft>
        <a:spcPct val="0"/>
      </a:spcAft>
      <a:defRPr sz="1200" kern="1200">
        <a:solidFill>
          <a:schemeClr val="tx1"/>
        </a:solidFill>
        <a:latin typeface="+mn-lt"/>
        <a:ea typeface="+mn-ea"/>
        <a:cs typeface="等线" panose="0201060003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blipFill>
        <a:effectLst/>
      </p:bgPr>
    </p:bg>
    <p:spTree>
      <p:nvGrpSpPr>
        <p:cNvPr id="1" name=""/>
        <p:cNvGrpSpPr/>
        <p:nvPr/>
      </p:nvGrpSpPr>
      <p:grpSpPr>
        <a:xfrm>
          <a:off x="0" y="0"/>
          <a:ext cx="0" cy="0"/>
          <a:chOff x="0" y="0"/>
          <a:chExt cx="0" cy="0"/>
        </a:xfrm>
      </p:grpSpPr>
      <p:sp>
        <p:nvSpPr>
          <p:cNvPr id="2" name="未知"/>
          <p:cNvSpPr/>
          <p:nvPr/>
        </p:nvSpPr>
        <p:spPr>
          <a:xfrm>
            <a:off x="609600" y="1219200"/>
            <a:ext cx="7924800" cy="914400"/>
          </a:xfrm>
          <a:custGeom>
            <a:avLst/>
            <a:gdLst/>
            <a:ahLst/>
            <a:cxnLst>
              <a:cxn ang="0">
                <a:pos x="0" y="2147483646"/>
              </a:cxn>
              <a:cxn ang="0">
                <a:pos x="0" y="0"/>
              </a:cxn>
              <a:cxn ang="0">
                <a:pos x="2147483646" y="0"/>
              </a:cxn>
            </a:cxnLst>
            <a:pathLst>
              <a:path w="1000" h="1000">
                <a:moveTo>
                  <a:pt x="0" y="1000"/>
                </a:moveTo>
                <a:lnTo>
                  <a:pt x="0" y="0"/>
                </a:lnTo>
                <a:lnTo>
                  <a:pt x="1000" y="0"/>
                </a:lnTo>
              </a:path>
            </a:pathLst>
          </a:custGeom>
          <a:noFill/>
          <a:ln w="25400" cap="flat" cmpd="sng">
            <a:solidFill>
              <a:schemeClr val="accent1"/>
            </a:solidFill>
            <a:prstDash val="solid"/>
            <a:round/>
            <a:headEnd type="none" w="med" len="med"/>
            <a:tailEnd type="none" w="med" len="med"/>
          </a:ln>
        </p:spPr>
        <p:txBody>
          <a:bodyPr/>
          <a:p>
            <a:endParaRPr lang="zh-CN" altLang="en-US"/>
          </a:p>
        </p:txBody>
      </p:sp>
      <p:sp>
        <p:nvSpPr>
          <p:cNvPr id="3" name="Line 8"/>
          <p:cNvSpPr/>
          <p:nvPr/>
        </p:nvSpPr>
        <p:spPr>
          <a:xfrm>
            <a:off x="1981200" y="3962400"/>
            <a:ext cx="6511925" cy="0"/>
          </a:xfrm>
          <a:prstGeom prst="line">
            <a:avLst/>
          </a:prstGeom>
          <a:ln w="19050" cap="flat" cmpd="sng">
            <a:solidFill>
              <a:schemeClr val="accent1"/>
            </a:solidFill>
            <a:prstDash val="solid"/>
            <a:round/>
            <a:headEnd type="none" w="med" len="med"/>
            <a:tailEnd type="none" w="med" len="med"/>
          </a:ln>
        </p:spPr>
      </p:sp>
      <p:sp>
        <p:nvSpPr>
          <p:cNvPr id="2050" name="Rectangle 2"/>
          <p:cNvSpPr>
            <a:spLocks noGrp="1" noChangeArrowheads="1"/>
          </p:cNvSpPr>
          <p:nvPr>
            <p:ph type="ctrTitle"/>
          </p:nvPr>
        </p:nvSpPr>
        <p:spPr>
          <a:xfrm>
            <a:off x="914400" y="1524000"/>
            <a:ext cx="7623175" cy="1752600"/>
          </a:xfrm>
        </p:spPr>
        <p:txBody>
          <a:bodyPr/>
          <a:lstStyle>
            <a:lvl1pPr>
              <a:defRPr sz="5000"/>
            </a:lvl1pPr>
          </a:lstStyle>
          <a:p>
            <a:pPr lvl="0" fontAlgn="base"/>
            <a:r>
              <a:rPr lang="zh-CN" strike="noStrike" noProof="0"/>
              <a:t>单击此处编辑母版标题样式</a:t>
            </a:r>
            <a:endParaRPr lang="zh-CN" strike="noStrike" noProof="0"/>
          </a:p>
        </p:txBody>
      </p:sp>
      <p:sp>
        <p:nvSpPr>
          <p:cNvPr id="2051" name="Rectangle 3"/>
          <p:cNvSpPr>
            <a:spLocks noGrp="1" noChangeArrowheads="1"/>
          </p:cNvSpPr>
          <p:nvPr>
            <p:ph type="subTitle" idx="1"/>
          </p:nvPr>
        </p:nvSpPr>
        <p:spPr>
          <a:xfrm>
            <a:off x="1981200" y="3962400"/>
            <a:ext cx="6553200" cy="1752600"/>
          </a:xfrm>
        </p:spPr>
        <p:txBody>
          <a:bodyPr/>
          <a:lstStyle>
            <a:lvl1pPr marL="0" indent="0">
              <a:buFont typeface="Wingdings" panose="05000000000000000000" pitchFamily="2" charset="2"/>
              <a:buNone/>
              <a:defRPr sz="2800"/>
            </a:lvl1pPr>
          </a:lstStyle>
          <a:p>
            <a:pPr lvl="0" fontAlgn="base"/>
            <a:r>
              <a:rPr lang="zh-CN" strike="noStrike" noProof="0"/>
              <a:t>单击此处编辑母版副标题样式</a:t>
            </a:r>
            <a:endParaRPr lang="zh-CN" strike="noStrike" noProof="0"/>
          </a:p>
        </p:txBody>
      </p:sp>
      <p:sp>
        <p:nvSpPr>
          <p:cNvPr id="12" name="Rectangle 4"/>
          <p:cNvSpPr>
            <a:spLocks noGrp="1" noChangeArrowheads="1"/>
          </p:cNvSpPr>
          <p:nvPr>
            <p:ph type="dt" sz="half" idx="2"/>
          </p:nvPr>
        </p:nvSpPr>
        <p:spPr bwMode="auto">
          <a:xfrm>
            <a:off x="457200" y="6243638"/>
            <a:ext cx="2133600" cy="4572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13" name="Rectangle 5"/>
          <p:cNvSpPr>
            <a:spLocks noGrp="1" noChangeArrowheads="1"/>
          </p:cNvSpPr>
          <p:nvPr>
            <p:ph type="ftr" sz="quarter" idx="3"/>
          </p:nvPr>
        </p:nvSpPr>
        <p:spPr bwMode="auto">
          <a:xfrm>
            <a:off x="3124200" y="6243638"/>
            <a:ext cx="2895600" cy="4572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14" name="Rectangle 6"/>
          <p:cNvSpPr>
            <a:spLocks noGrp="1" noChangeArrowheads="1"/>
          </p:cNvSpPr>
          <p:nvPr>
            <p:ph type="sldNum" sz="quarter" idx="4"/>
          </p:nvPr>
        </p:nvSpPr>
        <p:spPr bwMode="auto">
          <a:xfrm>
            <a:off x="6553200" y="6243638"/>
            <a:ext cx="2133600" cy="4572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86EA171-34CC-3648-9248-5B23B967E4CC}" type="slidenum">
              <a:rPr kumimoji="0" lang="en-US"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4FAA6F2-9031-CD4E-A6B3-C170CB6D5CF9}" type="slidenum">
              <a:rPr kumimoji="0" lang="en-US"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4FAA6F2-9031-CD4E-A6B3-C170CB6D5CF9}" type="slidenum">
              <a:rPr kumimoji="0" lang="en-US"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30725"/>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30725"/>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4FAA6F2-9031-CD4E-A6B3-C170CB6D5CF9}" type="slidenum">
              <a:rPr kumimoji="0" lang="en-US"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630238" y="2505075"/>
            <a:ext cx="3868737" cy="3684588"/>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29150" y="2505075"/>
            <a:ext cx="3887788" cy="3684588"/>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4FAA6F2-9031-CD4E-A6B3-C170CB6D5CF9}" type="slidenum">
              <a:rPr kumimoji="0" lang="en-US"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4FAA6F2-9031-CD4E-A6B3-C170CB6D5CF9}" type="slidenum">
              <a:rPr kumimoji="0" lang="en-US"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4FAA6F2-9031-CD4E-A6B3-C170CB6D5CF9}" type="slidenum">
              <a:rPr kumimoji="0" lang="en-US"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4FAA6F2-9031-CD4E-A6B3-C170CB6D5CF9}" type="slidenum">
              <a:rPr kumimoji="0" lang="en-US"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1"/>
              </a:buClr>
              <a:buSzPct val="65000"/>
              <a:buFont typeface="Wingdings" panose="05000000000000000000" pitchFamily="2" charset="2"/>
              <a:buNone/>
              <a:defRPr/>
            </a:pPr>
            <a:endParaRPr kumimoji="1" lang="zh-CN" altLang="en-US" sz="3200" b="0" i="0" u="none" strike="noStrike" kern="1200" cap="none" spc="0" normalizeH="0" baseline="0" noProof="0">
              <a:ln>
                <a:noFill/>
              </a:ln>
              <a:solidFill>
                <a:schemeClr val="tx1"/>
              </a:solidFill>
              <a:effectLst/>
              <a:uLnTx/>
              <a:uFillTx/>
              <a:latin typeface="+mn-lt"/>
              <a:ea typeface="+mn-ea"/>
              <a:cs typeface="华文新魏" panose="02010800040101010101" charset="-122"/>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4FAA6F2-9031-CD4E-A6B3-C170CB6D5CF9}" type="slidenum">
              <a:rPr kumimoji="0" lang="en-US"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4FAA6F2-9031-CD4E-A6B3-C170CB6D5CF9}" type="slidenum">
              <a:rPr kumimoji="0" lang="en-US"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04813"/>
            <a:ext cx="2057400" cy="5726112"/>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404813"/>
            <a:ext cx="6019800" cy="5726112"/>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4FAA6F2-9031-CD4E-A6B3-C170CB6D5CF9}" type="slidenum">
              <a:rPr kumimoji="0" lang="en-US"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404813"/>
            <a:ext cx="8229600" cy="792162"/>
          </a:xfrm>
        </p:spPr>
        <p:txBody>
          <a:bodyPr/>
          <a:lstStyle/>
          <a:p>
            <a:pPr fontAlgn="base"/>
            <a:r>
              <a:rPr lang="zh-CN" altLang="en-US" strike="noStrike" noProof="1"/>
              <a:t>单击此处编辑母版标题样式</a:t>
            </a:r>
            <a:endParaRPr lang="zh-CN" altLang="en-US" strike="noStrike" noProof="1"/>
          </a:p>
        </p:txBody>
      </p:sp>
      <p:sp>
        <p:nvSpPr>
          <p:cNvPr id="3" name="表格占位符 2"/>
          <p:cNvSpPr>
            <a:spLocks noGrp="1"/>
          </p:cNvSpPr>
          <p:nvPr>
            <p:ph type="tbl" idx="1"/>
          </p:nvPr>
        </p:nvSpPr>
        <p:spPr>
          <a:xfrm>
            <a:off x="457200" y="1600200"/>
            <a:ext cx="8229600" cy="4530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n"/>
              <a:defRPr/>
            </a:pPr>
            <a:endParaRPr kumimoji="1" lang="zh-CN" altLang="en-US" sz="3000" b="0" i="0" u="none" strike="noStrike" kern="1200" cap="none" spc="0" normalizeH="0" baseline="0" noProof="0">
              <a:ln>
                <a:noFill/>
              </a:ln>
              <a:solidFill>
                <a:schemeClr val="tx1"/>
              </a:solidFill>
              <a:effectLst/>
              <a:uLnTx/>
              <a:uFillTx/>
              <a:latin typeface="+mn-lt"/>
              <a:ea typeface="+mn-ea"/>
              <a:cs typeface="华文新魏" panose="02010800040101010101" charset="-122"/>
            </a:endParaRPr>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4FAA6F2-9031-CD4E-A6B3-C170CB6D5CF9}" type="slidenum">
              <a:rPr kumimoji="0" lang="en-US"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04813"/>
            <a:ext cx="8229600" cy="792162"/>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457200" y="1600200"/>
            <a:ext cx="4038600" cy="4530725"/>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30725"/>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4FAA6F2-9031-CD4E-A6B3-C170CB6D5CF9}" type="slidenum">
              <a:rPr kumimoji="0" lang="en-US"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blipFill>
        <a:effectLst/>
      </p:bgPr>
    </p:bg>
    <p:spTree>
      <p:nvGrpSpPr>
        <p:cNvPr id="1" name=""/>
        <p:cNvGrpSpPr/>
        <p:nvPr/>
      </p:nvGrpSpPr>
      <p:grpSpPr/>
      <p:sp>
        <p:nvSpPr>
          <p:cNvPr id="1026" name="Rectangle 2"/>
          <p:cNvSpPr>
            <a:spLocks noGrp="1"/>
          </p:cNvSpPr>
          <p:nvPr>
            <p:ph type="title"/>
          </p:nvPr>
        </p:nvSpPr>
        <p:spPr>
          <a:xfrm>
            <a:off x="457200" y="404813"/>
            <a:ext cx="8229600" cy="792162"/>
          </a:xfrm>
          <a:prstGeom prst="rect">
            <a:avLst/>
          </a:prstGeom>
          <a:noFill/>
          <a:ln w="9525">
            <a:noFill/>
          </a:ln>
        </p:spPr>
        <p:txBody>
          <a:bodyPr anchor="t" anchorCtr="0"/>
          <a:p>
            <a:pPr lvl="0"/>
            <a:r>
              <a:rPr lang="zh-CN" altLang="en-US"/>
              <a:t>单击此处编辑母版标题样式</a:t>
            </a:r>
            <a:endParaRPr lang="zh-CN" altLang="en-US"/>
          </a:p>
        </p:txBody>
      </p:sp>
      <p:sp>
        <p:nvSpPr>
          <p:cNvPr id="1027" name="Rectangle 3"/>
          <p:cNvSpPr>
            <a:spLocks noGrp="1"/>
          </p:cNvSpPr>
          <p:nvPr>
            <p:ph type="body"/>
          </p:nvPr>
        </p:nvSpPr>
        <p:spPr>
          <a:xfrm>
            <a:off x="457200" y="1600200"/>
            <a:ext cx="8229600" cy="4530725"/>
          </a:xfrm>
          <a:prstGeom prst="rect">
            <a:avLst/>
          </a:prstGeom>
          <a:noFill/>
          <a:ln w="9525">
            <a:noFill/>
          </a:ln>
        </p:spPr>
        <p:txBody>
          <a:bodyPr anchor="t" anchorCtr="0"/>
          <a:p>
            <a:pPr lvl="0"/>
            <a:r>
              <a:rPr lang="zh-CN" altLang="en-US"/>
              <a:t>单击此处编辑母版文本样式</a:t>
            </a:r>
            <a:endParaRPr lang="en-US" altLang="zh-CN"/>
          </a:p>
          <a:p>
            <a:pPr lvl="1"/>
            <a:r>
              <a:rPr lang="zh-CN" altLang="en-US"/>
              <a:t>第二级</a:t>
            </a:r>
            <a:endParaRPr lang="en-US" altLang="zh-CN"/>
          </a:p>
          <a:p>
            <a:pPr lvl="2"/>
            <a:r>
              <a:rPr lang="zh-CN" altLang="en-US"/>
              <a:t>第三级</a:t>
            </a:r>
            <a:endParaRPr lang="en-US" altLang="zh-CN"/>
          </a:p>
          <a:p>
            <a:pPr lvl="3"/>
            <a:r>
              <a:rPr lang="zh-CN" altLang="en-US"/>
              <a:t>第四级</a:t>
            </a:r>
            <a:endParaRPr lang="en-US" altLang="zh-CN"/>
          </a:p>
          <a:p>
            <a:pPr lvl="4"/>
            <a:r>
              <a:rPr lang="zh-CN" altLang="en-US"/>
              <a:t>第五级</a:t>
            </a:r>
            <a:endParaRPr lang="zh-CN" altLang="en-US"/>
          </a:p>
        </p:txBody>
      </p:sp>
      <p:sp>
        <p:nvSpPr>
          <p:cNvPr id="1028" name="Rectangle 4"/>
          <p:cNvSpPr>
            <a:spLocks noGrp="1" noChangeArrowheads="1"/>
          </p:cNvSpPr>
          <p:nvPr>
            <p:ph type="dt" sz="half" idx="2"/>
          </p:nvPr>
        </p:nvSpPr>
        <p:spPr bwMode="auto">
          <a:xfrm>
            <a:off x="457200" y="6243638"/>
            <a:ext cx="2133600" cy="457200"/>
          </a:xfrm>
          <a:prstGeom prst="rect">
            <a:avLst/>
          </a:prstGeom>
          <a:noFill/>
          <a:ln>
            <a:noFill/>
          </a:ln>
          <a:effectLst/>
        </p:spPr>
        <p:txBody>
          <a:bodyPr vert="horz" wrap="square" lIns="91440" tIns="45720" rIns="91440" bIns="45720" numCol="1" anchor="b" anchorCtr="0" compatLnSpc="1"/>
          <a:lstStyle>
            <a:lvl1pPr algn="l" eaLnBrk="1" hangingPunct="1">
              <a:defRPr sz="1200">
                <a:latin typeface="+mj-lt"/>
                <a:ea typeface="宋体"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b" anchorCtr="0" compatLnSpc="1"/>
          <a:lstStyle>
            <a:lvl1pPr algn="ctr" eaLnBrk="1" hangingPunct="1">
              <a:defRPr sz="1200">
                <a:latin typeface="+mj-lt"/>
                <a:ea typeface="宋体" pitchFamily="2" charset="-122"/>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1030" name="Rectangle 6"/>
          <p:cNvSpPr>
            <a:spLocks noGrp="1" noChangeArrowheads="1"/>
          </p:cNvSpPr>
          <p:nvPr>
            <p:ph type="sldNum" sz="quarter" idx="4"/>
          </p:nvPr>
        </p:nvSpPr>
        <p:spPr bwMode="auto">
          <a:xfrm>
            <a:off x="6553200" y="6243638"/>
            <a:ext cx="2133600" cy="457200"/>
          </a:xfrm>
          <a:prstGeom prst="rect">
            <a:avLst/>
          </a:prstGeom>
          <a:noFill/>
          <a:ln>
            <a:noFill/>
          </a:ln>
          <a:effectLst/>
        </p:spPr>
        <p:txBody>
          <a:bodyPr vert="horz" wrap="square" lIns="91440" tIns="45720" rIns="91440" bIns="45720" numCol="1" anchor="b" anchorCtr="0" compatLnSpc="1"/>
          <a:lstStyle>
            <a:lvl1pPr algn="r" eaLnBrk="1" hangingPunct="1">
              <a:defRPr sz="1200">
                <a:latin typeface="Garamond" panose="02020404030301010803" charset="0"/>
                <a:ea typeface="宋体"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4FAA6F2-9031-CD4E-A6B3-C170CB6D5CF9}" type="slidenum">
              <a:rPr kumimoji="0" lang="en-US"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Garamond" panose="02020404030301010803" charset="0"/>
              <a:ea typeface="宋体" pitchFamily="2" charset="-122"/>
              <a:cs typeface="+mn-cs"/>
            </a:endParaRPr>
          </a:p>
        </p:txBody>
      </p:sp>
      <p:sp>
        <p:nvSpPr>
          <p:cNvPr id="1031" name="未知"/>
          <p:cNvSpPr/>
          <p:nvPr/>
        </p:nvSpPr>
        <p:spPr>
          <a:xfrm>
            <a:off x="395288" y="333375"/>
            <a:ext cx="8215312" cy="647700"/>
          </a:xfrm>
          <a:custGeom>
            <a:avLst/>
            <a:gdLst/>
            <a:ahLst/>
            <a:cxnLst>
              <a:cxn ang="0">
                <a:pos x="0" y="2147483646"/>
              </a:cxn>
              <a:cxn ang="0">
                <a:pos x="0" y="0"/>
              </a:cxn>
              <a:cxn ang="0">
                <a:pos x="2147483646" y="0"/>
              </a:cxn>
            </a:cxnLst>
            <a:pathLst>
              <a:path w="1000" h="1000">
                <a:moveTo>
                  <a:pt x="0" y="1000"/>
                </a:moveTo>
                <a:lnTo>
                  <a:pt x="0" y="0"/>
                </a:lnTo>
                <a:lnTo>
                  <a:pt x="1000" y="0"/>
                </a:lnTo>
              </a:path>
            </a:pathLst>
          </a:custGeom>
          <a:noFill/>
          <a:ln w="19050" cap="flat" cmpd="sng">
            <a:solidFill>
              <a:schemeClr val="accent1"/>
            </a:solidFill>
            <a:prstDash val="solid"/>
            <a:round/>
            <a:headEnd type="none" w="med" len="med"/>
            <a:tailEnd type="none" w="med" len="med"/>
          </a:ln>
        </p:spPr>
        <p:txBody>
          <a:bodyPr/>
          <a:p>
            <a:endParaRPr lang="zh-CN" altLang="en-US"/>
          </a:p>
        </p:txBody>
      </p:sp>
      <p:sp>
        <p:nvSpPr>
          <p:cNvPr id="1032" name="Line 8"/>
          <p:cNvSpPr/>
          <p:nvPr/>
        </p:nvSpPr>
        <p:spPr>
          <a:xfrm>
            <a:off x="457200" y="6172200"/>
            <a:ext cx="8229600" cy="0"/>
          </a:xfrm>
          <a:prstGeom prst="line">
            <a:avLst/>
          </a:prstGeom>
          <a:ln w="19050" cap="flat" cmpd="sng">
            <a:solidFill>
              <a:schemeClr val="accent1"/>
            </a:solidFill>
            <a:prstDash val="solid"/>
            <a:round/>
            <a:headEnd type="none" w="med" len="med"/>
            <a:tailEnd type="none" w="med" len="med"/>
          </a:ln>
        </p:spPr>
      </p:sp>
      <p:sp>
        <p:nvSpPr>
          <p:cNvPr id="1033" name="Line 9"/>
          <p:cNvSpPr/>
          <p:nvPr userDrawn="1"/>
        </p:nvSpPr>
        <p:spPr>
          <a:xfrm>
            <a:off x="323850" y="1412875"/>
            <a:ext cx="8424863" cy="0"/>
          </a:xfrm>
          <a:prstGeom prst="line">
            <a:avLst/>
          </a:prstGeom>
          <a:ln w="60325" cap="flat" cmpd="sng">
            <a:solidFill>
              <a:srgbClr val="0000FF"/>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kumimoji="1" sz="4200" kern="1200">
          <a:solidFill>
            <a:schemeClr val="tx1"/>
          </a:solidFill>
          <a:latin typeface="+mj-lt"/>
          <a:ea typeface="+mj-ea"/>
          <a:cs typeface="楷体_GB2312" charset="0"/>
        </a:defRPr>
      </a:lvl1pPr>
      <a:lvl2pPr algn="l" rtl="0" eaLnBrk="0" fontAlgn="base" hangingPunct="0">
        <a:spcBef>
          <a:spcPct val="0"/>
        </a:spcBef>
        <a:spcAft>
          <a:spcPct val="0"/>
        </a:spcAft>
        <a:defRPr kumimoji="1" sz="4200">
          <a:solidFill>
            <a:schemeClr val="tx1"/>
          </a:solidFill>
          <a:latin typeface="Garamond" panose="02020404030301010803" charset="0"/>
          <a:ea typeface="楷体_GB2312" pitchFamily="1" charset="-122"/>
          <a:cs typeface="楷体_GB2312" charset="0"/>
        </a:defRPr>
      </a:lvl2pPr>
      <a:lvl3pPr algn="l" rtl="0" eaLnBrk="0" fontAlgn="base" hangingPunct="0">
        <a:spcBef>
          <a:spcPct val="0"/>
        </a:spcBef>
        <a:spcAft>
          <a:spcPct val="0"/>
        </a:spcAft>
        <a:defRPr kumimoji="1" sz="4200">
          <a:solidFill>
            <a:schemeClr val="tx1"/>
          </a:solidFill>
          <a:latin typeface="Garamond" panose="02020404030301010803" charset="0"/>
          <a:ea typeface="楷体_GB2312" pitchFamily="1" charset="-122"/>
          <a:cs typeface="楷体_GB2312" charset="0"/>
        </a:defRPr>
      </a:lvl3pPr>
      <a:lvl4pPr algn="l" rtl="0" eaLnBrk="0" fontAlgn="base" hangingPunct="0">
        <a:spcBef>
          <a:spcPct val="0"/>
        </a:spcBef>
        <a:spcAft>
          <a:spcPct val="0"/>
        </a:spcAft>
        <a:defRPr kumimoji="1" sz="4200">
          <a:solidFill>
            <a:schemeClr val="tx1"/>
          </a:solidFill>
          <a:latin typeface="Garamond" panose="02020404030301010803" charset="0"/>
          <a:ea typeface="楷体_GB2312" pitchFamily="1" charset="-122"/>
          <a:cs typeface="楷体_GB2312" charset="0"/>
        </a:defRPr>
      </a:lvl4pPr>
      <a:lvl5pPr algn="l" rtl="0" eaLnBrk="0" fontAlgn="base" hangingPunct="0">
        <a:spcBef>
          <a:spcPct val="0"/>
        </a:spcBef>
        <a:spcAft>
          <a:spcPct val="0"/>
        </a:spcAft>
        <a:defRPr kumimoji="1" sz="4200">
          <a:solidFill>
            <a:schemeClr val="tx1"/>
          </a:solidFill>
          <a:latin typeface="Garamond" panose="02020404030301010803" charset="0"/>
          <a:ea typeface="楷体_GB2312" pitchFamily="1" charset="-122"/>
          <a:cs typeface="楷体_GB2312" charset="0"/>
        </a:defRPr>
      </a:lvl5pPr>
      <a:lvl6pPr marL="457200" algn="l" rtl="0" fontAlgn="base">
        <a:spcBef>
          <a:spcPct val="0"/>
        </a:spcBef>
        <a:spcAft>
          <a:spcPct val="0"/>
        </a:spcAft>
        <a:defRPr sz="4200">
          <a:solidFill>
            <a:schemeClr val="tx1"/>
          </a:solidFill>
          <a:latin typeface="Garamond" panose="02020404030301010803" charset="0"/>
          <a:ea typeface="楷体_GB2312" pitchFamily="1" charset="-122"/>
        </a:defRPr>
      </a:lvl6pPr>
      <a:lvl7pPr marL="914400" algn="l" rtl="0" fontAlgn="base">
        <a:spcBef>
          <a:spcPct val="0"/>
        </a:spcBef>
        <a:spcAft>
          <a:spcPct val="0"/>
        </a:spcAft>
        <a:defRPr sz="4200">
          <a:solidFill>
            <a:schemeClr val="tx1"/>
          </a:solidFill>
          <a:latin typeface="Garamond" panose="02020404030301010803" charset="0"/>
          <a:ea typeface="楷体_GB2312" pitchFamily="1" charset="-122"/>
        </a:defRPr>
      </a:lvl7pPr>
      <a:lvl8pPr marL="1371600" algn="l" rtl="0" fontAlgn="base">
        <a:spcBef>
          <a:spcPct val="0"/>
        </a:spcBef>
        <a:spcAft>
          <a:spcPct val="0"/>
        </a:spcAft>
        <a:defRPr sz="4200">
          <a:solidFill>
            <a:schemeClr val="tx1"/>
          </a:solidFill>
          <a:latin typeface="Garamond" panose="02020404030301010803" charset="0"/>
          <a:ea typeface="楷体_GB2312" pitchFamily="1" charset="-122"/>
        </a:defRPr>
      </a:lvl8pPr>
      <a:lvl9pPr marL="1828800" algn="l" rtl="0" fontAlgn="base">
        <a:spcBef>
          <a:spcPct val="0"/>
        </a:spcBef>
        <a:spcAft>
          <a:spcPct val="0"/>
        </a:spcAft>
        <a:defRPr sz="4200">
          <a:solidFill>
            <a:schemeClr val="tx1"/>
          </a:solidFill>
          <a:latin typeface="Garamond" panose="02020404030301010803" charset="0"/>
          <a:ea typeface="楷体_GB2312" pitchFamily="1"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kumimoji="1" sz="3000" kern="1200">
          <a:solidFill>
            <a:schemeClr val="tx1"/>
          </a:solidFill>
          <a:latin typeface="+mn-lt"/>
          <a:ea typeface="+mn-ea"/>
          <a:cs typeface="华文新魏" panose="02010800040101010101" charset="-122"/>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kumimoji="1" sz="2600" kern="1200">
          <a:solidFill>
            <a:schemeClr val="tx1"/>
          </a:solidFill>
          <a:latin typeface="+mn-lt"/>
          <a:ea typeface="+mn-ea"/>
          <a:cs typeface="华文新魏" panose="02010800040101010101" charset="-122"/>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latin typeface="+mn-lt"/>
          <a:ea typeface="+mn-ea"/>
          <a:cs typeface="华文新魏" panose="02010800040101010101" charset="-122"/>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kumimoji="1" sz="2000" kern="1200">
          <a:solidFill>
            <a:schemeClr val="tx1"/>
          </a:solidFill>
          <a:latin typeface="+mn-lt"/>
          <a:ea typeface="+mn-ea"/>
          <a:cs typeface="华文新魏" panose="02010800040101010101" charset="-122"/>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kumimoji="1" sz="2000" kern="1200">
          <a:solidFill>
            <a:schemeClr val="tx1"/>
          </a:solidFill>
          <a:latin typeface="+mn-lt"/>
          <a:ea typeface="+mn-ea"/>
          <a:cs typeface="华文新魏" panose="02010800040101010101" charset="-122"/>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tags" Target="../tags/tag5.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tags" Target="../tags/tag6.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emf"/></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tags" Target="../tags/tag1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emf"/><Relationship Id="rId1" Type="http://schemas.openxmlformats.org/officeDocument/2006/relationships/tags" Target="../tags/tag15.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tags" Target="../tags/tag18.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tags" Target="../tags/tag19.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Rectangle 2"/>
          <p:cNvSpPr>
            <a:spLocks noGrp="1"/>
          </p:cNvSpPr>
          <p:nvPr>
            <p:ph type="title"/>
          </p:nvPr>
        </p:nvSpPr>
        <p:spPr/>
        <p:txBody>
          <a:bodyPr vert="horz" wrap="square" lIns="91440" tIns="45720" rIns="91440" bIns="45720" anchor="t" anchorCtr="0"/>
          <a:p>
            <a:pPr eaLnBrk="1" hangingPunct="1"/>
            <a:r>
              <a:rPr lang="en-US" altLang="zh-CN"/>
              <a:t>FAT32</a:t>
            </a:r>
            <a:r>
              <a:rPr lang="zh-CN" altLang="en-US"/>
              <a:t>文件系统</a:t>
            </a:r>
            <a:endParaRPr lang="zh-CN" altLang="en-US"/>
          </a:p>
        </p:txBody>
      </p:sp>
      <p:sp>
        <p:nvSpPr>
          <p:cNvPr id="57346" name="Rectangle 3"/>
          <p:cNvSpPr>
            <a:spLocks noGrp="1"/>
          </p:cNvSpPr>
          <p:nvPr>
            <p:ph idx="1"/>
          </p:nvPr>
        </p:nvSpPr>
        <p:spPr/>
        <p:txBody>
          <a:bodyPr vert="horz" wrap="square" lIns="91440" tIns="45720" rIns="91440" bIns="45720" anchor="t" anchorCtr="0"/>
          <a:p>
            <a:pPr eaLnBrk="1" hangingPunct="1"/>
            <a:r>
              <a:rPr lang="zh-CN" altLang="en-US"/>
              <a:t>文件系统简介</a:t>
            </a:r>
            <a:endParaRPr lang="en-US" altLang="zh-CN"/>
          </a:p>
          <a:p>
            <a:pPr lvl="1" indent="-325120" eaLnBrk="1" hangingPunct="1"/>
            <a:r>
              <a:rPr lang="zh-CN" altLang="en-US"/>
              <a:t>磁盘分区后只是划分了存储数据的空间，还需要文件系统将分区空间内的文件组织管理起来。</a:t>
            </a:r>
            <a:endParaRPr lang="en-US" altLang="zh-CN"/>
          </a:p>
          <a:p>
            <a:pPr lvl="1" indent="-325120" eaLnBrk="1" hangingPunct="1"/>
            <a:r>
              <a:rPr lang="zh-CN" altLang="en-US"/>
              <a:t>与文件系统相关的组成部分有：操作系统引导记录（</a:t>
            </a:r>
            <a:r>
              <a:rPr lang="zh-CN" altLang="zh-CN"/>
              <a:t>DOS Boot Record</a:t>
            </a:r>
            <a:r>
              <a:rPr lang="zh-CN" altLang="en-US"/>
              <a:t>，</a:t>
            </a:r>
            <a:r>
              <a:rPr lang="zh-CN" altLang="zh-CN"/>
              <a:t>DBR</a:t>
            </a:r>
            <a:r>
              <a:rPr lang="zh-CN" altLang="en-US"/>
              <a:t>）、文件分配表（</a:t>
            </a:r>
            <a:r>
              <a:rPr lang="zh-CN" altLang="zh-CN"/>
              <a:t>File Allocation Table, FAT</a:t>
            </a:r>
            <a:r>
              <a:rPr lang="zh-CN" altLang="en-US"/>
              <a:t>）、文件目录表（</a:t>
            </a:r>
            <a:r>
              <a:rPr lang="zh-CN" altLang="zh-CN"/>
              <a:t>File Directory Table, FDT</a:t>
            </a:r>
            <a:r>
              <a:rPr lang="zh-CN" altLang="en-US"/>
              <a:t>）、数据区。</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2"/>
          <p:cNvSpPr>
            <a:spLocks noGrp="1"/>
          </p:cNvSpPr>
          <p:nvPr>
            <p:ph type="title"/>
          </p:nvPr>
        </p:nvSpPr>
        <p:spPr/>
        <p:txBody>
          <a:bodyPr vert="horz" wrap="square" lIns="91440" tIns="45720" rIns="91440" bIns="45720" anchor="t" anchorCtr="0"/>
          <a:p>
            <a:pPr eaLnBrk="1" hangingPunct="1"/>
            <a:r>
              <a:rPr lang="en-US" altLang="zh-CN"/>
              <a:t>FAT32</a:t>
            </a:r>
            <a:r>
              <a:rPr lang="zh-CN" altLang="en-US"/>
              <a:t>文件系统</a:t>
            </a:r>
            <a:endParaRPr lang="zh-CN" altLang="en-US"/>
          </a:p>
        </p:txBody>
      </p:sp>
      <p:sp>
        <p:nvSpPr>
          <p:cNvPr id="58370" name="Rectangle 3"/>
          <p:cNvSpPr>
            <a:spLocks noGrp="1"/>
          </p:cNvSpPr>
          <p:nvPr>
            <p:ph type="body" sz="half" idx="1"/>
          </p:nvPr>
        </p:nvSpPr>
        <p:spPr/>
        <p:txBody>
          <a:bodyPr vert="horz" wrap="square" lIns="91440" tIns="45720" rIns="91440" bIns="45720" anchor="t" anchorCtr="0"/>
          <a:p>
            <a:pPr eaLnBrk="1" hangingPunct="1">
              <a:buClr>
                <a:schemeClr val="accent1"/>
              </a:buClr>
              <a:buSzPct val="65000"/>
              <a:buFont typeface="Wingdings" panose="05000000000000000000" pitchFamily="2" charset="2"/>
            </a:pPr>
            <a:r>
              <a:rPr lang="zh-CN" altLang="en-US" sz="2600"/>
              <a:t>文件系统简介</a:t>
            </a:r>
            <a:endParaRPr lang="en-US" altLang="zh-CN" sz="2600"/>
          </a:p>
          <a:p>
            <a:pPr eaLnBrk="1" hangingPunct="1">
              <a:buClr>
                <a:schemeClr val="accent1"/>
              </a:buClr>
              <a:buSzPct val="65000"/>
              <a:buFont typeface="Wingdings" panose="05000000000000000000" pitchFamily="2" charset="2"/>
            </a:pPr>
            <a:endParaRPr lang="zh-CN" altLang="zh-CN" sz="2600"/>
          </a:p>
        </p:txBody>
      </p:sp>
      <p:graphicFrame>
        <p:nvGraphicFramePr>
          <p:cNvPr id="49155" name="内容占位符 49154"/>
          <p:cNvGraphicFramePr/>
          <p:nvPr>
            <p:ph sz="half" idx="2"/>
          </p:nvPr>
        </p:nvGraphicFramePr>
        <p:xfrm>
          <a:off x="4643438" y="1628775"/>
          <a:ext cx="4038600" cy="4543425"/>
        </p:xfrm>
        <a:graphic>
          <a:graphicData uri="http://schemas.openxmlformats.org/drawingml/2006/table">
            <a:tbl>
              <a:tblPr/>
              <a:tblGrid>
                <a:gridCol w="4038600"/>
              </a:tblGrid>
              <a:tr h="57626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spcBef>
                          <a:spcPct val="20000"/>
                        </a:spcBef>
                        <a:buClr>
                          <a:schemeClr val="accent1"/>
                        </a:buClr>
                        <a:buSzPct val="65000"/>
                        <a:buFont typeface="Wingdings" panose="05000000000000000000" pitchFamily="2" charset="2"/>
                        <a:buNone/>
                      </a:pPr>
                      <a:r>
                        <a:rPr lang="zh-CN" altLang="zh-CN" sz="2600">
                          <a:latin typeface="Arial" panose="020B0604020202090204" pitchFamily="34" charset="0"/>
                          <a:ea typeface="华文新魏" panose="02010800040101010101" charset="-122"/>
                        </a:rPr>
                        <a:t>......</a:t>
                      </a:r>
                      <a:endParaRPr lang="zh-CN" altLang="zh-CN" sz="2600">
                        <a:latin typeface="Arial" panose="020B0604020202090204" pitchFamily="34" charset="0"/>
                        <a:ea typeface="华文新魏" panose="02010800040101010101" charset="-122"/>
                      </a:endParaRPr>
                    </a:p>
                  </a:txBody>
                  <a:tcPr marT="45706" marB="4570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0323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spcBef>
                          <a:spcPct val="20000"/>
                        </a:spcBef>
                        <a:buClr>
                          <a:schemeClr val="accent1"/>
                        </a:buClr>
                        <a:buSzPct val="65000"/>
                        <a:buFont typeface="Wingdings" panose="05000000000000000000" pitchFamily="2" charset="2"/>
                        <a:buNone/>
                      </a:pPr>
                      <a:r>
                        <a:rPr lang="zh-CN" altLang="en-US" sz="2600">
                          <a:latin typeface="Arial" panose="020B0604020202090204" pitchFamily="34" charset="0"/>
                          <a:ea typeface="华文新魏" panose="02010800040101010101" charset="-122"/>
                        </a:rPr>
                        <a:t>剩余扇区</a:t>
                      </a:r>
                      <a:endParaRPr lang="zh-CN" altLang="en-US" sz="2600">
                        <a:latin typeface="Arial" panose="020B0604020202090204" pitchFamily="34" charset="0"/>
                        <a:ea typeface="华文新魏" panose="02010800040101010101" charset="-122"/>
                      </a:endParaRPr>
                    </a:p>
                  </a:txBody>
                  <a:tcPr marT="45706" marB="4570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0482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spcBef>
                          <a:spcPct val="20000"/>
                        </a:spcBef>
                        <a:buClr>
                          <a:schemeClr val="accent1"/>
                        </a:buClr>
                        <a:buSzPct val="65000"/>
                        <a:buFont typeface="Wingdings" panose="05000000000000000000" pitchFamily="2" charset="2"/>
                        <a:buNone/>
                      </a:pPr>
                      <a:r>
                        <a:rPr lang="zh-CN" altLang="en-US" sz="2600">
                          <a:latin typeface="Arial" panose="020B0604020202090204" pitchFamily="34" charset="0"/>
                          <a:ea typeface="华文新魏" panose="02010800040101010101" charset="-122"/>
                        </a:rPr>
                        <a:t>数据区（</a:t>
                      </a:r>
                      <a:r>
                        <a:rPr lang="zh-CN" altLang="zh-CN" sz="2600">
                          <a:latin typeface="Arial" panose="020B0604020202090204" pitchFamily="34" charset="0"/>
                          <a:ea typeface="华文新魏" panose="02010800040101010101" charset="-122"/>
                        </a:rPr>
                        <a:t>DATA</a:t>
                      </a:r>
                      <a:r>
                        <a:rPr lang="zh-CN" altLang="en-US" sz="2600">
                          <a:latin typeface="Arial" panose="020B0604020202090204" pitchFamily="34" charset="0"/>
                          <a:ea typeface="华文新魏" panose="02010800040101010101" charset="-122"/>
                        </a:rPr>
                        <a:t>）</a:t>
                      </a:r>
                      <a:endParaRPr lang="zh-CN" altLang="en-US" sz="2600">
                        <a:latin typeface="Arial" panose="020B0604020202090204" pitchFamily="34" charset="0"/>
                        <a:ea typeface="华文新魏" panose="02010800040101010101" charset="-122"/>
                      </a:endParaRPr>
                    </a:p>
                  </a:txBody>
                  <a:tcPr marT="45706" marB="4570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0323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spcBef>
                          <a:spcPct val="20000"/>
                        </a:spcBef>
                        <a:buClr>
                          <a:schemeClr val="accent1"/>
                        </a:buClr>
                        <a:buSzPct val="65000"/>
                        <a:buFont typeface="Wingdings" panose="05000000000000000000" pitchFamily="2" charset="2"/>
                        <a:buNone/>
                      </a:pPr>
                      <a:r>
                        <a:rPr lang="zh-CN" altLang="en-US" sz="2600">
                          <a:latin typeface="Arial" panose="020B0604020202090204" pitchFamily="34" charset="0"/>
                          <a:ea typeface="华文新魏" panose="02010800040101010101" charset="-122"/>
                        </a:rPr>
                        <a:t>文件目录表</a:t>
                      </a:r>
                      <a:r>
                        <a:rPr lang="zh-CN" altLang="zh-CN" sz="2600">
                          <a:latin typeface="Arial" panose="020B0604020202090204" pitchFamily="34" charset="0"/>
                          <a:ea typeface="华文新魏" panose="02010800040101010101" charset="-122"/>
                        </a:rPr>
                        <a:t>FDT</a:t>
                      </a:r>
                      <a:endParaRPr lang="zh-CN" altLang="zh-CN" sz="2600">
                        <a:latin typeface="Arial" panose="020B0604020202090204" pitchFamily="34" charset="0"/>
                        <a:ea typeface="华文新魏" panose="02010800040101010101" charset="-122"/>
                      </a:endParaRPr>
                    </a:p>
                  </a:txBody>
                  <a:tcPr marT="45706" marB="4570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0323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spcBef>
                          <a:spcPct val="20000"/>
                        </a:spcBef>
                        <a:buClr>
                          <a:schemeClr val="accent1"/>
                        </a:buClr>
                        <a:buSzPct val="65000"/>
                        <a:buFont typeface="Wingdings" panose="05000000000000000000" pitchFamily="2" charset="2"/>
                        <a:buNone/>
                      </a:pPr>
                      <a:r>
                        <a:rPr lang="zh-CN" altLang="zh-CN" sz="2600">
                          <a:latin typeface="Arial" panose="020B0604020202090204" pitchFamily="34" charset="0"/>
                          <a:ea typeface="华文新魏" panose="02010800040101010101" charset="-122"/>
                        </a:rPr>
                        <a:t>FAT2</a:t>
                      </a:r>
                      <a:endParaRPr lang="zh-CN" altLang="zh-CN" sz="2600">
                        <a:latin typeface="Arial" panose="020B0604020202090204" pitchFamily="34" charset="0"/>
                        <a:ea typeface="华文新魏" panose="02010800040101010101" charset="-122"/>
                      </a:endParaRPr>
                    </a:p>
                  </a:txBody>
                  <a:tcPr marT="45706" marB="4570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8736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spcBef>
                          <a:spcPct val="20000"/>
                        </a:spcBef>
                        <a:buClr>
                          <a:schemeClr val="accent1"/>
                        </a:buClr>
                        <a:buSzPct val="65000"/>
                        <a:buFont typeface="Wingdings" panose="05000000000000000000" pitchFamily="2" charset="2"/>
                        <a:buNone/>
                      </a:pPr>
                      <a:r>
                        <a:rPr lang="zh-CN" altLang="zh-CN" sz="2600">
                          <a:latin typeface="Arial" panose="020B0604020202090204" pitchFamily="34" charset="0"/>
                          <a:ea typeface="华文新魏" panose="02010800040101010101" charset="-122"/>
                        </a:rPr>
                        <a:t>FAT1</a:t>
                      </a:r>
                      <a:endParaRPr lang="zh-CN" altLang="zh-CN" sz="2600">
                        <a:latin typeface="Arial" panose="020B0604020202090204" pitchFamily="34" charset="0"/>
                        <a:ea typeface="华文新魏" panose="02010800040101010101" charset="-122"/>
                      </a:endParaRPr>
                    </a:p>
                  </a:txBody>
                  <a:tcPr marT="45706" marB="4570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8736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spcBef>
                          <a:spcPct val="20000"/>
                        </a:spcBef>
                        <a:buClr>
                          <a:schemeClr val="accent1"/>
                        </a:buClr>
                        <a:buSzPct val="65000"/>
                        <a:buFont typeface="Wingdings" panose="05000000000000000000" pitchFamily="2" charset="2"/>
                        <a:buNone/>
                      </a:pPr>
                      <a:r>
                        <a:rPr lang="zh-CN" altLang="en-US" sz="2600">
                          <a:latin typeface="Arial" panose="020B0604020202090204" pitchFamily="34" charset="0"/>
                          <a:ea typeface="华文新魏" panose="02010800040101010101" charset="-122"/>
                        </a:rPr>
                        <a:t>操作系统</a:t>
                      </a:r>
                      <a:r>
                        <a:rPr lang="zh-CN" altLang="zh-CN" sz="2600">
                          <a:latin typeface="Arial" panose="020B0604020202090204" pitchFamily="34" charset="0"/>
                          <a:ea typeface="华文新魏" panose="02010800040101010101" charset="-122"/>
                        </a:rPr>
                        <a:t>DBR</a:t>
                      </a:r>
                      <a:endParaRPr lang="zh-CN" altLang="zh-CN" sz="2600">
                        <a:latin typeface="Arial" panose="020B0604020202090204" pitchFamily="34" charset="0"/>
                        <a:ea typeface="华文新魏" panose="02010800040101010101" charset="-122"/>
                      </a:endParaRPr>
                    </a:p>
                  </a:txBody>
                  <a:tcPr marT="45706" marB="4570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8895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spcBef>
                          <a:spcPct val="20000"/>
                        </a:spcBef>
                        <a:buClr>
                          <a:schemeClr val="accent1"/>
                        </a:buClr>
                        <a:buSzPct val="65000"/>
                        <a:buFont typeface="Wingdings" panose="05000000000000000000" pitchFamily="2" charset="2"/>
                        <a:buNone/>
                      </a:pPr>
                      <a:r>
                        <a:rPr lang="zh-CN" altLang="zh-CN" sz="2600">
                          <a:latin typeface="Arial" panose="020B0604020202090204" pitchFamily="34" charset="0"/>
                          <a:ea typeface="华文新魏" panose="02010800040101010101" charset="-122"/>
                        </a:rPr>
                        <a:t>62</a:t>
                      </a:r>
                      <a:r>
                        <a:rPr lang="zh-CN" altLang="en-US" sz="2600">
                          <a:latin typeface="Arial" panose="020B0604020202090204" pitchFamily="34" charset="0"/>
                          <a:ea typeface="华文新魏" panose="02010800040101010101" charset="-122"/>
                        </a:rPr>
                        <a:t>个保留扇区</a:t>
                      </a:r>
                      <a:endParaRPr lang="zh-CN" altLang="en-US" sz="2600">
                        <a:latin typeface="Arial" panose="020B0604020202090204" pitchFamily="34" charset="0"/>
                        <a:ea typeface="华文新魏" panose="02010800040101010101" charset="-122"/>
                      </a:endParaRPr>
                    </a:p>
                  </a:txBody>
                  <a:tcPr marT="45706" marB="4570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8895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spcBef>
                          <a:spcPct val="20000"/>
                        </a:spcBef>
                        <a:buClr>
                          <a:schemeClr val="accent1"/>
                        </a:buClr>
                        <a:buSzPct val="65000"/>
                        <a:buFont typeface="Wingdings" panose="05000000000000000000" pitchFamily="2" charset="2"/>
                        <a:buNone/>
                      </a:pPr>
                      <a:r>
                        <a:rPr lang="zh-CN" altLang="zh-CN" sz="2600">
                          <a:latin typeface="Arial" panose="020B0604020202090204" pitchFamily="34" charset="0"/>
                          <a:ea typeface="华文新魏" panose="02010800040101010101" charset="-122"/>
                        </a:rPr>
                        <a:t>MBR+DPT+</a:t>
                      </a:r>
                      <a:r>
                        <a:rPr lang="zh-CN" altLang="en-US" sz="2600">
                          <a:latin typeface="Arial" panose="020B0604020202090204" pitchFamily="34" charset="0"/>
                          <a:ea typeface="华文新魏" panose="02010800040101010101" charset="-122"/>
                        </a:rPr>
                        <a:t>’</a:t>
                      </a:r>
                      <a:r>
                        <a:rPr lang="zh-CN" altLang="zh-CN" sz="2600">
                          <a:latin typeface="Arial" panose="020B0604020202090204" pitchFamily="34" charset="0"/>
                          <a:ea typeface="华文新魏" panose="02010800040101010101" charset="-122"/>
                        </a:rPr>
                        <a:t>55AA</a:t>
                      </a:r>
                      <a:r>
                        <a:rPr lang="zh-CN" altLang="en-US" sz="2600">
                          <a:latin typeface="Arial" panose="020B0604020202090204" pitchFamily="34" charset="0"/>
                          <a:ea typeface="华文新魏" panose="02010800040101010101" charset="-122"/>
                        </a:rPr>
                        <a:t>’</a:t>
                      </a:r>
                      <a:endParaRPr lang="zh-CN" altLang="en-US" sz="2600">
                        <a:latin typeface="Arial" panose="020B0604020202090204" pitchFamily="34" charset="0"/>
                        <a:ea typeface="华文新魏" panose="02010800040101010101" charset="-122"/>
                      </a:endParaRPr>
                    </a:p>
                  </a:txBody>
                  <a:tcPr marT="45706" marB="4570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Rectangle 2"/>
          <p:cNvSpPr>
            <a:spLocks noGrp="1"/>
          </p:cNvSpPr>
          <p:nvPr>
            <p:ph type="title"/>
          </p:nvPr>
        </p:nvSpPr>
        <p:spPr/>
        <p:txBody>
          <a:bodyPr vert="horz" wrap="square" lIns="91440" tIns="45720" rIns="91440" bIns="45720" anchor="t" anchorCtr="0"/>
          <a:p>
            <a:pPr eaLnBrk="1" hangingPunct="1"/>
            <a:r>
              <a:rPr lang="en-US" altLang="zh-CN"/>
              <a:t>FAT32</a:t>
            </a:r>
            <a:r>
              <a:rPr lang="zh-CN" altLang="en-US"/>
              <a:t>文件系统</a:t>
            </a:r>
            <a:endParaRPr lang="zh-CN" altLang="en-US"/>
          </a:p>
        </p:txBody>
      </p:sp>
      <p:sp>
        <p:nvSpPr>
          <p:cNvPr id="59394" name="Rectangle 3"/>
          <p:cNvSpPr>
            <a:spLocks noGrp="1"/>
          </p:cNvSpPr>
          <p:nvPr>
            <p:ph idx="1"/>
          </p:nvPr>
        </p:nvSpPr>
        <p:spPr/>
        <p:txBody>
          <a:bodyPr vert="horz" wrap="square" lIns="91440" tIns="45720" rIns="91440" bIns="45720" anchor="t" anchorCtr="0"/>
          <a:p>
            <a:pPr eaLnBrk="1" hangingPunct="1">
              <a:lnSpc>
                <a:spcPct val="90000"/>
              </a:lnSpc>
            </a:pPr>
            <a:r>
              <a:rPr lang="zh-CN" altLang="en-US"/>
              <a:t>文件系统简介</a:t>
            </a:r>
            <a:endParaRPr lang="en-US" altLang="zh-CN"/>
          </a:p>
          <a:p>
            <a:pPr lvl="1" indent="-325120" eaLnBrk="1" hangingPunct="1">
              <a:lnSpc>
                <a:spcPct val="90000"/>
              </a:lnSpc>
            </a:pPr>
            <a:r>
              <a:rPr lang="zh-CN" altLang="zh-CN"/>
              <a:t>FAT</a:t>
            </a:r>
            <a:r>
              <a:rPr lang="zh-CN" altLang="en-US"/>
              <a:t>可以理解成为一种文件管理系统，它可以追踪记录每一段程序或文件的位置。</a:t>
            </a:r>
            <a:endParaRPr lang="en-US" altLang="zh-CN"/>
          </a:p>
          <a:p>
            <a:pPr lvl="1" indent="-325120" eaLnBrk="1" hangingPunct="1">
              <a:lnSpc>
                <a:spcPct val="90000"/>
              </a:lnSpc>
            </a:pPr>
            <a:r>
              <a:rPr lang="zh-CN" altLang="zh-CN"/>
              <a:t>FAT</a:t>
            </a:r>
            <a:r>
              <a:rPr lang="zh-CN" altLang="en-US"/>
              <a:t>文件系统将数个扇区合并成一个簇（</a:t>
            </a:r>
            <a:r>
              <a:rPr lang="zh-CN" altLang="zh-CN"/>
              <a:t>Cluster</a:t>
            </a:r>
            <a:r>
              <a:rPr lang="zh-CN" altLang="en-US"/>
              <a:t>），作为文件分配存储空间的基本单位，因为当分区容量较大时，选用扇区管理会增加</a:t>
            </a:r>
            <a:r>
              <a:rPr lang="zh-CN" altLang="zh-CN"/>
              <a:t>FAT</a:t>
            </a:r>
            <a:r>
              <a:rPr lang="zh-CN" altLang="en-US"/>
              <a:t>表的项数。</a:t>
            </a:r>
            <a:endParaRPr lang="en-US" altLang="zh-CN"/>
          </a:p>
          <a:p>
            <a:pPr lvl="1" indent="-325120" eaLnBrk="1" hangingPunct="1">
              <a:lnSpc>
                <a:spcPct val="90000"/>
              </a:lnSpc>
            </a:pPr>
            <a:r>
              <a:rPr lang="zh-CN" altLang="en-US"/>
              <a:t>一个簇所占用的空间由</a:t>
            </a:r>
            <a:r>
              <a:rPr lang="zh-CN" altLang="zh-CN"/>
              <a:t>OS</a:t>
            </a:r>
            <a:r>
              <a:rPr lang="zh-CN" altLang="en-US"/>
              <a:t>和磁盘类型共同决定，通常可以将磁盘的容量除以</a:t>
            </a:r>
            <a:r>
              <a:rPr lang="zh-CN" altLang="zh-CN"/>
              <a:t>64KB</a:t>
            </a:r>
            <a:r>
              <a:rPr lang="zh-CN" altLang="en-US"/>
              <a:t>（</a:t>
            </a:r>
            <a:r>
              <a:rPr lang="zh-CN" altLang="zh-CN"/>
              <a:t>65536</a:t>
            </a:r>
            <a:r>
              <a:rPr lang="zh-CN" altLang="en-US"/>
              <a:t>个字节），将得到的数据进位到最接近</a:t>
            </a:r>
            <a:r>
              <a:rPr lang="zh-CN" altLang="zh-CN"/>
              <a:t>2</a:t>
            </a:r>
            <a:r>
              <a:rPr lang="zh-CN" altLang="en-US"/>
              <a:t>的幂方数而得到簇的大小。</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标题 1"/>
          <p:cNvSpPr>
            <a:spLocks noGrp="1"/>
          </p:cNvSpPr>
          <p:nvPr>
            <p:ph type="title"/>
          </p:nvPr>
        </p:nvSpPr>
        <p:spPr/>
        <p:txBody>
          <a:bodyPr anchor="t" anchorCtr="0"/>
          <a:p>
            <a:r>
              <a:rPr lang="en-US" altLang="zh-CN"/>
              <a:t>FAT32</a:t>
            </a:r>
            <a:r>
              <a:rPr lang="zh-CN" altLang="en-US"/>
              <a:t>文件系统</a:t>
            </a:r>
            <a:endParaRPr lang="zh-CN" altLang="en-US"/>
          </a:p>
        </p:txBody>
      </p:sp>
      <p:sp>
        <p:nvSpPr>
          <p:cNvPr id="60418" name="内容占位符 2"/>
          <p:cNvSpPr>
            <a:spLocks noGrp="1"/>
          </p:cNvSpPr>
          <p:nvPr>
            <p:ph idx="1"/>
          </p:nvPr>
        </p:nvSpPr>
        <p:spPr/>
        <p:txBody>
          <a:bodyPr anchor="t" anchorCtr="0"/>
          <a:p>
            <a:r>
              <a:rPr lang="zh-CN" altLang="en-US"/>
              <a:t>FAT32文件系统由DBR及其保留扇区、FAT1、FAT2、DATA区四个部分组成。</a:t>
            </a:r>
            <a:endParaRPr lang="zh-CN" altLang="en-US"/>
          </a:p>
        </p:txBody>
      </p:sp>
      <p:pic>
        <p:nvPicPr>
          <p:cNvPr id="60419" name="图片 3"/>
          <p:cNvPicPr>
            <a:picLocks noChangeAspect="1"/>
          </p:cNvPicPr>
          <p:nvPr/>
        </p:nvPicPr>
        <p:blipFill>
          <a:blip r:embed="rId1"/>
          <a:stretch>
            <a:fillRect/>
          </a:stretch>
        </p:blipFill>
        <p:spPr>
          <a:xfrm>
            <a:off x="1281113" y="2805113"/>
            <a:ext cx="6581775" cy="306705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Rectangle 2"/>
          <p:cNvSpPr>
            <a:spLocks noGrp="1"/>
          </p:cNvSpPr>
          <p:nvPr>
            <p:ph type="title"/>
          </p:nvPr>
        </p:nvSpPr>
        <p:spPr/>
        <p:txBody>
          <a:bodyPr vert="horz" wrap="square" lIns="91440" tIns="45720" rIns="91440" bIns="45720" anchor="t" anchorCtr="0"/>
          <a:p>
            <a:pPr eaLnBrk="1" hangingPunct="1"/>
            <a:r>
              <a:rPr lang="en-US" altLang="zh-CN"/>
              <a:t>FAT32</a:t>
            </a:r>
            <a:r>
              <a:rPr lang="zh-CN" altLang="en-US"/>
              <a:t>文件系统</a:t>
            </a:r>
            <a:endParaRPr lang="zh-CN" altLang="en-US"/>
          </a:p>
        </p:txBody>
      </p:sp>
      <p:sp>
        <p:nvSpPr>
          <p:cNvPr id="61442" name="Rectangle 3"/>
          <p:cNvSpPr>
            <a:spLocks noGrp="1"/>
          </p:cNvSpPr>
          <p:nvPr>
            <p:ph idx="1"/>
          </p:nvPr>
        </p:nvSpPr>
        <p:spPr/>
        <p:txBody>
          <a:bodyPr vert="horz" wrap="square" lIns="91440" tIns="45720" rIns="91440" bIns="45720" anchor="t" anchorCtr="0"/>
          <a:p>
            <a:pPr eaLnBrk="1" hangingPunct="1"/>
            <a:r>
              <a:rPr lang="zh-CN" altLang="zh-CN"/>
              <a:t>FAT</a:t>
            </a:r>
            <a:r>
              <a:rPr lang="zh-CN" altLang="en-US"/>
              <a:t>表的大小及位置</a:t>
            </a:r>
            <a:endParaRPr lang="en-US" altLang="zh-CN"/>
          </a:p>
          <a:p>
            <a:pPr lvl="1" indent="-325120" eaLnBrk="1" hangingPunct="1"/>
            <a:r>
              <a:rPr lang="zh-CN" altLang="en-US"/>
              <a:t>磁盘上共有</a:t>
            </a:r>
            <a:r>
              <a:rPr lang="zh-CN" altLang="zh-CN"/>
              <a:t>FAT</a:t>
            </a:r>
            <a:r>
              <a:rPr lang="zh-CN" altLang="en-US"/>
              <a:t>表的两个复制，一个是基本</a:t>
            </a:r>
            <a:r>
              <a:rPr lang="zh-CN" altLang="zh-CN"/>
              <a:t>FAT</a:t>
            </a:r>
            <a:r>
              <a:rPr lang="zh-CN" altLang="en-US"/>
              <a:t>表</a:t>
            </a:r>
            <a:r>
              <a:rPr lang="zh-CN" altLang="zh-CN"/>
              <a:t>FAT1</a:t>
            </a:r>
            <a:r>
              <a:rPr lang="zh-CN" altLang="en-US"/>
              <a:t>，另一个是</a:t>
            </a:r>
            <a:r>
              <a:rPr lang="zh-CN" altLang="zh-CN"/>
              <a:t>FAT</a:t>
            </a:r>
            <a:r>
              <a:rPr lang="zh-CN" altLang="en-US"/>
              <a:t>表的备份</a:t>
            </a:r>
            <a:r>
              <a:rPr lang="zh-CN" altLang="zh-CN"/>
              <a:t>FAT2</a:t>
            </a:r>
            <a:r>
              <a:rPr lang="zh-CN" altLang="en-US"/>
              <a:t>。</a:t>
            </a:r>
            <a:endParaRPr lang="en-US" altLang="zh-CN"/>
          </a:p>
          <a:p>
            <a:pPr lvl="1" indent="-325120" eaLnBrk="1" hangingPunct="1"/>
            <a:r>
              <a:rPr lang="zh-CN" altLang="zh-CN"/>
              <a:t>FAT</a:t>
            </a:r>
            <a:r>
              <a:rPr lang="zh-CN" altLang="en-US"/>
              <a:t>在磁盘上安排在紧接操作系统引导扇区</a:t>
            </a:r>
            <a:r>
              <a:rPr lang="zh-CN" altLang="zh-CN"/>
              <a:t>DBR</a:t>
            </a:r>
            <a:r>
              <a:rPr lang="zh-CN" altLang="en-US"/>
              <a:t>之后。</a:t>
            </a:r>
            <a:endParaRPr lang="en-US" altLang="zh-CN"/>
          </a:p>
          <a:p>
            <a:pPr lvl="1" indent="-325120" eaLnBrk="1" hangingPunct="1"/>
            <a:r>
              <a:rPr lang="zh-CN" altLang="zh-CN"/>
              <a:t>FAT</a:t>
            </a:r>
            <a:r>
              <a:rPr lang="zh-CN" altLang="en-US"/>
              <a:t>占用多少个扇区因硬盘分区情况和逻辑盘的容量大小的不同而不同。</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Rectangle 2"/>
          <p:cNvSpPr>
            <a:spLocks noGrp="1"/>
          </p:cNvSpPr>
          <p:nvPr>
            <p:ph type="title"/>
          </p:nvPr>
        </p:nvSpPr>
        <p:spPr/>
        <p:txBody>
          <a:bodyPr vert="horz" wrap="square" lIns="91440" tIns="45720" rIns="91440" bIns="45720" anchor="t" anchorCtr="0"/>
          <a:p>
            <a:pPr eaLnBrk="1" hangingPunct="1"/>
            <a:r>
              <a:rPr lang="en-US" altLang="zh-CN"/>
              <a:t>FAT32</a:t>
            </a:r>
            <a:r>
              <a:rPr lang="zh-CN" altLang="en-US"/>
              <a:t>文件系统</a:t>
            </a:r>
            <a:endParaRPr lang="zh-CN" altLang="en-US"/>
          </a:p>
        </p:txBody>
      </p:sp>
      <p:sp>
        <p:nvSpPr>
          <p:cNvPr id="62466" name="Rectangle 3"/>
          <p:cNvSpPr>
            <a:spLocks noGrp="1"/>
          </p:cNvSpPr>
          <p:nvPr>
            <p:ph idx="1"/>
          </p:nvPr>
        </p:nvSpPr>
        <p:spPr/>
        <p:txBody>
          <a:bodyPr vert="horz" wrap="square" lIns="91440" tIns="45720" rIns="91440" bIns="45720" anchor="t" anchorCtr="0"/>
          <a:p>
            <a:pPr eaLnBrk="1" hangingPunct="1">
              <a:lnSpc>
                <a:spcPct val="90000"/>
              </a:lnSpc>
            </a:pPr>
            <a:r>
              <a:rPr lang="zh-CN" altLang="en-US"/>
              <a:t>文件目录表</a:t>
            </a:r>
            <a:endParaRPr lang="en-US" altLang="zh-CN"/>
          </a:p>
          <a:p>
            <a:pPr lvl="1" indent="-325120" eaLnBrk="1" hangingPunct="1">
              <a:lnSpc>
                <a:spcPct val="90000"/>
              </a:lnSpc>
            </a:pPr>
            <a:r>
              <a:rPr lang="zh-CN" altLang="en-US"/>
              <a:t>文件目录表（</a:t>
            </a:r>
            <a:r>
              <a:rPr lang="zh-CN" altLang="zh-CN"/>
              <a:t>FDT</a:t>
            </a:r>
            <a:r>
              <a:rPr lang="zh-CN" altLang="en-US"/>
              <a:t>），也称根目录</a:t>
            </a:r>
            <a:r>
              <a:rPr lang="zh-CN" altLang="zh-CN"/>
              <a:t>DIR</a:t>
            </a:r>
            <a:r>
              <a:rPr lang="zh-CN" altLang="en-US"/>
              <a:t>（</a:t>
            </a:r>
            <a:r>
              <a:rPr lang="zh-CN" altLang="zh-CN"/>
              <a:t>Root Directory</a:t>
            </a:r>
            <a:r>
              <a:rPr lang="zh-CN" altLang="en-US"/>
              <a:t>），紧跟在</a:t>
            </a:r>
            <a:r>
              <a:rPr lang="zh-CN" altLang="zh-CN"/>
              <a:t>FAT</a:t>
            </a:r>
            <a:r>
              <a:rPr lang="zh-CN" altLang="en-US"/>
              <a:t>表之后。</a:t>
            </a:r>
            <a:endParaRPr lang="en-US" altLang="zh-CN"/>
          </a:p>
          <a:p>
            <a:pPr lvl="1" indent="-325120" eaLnBrk="1" hangingPunct="1">
              <a:lnSpc>
                <a:spcPct val="90000"/>
              </a:lnSpc>
            </a:pPr>
            <a:r>
              <a:rPr lang="zh-CN" altLang="zh-CN"/>
              <a:t>FDT</a:t>
            </a:r>
            <a:r>
              <a:rPr lang="zh-CN" altLang="en-US"/>
              <a:t>记录根目录下每个文件（目录）的起始单元、文件属性等。</a:t>
            </a:r>
            <a:endParaRPr lang="en-US" altLang="zh-CN"/>
          </a:p>
          <a:p>
            <a:pPr lvl="1" indent="-325120" eaLnBrk="1" hangingPunct="1">
              <a:lnSpc>
                <a:spcPct val="90000"/>
              </a:lnSpc>
            </a:pPr>
            <a:r>
              <a:rPr lang="zh-CN" altLang="en-US"/>
              <a:t>定位文件位置时，操作系统根据</a:t>
            </a:r>
            <a:r>
              <a:rPr lang="zh-CN" altLang="zh-CN"/>
              <a:t>FDT</a:t>
            </a:r>
            <a:r>
              <a:rPr lang="zh-CN" altLang="en-US"/>
              <a:t>中的起始单元，结合</a:t>
            </a:r>
            <a:r>
              <a:rPr lang="zh-CN" altLang="zh-CN"/>
              <a:t>FAT</a:t>
            </a:r>
            <a:r>
              <a:rPr lang="zh-CN" altLang="en-US"/>
              <a:t>表就可以确定文件在磁盘中的具体位置和大小。</a:t>
            </a:r>
            <a:endParaRPr lang="en-US" altLang="zh-CN"/>
          </a:p>
          <a:p>
            <a:pPr lvl="1" indent="-325120" eaLnBrk="1" hangingPunct="1">
              <a:lnSpc>
                <a:spcPct val="90000"/>
              </a:lnSpc>
            </a:pPr>
            <a:r>
              <a:rPr lang="zh-CN" altLang="en-US"/>
              <a:t>早期系统中</a:t>
            </a:r>
            <a:r>
              <a:rPr lang="zh-CN" altLang="zh-CN"/>
              <a:t>FDT</a:t>
            </a:r>
            <a:r>
              <a:rPr lang="zh-CN" altLang="en-US"/>
              <a:t>长度固定，最多只能有</a:t>
            </a:r>
            <a:r>
              <a:rPr lang="zh-CN" altLang="zh-CN"/>
              <a:t>512</a:t>
            </a:r>
            <a:r>
              <a:rPr lang="zh-CN" altLang="en-US"/>
              <a:t>项，为突破此限制，根目录采用和子目录一样的方式来管理，称为根目录文件。</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Rectangle 2"/>
          <p:cNvSpPr>
            <a:spLocks noGrp="1"/>
          </p:cNvSpPr>
          <p:nvPr>
            <p:ph type="title"/>
          </p:nvPr>
        </p:nvSpPr>
        <p:spPr/>
        <p:txBody>
          <a:bodyPr vert="horz" wrap="square" lIns="91440" tIns="45720" rIns="91440" bIns="45720" anchor="t" anchorCtr="0"/>
          <a:p>
            <a:pPr eaLnBrk="1" hangingPunct="1"/>
            <a:r>
              <a:rPr lang="en-US" altLang="zh-CN"/>
              <a:t>FAT32</a:t>
            </a:r>
            <a:r>
              <a:rPr lang="zh-CN" altLang="en-US"/>
              <a:t>文件系统</a:t>
            </a:r>
            <a:endParaRPr lang="zh-CN" altLang="en-US"/>
          </a:p>
        </p:txBody>
      </p:sp>
      <p:sp>
        <p:nvSpPr>
          <p:cNvPr id="63490" name="Rectangle 3"/>
          <p:cNvSpPr>
            <a:spLocks noGrp="1"/>
          </p:cNvSpPr>
          <p:nvPr>
            <p:ph idx="1"/>
          </p:nvPr>
        </p:nvSpPr>
        <p:spPr/>
        <p:txBody>
          <a:bodyPr vert="horz" wrap="square" lIns="91440" tIns="45720" rIns="91440" bIns="45720" anchor="t" anchorCtr="0"/>
          <a:p>
            <a:pPr eaLnBrk="1" hangingPunct="1"/>
            <a:r>
              <a:rPr lang="zh-CN" altLang="en-US"/>
              <a:t>数据区</a:t>
            </a:r>
            <a:endParaRPr lang="en-US" altLang="zh-CN"/>
          </a:p>
          <a:p>
            <a:pPr lvl="1" indent="-325120" eaLnBrk="1" hangingPunct="1"/>
            <a:r>
              <a:rPr lang="zh-CN" altLang="en-US"/>
              <a:t>数据（</a:t>
            </a:r>
            <a:r>
              <a:rPr lang="zh-CN" altLang="zh-CN"/>
              <a:t>DATA</a:t>
            </a:r>
            <a:r>
              <a:rPr lang="zh-CN" altLang="en-US"/>
              <a:t>）区，是真正意义上的数据存储的地方，位于</a:t>
            </a:r>
            <a:r>
              <a:rPr lang="zh-CN" altLang="zh-CN"/>
              <a:t>FDT</a:t>
            </a:r>
            <a:r>
              <a:rPr lang="zh-CN" altLang="en-US"/>
              <a:t>区之后，占据硬盘上的大部分空间。</a:t>
            </a:r>
            <a:endParaRPr lang="en-US" altLang="zh-CN"/>
          </a:p>
          <a:p>
            <a:pPr eaLnBrk="1" hangingPunct="1"/>
            <a:r>
              <a:rPr lang="zh-CN" altLang="en-US"/>
              <a:t>文件的簇号链</a:t>
            </a:r>
            <a:endParaRPr lang="en-US" altLang="zh-CN"/>
          </a:p>
          <a:p>
            <a:pPr lvl="1" indent="-325120" eaLnBrk="1" hangingPunct="1"/>
            <a:r>
              <a:rPr lang="zh-CN" altLang="en-US"/>
              <a:t>磁盘格式化后，用户文件以簇为单位存放在数据区中，一个文件至少占用一个簇。</a:t>
            </a:r>
            <a:endParaRPr lang="en-US" altLang="zh-CN"/>
          </a:p>
          <a:p>
            <a:pPr lvl="1" indent="-325120" eaLnBrk="1" hangingPunct="1"/>
            <a:r>
              <a:rPr lang="zh-CN" altLang="en-US"/>
              <a:t>磁盘上的每个可用簇在</a:t>
            </a:r>
            <a:r>
              <a:rPr lang="zh-CN" altLang="zh-CN"/>
              <a:t>FAT</a:t>
            </a:r>
            <a:r>
              <a:rPr lang="zh-CN" altLang="en-US"/>
              <a:t>只有一个登记项，通过在对应簇号的登记项内填入表项值来表明数据区中的该簇的状态。</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Rectangle 2"/>
          <p:cNvSpPr>
            <a:spLocks noGrp="1"/>
          </p:cNvSpPr>
          <p:nvPr>
            <p:ph type="title"/>
          </p:nvPr>
        </p:nvSpPr>
        <p:spPr/>
        <p:txBody>
          <a:bodyPr vert="horz" wrap="square" lIns="91440" tIns="45720" rIns="91440" bIns="45720" anchor="t" anchorCtr="0"/>
          <a:p>
            <a:pPr eaLnBrk="1" hangingPunct="1"/>
            <a:r>
              <a:rPr lang="zh-CN" altLang="zh-CN"/>
              <a:t>FAT32 DBR</a:t>
            </a:r>
            <a:endParaRPr lang="zh-CN" altLang="zh-CN"/>
          </a:p>
        </p:txBody>
      </p:sp>
      <p:sp>
        <p:nvSpPr>
          <p:cNvPr id="64514" name="Rectangle 3"/>
          <p:cNvSpPr>
            <a:spLocks noGrp="1"/>
          </p:cNvSpPr>
          <p:nvPr>
            <p:ph idx="1"/>
          </p:nvPr>
        </p:nvSpPr>
        <p:spPr/>
        <p:txBody>
          <a:bodyPr vert="horz" wrap="square" lIns="91440" tIns="45720" rIns="91440" bIns="45720" anchor="t" anchorCtr="0"/>
          <a:p>
            <a:pPr eaLnBrk="1" hangingPunct="1"/>
            <a:r>
              <a:rPr lang="zh-CN" altLang="zh-CN"/>
              <a:t>DBR</a:t>
            </a:r>
            <a:r>
              <a:rPr lang="zh-CN" altLang="en-US"/>
              <a:t>区即操作系统引导记录扇区，通常占用分区的第</a:t>
            </a:r>
            <a:r>
              <a:rPr lang="zh-CN" altLang="zh-CN"/>
              <a:t>0</a:t>
            </a:r>
            <a:r>
              <a:rPr lang="zh-CN" altLang="en-US"/>
              <a:t>扇区共</a:t>
            </a:r>
            <a:r>
              <a:rPr lang="zh-CN" altLang="zh-CN"/>
              <a:t>512</a:t>
            </a:r>
            <a:r>
              <a:rPr lang="zh-CN" altLang="en-US"/>
              <a:t>个字节。</a:t>
            </a:r>
            <a:endParaRPr lang="en-US" altLang="zh-CN"/>
          </a:p>
          <a:p>
            <a:pPr eaLnBrk="1" hangingPunct="1"/>
            <a:r>
              <a:rPr lang="zh-CN" altLang="en-US"/>
              <a:t>内容包括：跳转指令、厂商标志和操作系统版本号、</a:t>
            </a:r>
            <a:r>
              <a:rPr lang="zh-CN" altLang="zh-CN"/>
              <a:t>BPB</a:t>
            </a:r>
            <a:r>
              <a:rPr lang="zh-CN" altLang="en-US"/>
              <a:t>（</a:t>
            </a:r>
            <a:r>
              <a:rPr lang="zh-CN" altLang="zh-CN"/>
              <a:t>BIOS Parameter Block</a:t>
            </a:r>
            <a:r>
              <a:rPr lang="zh-CN" altLang="en-US"/>
              <a:t>）、扩展</a:t>
            </a:r>
            <a:r>
              <a:rPr lang="zh-CN" altLang="zh-CN"/>
              <a:t>BPB</a:t>
            </a:r>
            <a:r>
              <a:rPr lang="zh-CN" altLang="en-US"/>
              <a:t>、</a:t>
            </a:r>
            <a:r>
              <a:rPr lang="zh-CN" altLang="zh-CN"/>
              <a:t>OS</a:t>
            </a:r>
            <a:r>
              <a:rPr lang="zh-CN" altLang="en-US"/>
              <a:t>引导程序、结束标志几部分组成。</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Rectangle 2"/>
          <p:cNvSpPr>
            <a:spLocks noGrp="1"/>
          </p:cNvSpPr>
          <p:nvPr>
            <p:ph type="title"/>
          </p:nvPr>
        </p:nvSpPr>
        <p:spPr/>
        <p:txBody>
          <a:bodyPr vert="horz" wrap="square" lIns="91440" tIns="45720" rIns="91440" bIns="45720" anchor="t" anchorCtr="0"/>
          <a:p>
            <a:pPr eaLnBrk="1" hangingPunct="1"/>
            <a:r>
              <a:rPr lang="zh-CN" altLang="zh-CN"/>
              <a:t>FAT32 DBR</a:t>
            </a:r>
            <a:endParaRPr lang="zh-CN" altLang="zh-CN"/>
          </a:p>
        </p:txBody>
      </p:sp>
      <p:graphicFrame>
        <p:nvGraphicFramePr>
          <p:cNvPr id="56322" name="表格占位符 56321"/>
          <p:cNvGraphicFramePr/>
          <p:nvPr>
            <p:ph type="tbl" idx="1"/>
          </p:nvPr>
        </p:nvGraphicFramePr>
        <p:xfrm>
          <a:off x="457200" y="1600200"/>
          <a:ext cx="8229600" cy="4530725"/>
        </p:xfrm>
        <a:graphic>
          <a:graphicData uri="http://schemas.openxmlformats.org/drawingml/2006/table">
            <a:tbl>
              <a:tblPr/>
              <a:tblGrid>
                <a:gridCol w="1751013"/>
                <a:gridCol w="2443162"/>
                <a:gridCol w="4035425"/>
              </a:tblGrid>
              <a:tr h="566738">
                <a:tc gridSpan="3">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r>
                        <a:rPr lang="zh-CN" altLang="zh-CN" sz="2400">
                          <a:latin typeface="Arial" panose="020B0604020202090204" pitchFamily="34" charset="0"/>
                        </a:rPr>
                        <a:t>   </a:t>
                      </a:r>
                      <a:r>
                        <a:rPr lang="zh-CN" altLang="zh-CN" sz="2400">
                          <a:latin typeface="宋体" pitchFamily="2" charset="-122"/>
                        </a:rPr>
                        <a:t>FAT32</a:t>
                      </a:r>
                      <a:r>
                        <a:rPr lang="zh-CN" altLang="en-US" sz="2400">
                          <a:latin typeface="宋体" pitchFamily="2" charset="-122"/>
                        </a:rPr>
                        <a:t>分区上</a:t>
                      </a:r>
                      <a:r>
                        <a:rPr lang="zh-CN" altLang="zh-CN" sz="2400">
                          <a:latin typeface="宋体" pitchFamily="2" charset="-122"/>
                        </a:rPr>
                        <a:t>DBR</a:t>
                      </a:r>
                      <a:r>
                        <a:rPr lang="zh-CN" altLang="en-US" sz="2400">
                          <a:latin typeface="宋体" pitchFamily="2" charset="-122"/>
                        </a:rPr>
                        <a:t>中各部分的位置划分</a:t>
                      </a:r>
                      <a:r>
                        <a:rPr lang="en-US" altLang="zh-CN" sz="2400">
                          <a:latin typeface="Arial" panose="020B0604020202090204" pitchFamily="34" charset="0"/>
                        </a:rPr>
                        <a:t>   </a:t>
                      </a:r>
                      <a:r>
                        <a:rPr lang="en-US" altLang="zh-CN" sz="2400">
                          <a:latin typeface="宋体" pitchFamily="2" charset="-122"/>
                        </a:rPr>
                        <a:t> </a:t>
                      </a:r>
                      <a:endParaRPr lang="en-US" altLang="zh-CN" sz="2400">
                        <a:latin typeface="Arial" panose="020B060402020209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56673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r>
                        <a:rPr lang="zh-CN" altLang="en-US" sz="2400">
                          <a:latin typeface="宋体" pitchFamily="2" charset="-122"/>
                        </a:rPr>
                        <a:t>字节位移</a:t>
                      </a:r>
                      <a:endParaRPr lang="zh-CN" altLang="en-US" sz="2400">
                        <a:latin typeface="Arial" panose="020B060402020209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r>
                        <a:rPr lang="zh-CN" altLang="en-US" sz="2400">
                          <a:latin typeface="宋体" pitchFamily="2" charset="-122"/>
                        </a:rPr>
                        <a:t>字段长度</a:t>
                      </a:r>
                      <a:endParaRPr lang="zh-CN" altLang="en-US" sz="2400">
                        <a:latin typeface="Arial" panose="020B060402020209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r>
                        <a:rPr lang="zh-CN" altLang="en-US" sz="2400">
                          <a:latin typeface="宋体" pitchFamily="2" charset="-122"/>
                        </a:rPr>
                        <a:t>字段名</a:t>
                      </a:r>
                      <a:endParaRPr lang="zh-CN" altLang="en-US" sz="2400">
                        <a:latin typeface="Arial" panose="020B060402020209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6515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r>
                        <a:rPr lang="zh-CN" altLang="zh-CN" sz="2400">
                          <a:latin typeface="宋体" pitchFamily="2" charset="-122"/>
                        </a:rPr>
                        <a:t>0x00</a:t>
                      </a:r>
                      <a:endParaRPr lang="zh-CN" altLang="zh-CN" sz="2400">
                        <a:latin typeface="Arial" panose="020B060402020209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r>
                        <a:rPr lang="zh-CN" altLang="zh-CN" sz="2400">
                          <a:latin typeface="宋体" pitchFamily="2" charset="-122"/>
                        </a:rPr>
                        <a:t>3</a:t>
                      </a:r>
                      <a:r>
                        <a:rPr lang="zh-CN" altLang="en-US" sz="2400">
                          <a:latin typeface="宋体" pitchFamily="2" charset="-122"/>
                        </a:rPr>
                        <a:t>个字节</a:t>
                      </a:r>
                      <a:endParaRPr lang="zh-CN" altLang="en-US" sz="2400">
                        <a:latin typeface="Arial" panose="020B060402020209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r>
                        <a:rPr lang="zh-CN" altLang="en-US" sz="2400">
                          <a:latin typeface="宋体" pitchFamily="2" charset="-122"/>
                        </a:rPr>
                        <a:t>跳转指令</a:t>
                      </a:r>
                      <a:endParaRPr lang="zh-CN" altLang="en-US" sz="2400">
                        <a:latin typeface="Arial" panose="020B060402020209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6673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r>
                        <a:rPr lang="zh-CN" altLang="zh-CN" sz="2400">
                          <a:latin typeface="宋体" pitchFamily="2" charset="-122"/>
                        </a:rPr>
                        <a:t>0x03</a:t>
                      </a:r>
                      <a:endParaRPr lang="zh-CN" altLang="zh-CN" sz="2400">
                        <a:latin typeface="Arial" panose="020B060402020209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r>
                        <a:rPr lang="zh-CN" altLang="zh-CN" sz="2400">
                          <a:latin typeface="宋体" pitchFamily="2" charset="-122"/>
                        </a:rPr>
                        <a:t>8</a:t>
                      </a:r>
                      <a:r>
                        <a:rPr lang="zh-CN" altLang="en-US" sz="2400">
                          <a:latin typeface="宋体" pitchFamily="2" charset="-122"/>
                        </a:rPr>
                        <a:t>个字节</a:t>
                      </a:r>
                      <a:endParaRPr lang="zh-CN" altLang="en-US" sz="2400">
                        <a:latin typeface="Arial" panose="020B060402020209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r>
                        <a:rPr lang="zh-CN" altLang="en-US" sz="2400">
                          <a:latin typeface="宋体" pitchFamily="2" charset="-122"/>
                        </a:rPr>
                        <a:t>厂商标志和</a:t>
                      </a:r>
                      <a:r>
                        <a:rPr lang="zh-CN" altLang="zh-CN" sz="2400">
                          <a:latin typeface="宋体" pitchFamily="2" charset="-122"/>
                        </a:rPr>
                        <a:t>os</a:t>
                      </a:r>
                      <a:r>
                        <a:rPr lang="zh-CN" altLang="en-US" sz="2400">
                          <a:latin typeface="宋体" pitchFamily="2" charset="-122"/>
                        </a:rPr>
                        <a:t>版本号</a:t>
                      </a:r>
                      <a:endParaRPr lang="zh-CN" altLang="en-US" sz="2400">
                        <a:latin typeface="Arial" panose="020B060402020209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6673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r>
                        <a:rPr lang="zh-CN" altLang="zh-CN" sz="2400">
                          <a:latin typeface="宋体" pitchFamily="2" charset="-122"/>
                        </a:rPr>
                        <a:t>0x0B</a:t>
                      </a:r>
                      <a:endParaRPr lang="zh-CN" altLang="zh-CN" sz="2400">
                        <a:latin typeface="Arial" panose="020B060402020209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r>
                        <a:rPr lang="zh-CN" altLang="zh-CN" sz="2400">
                          <a:latin typeface="宋体" pitchFamily="2" charset="-122"/>
                        </a:rPr>
                        <a:t>53</a:t>
                      </a:r>
                      <a:r>
                        <a:rPr lang="zh-CN" altLang="en-US" sz="2400">
                          <a:latin typeface="宋体" pitchFamily="2" charset="-122"/>
                        </a:rPr>
                        <a:t>个字节</a:t>
                      </a:r>
                      <a:endParaRPr lang="zh-CN" altLang="en-US" sz="2400">
                        <a:latin typeface="Arial" panose="020B060402020209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r>
                        <a:rPr lang="zh-CN" altLang="zh-CN" sz="2400">
                          <a:latin typeface="宋体" pitchFamily="2" charset="-122"/>
                        </a:rPr>
                        <a:t>BPB</a:t>
                      </a:r>
                      <a:endParaRPr lang="zh-CN" altLang="zh-CN" sz="2400">
                        <a:latin typeface="Arial" panose="020B060402020209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6515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r>
                        <a:rPr lang="zh-CN" altLang="zh-CN" sz="2400">
                          <a:latin typeface="宋体" pitchFamily="2" charset="-122"/>
                        </a:rPr>
                        <a:t>0x40</a:t>
                      </a:r>
                      <a:endParaRPr lang="zh-CN" altLang="zh-CN" sz="2400">
                        <a:latin typeface="Arial" panose="020B060402020209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r>
                        <a:rPr lang="zh-CN" altLang="zh-CN" sz="2400">
                          <a:latin typeface="宋体" pitchFamily="2" charset="-122"/>
                        </a:rPr>
                        <a:t>26</a:t>
                      </a:r>
                      <a:r>
                        <a:rPr lang="zh-CN" altLang="en-US" sz="2400">
                          <a:latin typeface="宋体" pitchFamily="2" charset="-122"/>
                        </a:rPr>
                        <a:t>个字节</a:t>
                      </a:r>
                      <a:endParaRPr lang="zh-CN" altLang="en-US" sz="2400">
                        <a:latin typeface="Arial" panose="020B060402020209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r>
                        <a:rPr lang="zh-CN" altLang="en-US" sz="2400">
                          <a:latin typeface="宋体" pitchFamily="2" charset="-122"/>
                        </a:rPr>
                        <a:t>扩展</a:t>
                      </a:r>
                      <a:r>
                        <a:rPr lang="zh-CN" altLang="zh-CN" sz="2400">
                          <a:latin typeface="宋体" pitchFamily="2" charset="-122"/>
                        </a:rPr>
                        <a:t>BPB</a:t>
                      </a:r>
                      <a:endParaRPr lang="zh-CN" altLang="zh-CN" sz="2400">
                        <a:latin typeface="Arial" panose="020B060402020209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6673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r>
                        <a:rPr lang="zh-CN" altLang="zh-CN" sz="2400">
                          <a:latin typeface="宋体" pitchFamily="2" charset="-122"/>
                        </a:rPr>
                        <a:t>0x5A</a:t>
                      </a:r>
                      <a:endParaRPr lang="zh-CN" altLang="zh-CN" sz="2400">
                        <a:latin typeface="Arial" panose="020B060402020209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r>
                        <a:rPr lang="zh-CN" altLang="zh-CN" sz="2400">
                          <a:latin typeface="宋体" pitchFamily="2" charset="-122"/>
                        </a:rPr>
                        <a:t>420</a:t>
                      </a:r>
                      <a:r>
                        <a:rPr lang="zh-CN" altLang="en-US" sz="2400">
                          <a:latin typeface="宋体" pitchFamily="2" charset="-122"/>
                        </a:rPr>
                        <a:t>个字节</a:t>
                      </a:r>
                      <a:endParaRPr lang="zh-CN" altLang="en-US" sz="2400">
                        <a:latin typeface="Arial" panose="020B060402020209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r>
                        <a:rPr lang="zh-CN" altLang="en-US" sz="2400">
                          <a:latin typeface="宋体" pitchFamily="2" charset="-122"/>
                        </a:rPr>
                        <a:t>引导程序代码</a:t>
                      </a:r>
                      <a:endParaRPr lang="zh-CN" altLang="en-US" sz="2400">
                        <a:latin typeface="Arial" panose="020B060402020209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6673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r>
                        <a:rPr lang="zh-CN" altLang="zh-CN" sz="2400">
                          <a:latin typeface="宋体" pitchFamily="2" charset="-122"/>
                        </a:rPr>
                        <a:t>0x01FE</a:t>
                      </a:r>
                      <a:endParaRPr lang="zh-CN" altLang="zh-CN" sz="2400">
                        <a:latin typeface="Arial" panose="020B060402020209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r>
                        <a:rPr lang="zh-CN" altLang="zh-CN" sz="2400">
                          <a:latin typeface="宋体" pitchFamily="2" charset="-122"/>
                        </a:rPr>
                        <a:t>2</a:t>
                      </a:r>
                      <a:r>
                        <a:rPr lang="zh-CN" altLang="en-US" sz="2400">
                          <a:latin typeface="宋体" pitchFamily="2" charset="-122"/>
                        </a:rPr>
                        <a:t>个字节</a:t>
                      </a:r>
                      <a:endParaRPr lang="zh-CN" altLang="en-US" sz="2400">
                        <a:latin typeface="Arial" panose="020B060402020209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r>
                        <a:rPr lang="zh-CN" altLang="en-US" sz="2400">
                          <a:latin typeface="宋体" pitchFamily="2" charset="-122"/>
                        </a:rPr>
                        <a:t>有效结束标志</a:t>
                      </a:r>
                      <a:endParaRPr lang="zh-CN" altLang="en-US" sz="2400">
                        <a:latin typeface="Arial" panose="020B060402020209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Rectangle 2"/>
          <p:cNvSpPr>
            <a:spLocks noGrp="1"/>
          </p:cNvSpPr>
          <p:nvPr>
            <p:ph type="title"/>
          </p:nvPr>
        </p:nvSpPr>
        <p:spPr/>
        <p:txBody>
          <a:bodyPr vert="horz" wrap="square" lIns="91440" tIns="45720" rIns="91440" bIns="45720" anchor="t" anchorCtr="0"/>
          <a:p>
            <a:pPr eaLnBrk="1" hangingPunct="1"/>
            <a:r>
              <a:rPr lang="zh-CN" altLang="zh-CN"/>
              <a:t>FAT32 DBR</a:t>
            </a:r>
            <a:endParaRPr lang="zh-CN" altLang="zh-CN"/>
          </a:p>
        </p:txBody>
      </p:sp>
      <p:sp>
        <p:nvSpPr>
          <p:cNvPr id="66562" name="Rectangle 3"/>
          <p:cNvSpPr>
            <a:spLocks noGrp="1"/>
          </p:cNvSpPr>
          <p:nvPr>
            <p:ph idx="1"/>
          </p:nvPr>
        </p:nvSpPr>
        <p:spPr/>
        <p:txBody>
          <a:bodyPr vert="horz" wrap="square" lIns="91440" tIns="45720" rIns="91440" bIns="45720" anchor="t" anchorCtr="0"/>
          <a:p>
            <a:pPr eaLnBrk="1" hangingPunct="1"/>
            <a:r>
              <a:rPr lang="zh-CN" altLang="zh-CN"/>
              <a:t> MBR</a:t>
            </a:r>
            <a:r>
              <a:rPr lang="zh-CN" altLang="en-US"/>
              <a:t>将</a:t>
            </a:r>
            <a:r>
              <a:rPr lang="zh-CN" altLang="zh-CN"/>
              <a:t>CPU</a:t>
            </a:r>
            <a:r>
              <a:rPr lang="zh-CN" altLang="en-US"/>
              <a:t>执行转移给引导扇区，因此，引导扇区的前三个字节必须是合法的可执行的基于</a:t>
            </a:r>
            <a:r>
              <a:rPr lang="zh-CN" altLang="zh-CN"/>
              <a:t>x86</a:t>
            </a:r>
            <a:r>
              <a:rPr lang="zh-CN" altLang="en-US"/>
              <a:t>的</a:t>
            </a:r>
            <a:r>
              <a:rPr lang="zh-CN" altLang="zh-CN"/>
              <a:t>CPU</a:t>
            </a:r>
            <a:r>
              <a:rPr lang="zh-CN" altLang="en-US"/>
              <a:t>指令。</a:t>
            </a:r>
            <a:endParaRPr lang="en-US" altLang="zh-CN"/>
          </a:p>
          <a:p>
            <a:pPr eaLnBrk="1" hangingPunct="1"/>
            <a:r>
              <a:rPr lang="zh-CN" altLang="en-US"/>
              <a:t>这通常是一条跳转指令，该指令负责跳过接下来的几个不可执行的字节</a:t>
            </a:r>
            <a:r>
              <a:rPr lang="zh-CN" altLang="zh-CN"/>
              <a:t>(BPB</a:t>
            </a:r>
            <a:r>
              <a:rPr lang="zh-CN" altLang="en-US"/>
              <a:t>和扩展</a:t>
            </a:r>
            <a:r>
              <a:rPr lang="zh-CN" altLang="zh-CN"/>
              <a:t>BPB)</a:t>
            </a:r>
            <a:r>
              <a:rPr lang="zh-CN" altLang="en-US"/>
              <a:t>，跳到操作系统引导代码部分。</a:t>
            </a:r>
            <a:r>
              <a:rPr lang="en-US" altLang="zh-CN"/>
              <a:t> </a:t>
            </a:r>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Rectangle 2"/>
          <p:cNvSpPr>
            <a:spLocks noGrp="1"/>
          </p:cNvSpPr>
          <p:nvPr>
            <p:ph type="title"/>
          </p:nvPr>
        </p:nvSpPr>
        <p:spPr/>
        <p:txBody>
          <a:bodyPr vert="horz" wrap="square" lIns="91440" tIns="45720" rIns="91440" bIns="45720" anchor="t" anchorCtr="0"/>
          <a:p>
            <a:pPr eaLnBrk="1" hangingPunct="1"/>
            <a:r>
              <a:rPr lang="zh-CN" altLang="zh-CN"/>
              <a:t>FAT32 DBR</a:t>
            </a:r>
            <a:endParaRPr lang="zh-CN" altLang="zh-CN"/>
          </a:p>
        </p:txBody>
      </p:sp>
      <p:sp>
        <p:nvSpPr>
          <p:cNvPr id="67586" name="Rectangle 3"/>
          <p:cNvSpPr>
            <a:spLocks noGrp="1"/>
          </p:cNvSpPr>
          <p:nvPr>
            <p:ph idx="1"/>
          </p:nvPr>
        </p:nvSpPr>
        <p:spPr/>
        <p:txBody>
          <a:bodyPr vert="horz" wrap="square" lIns="91440" tIns="45720" rIns="91440" bIns="45720" anchor="t" anchorCtr="0"/>
          <a:p>
            <a:pPr eaLnBrk="1" hangingPunct="1">
              <a:lnSpc>
                <a:spcPct val="80000"/>
              </a:lnSpc>
            </a:pPr>
            <a:r>
              <a:rPr lang="zh-CN" altLang="zh-CN" sz="2600"/>
              <a:t> </a:t>
            </a:r>
            <a:r>
              <a:rPr lang="zh-CN" altLang="en-US" sz="2600"/>
              <a:t>跳转指令之后是</a:t>
            </a:r>
            <a:r>
              <a:rPr lang="zh-CN" altLang="zh-CN" sz="2600"/>
              <a:t>8</a:t>
            </a:r>
            <a:r>
              <a:rPr lang="zh-CN" altLang="en-US" sz="2600"/>
              <a:t>字节长的</a:t>
            </a:r>
            <a:r>
              <a:rPr lang="zh-CN" altLang="zh-CN" sz="2600"/>
              <a:t>OEM ID</a:t>
            </a:r>
            <a:r>
              <a:rPr lang="zh-CN" altLang="en-US" sz="2600"/>
              <a:t>，它是一个字符串，</a:t>
            </a:r>
            <a:r>
              <a:rPr lang="en-US" altLang="zh-CN" sz="2600"/>
              <a:t> </a:t>
            </a:r>
            <a:r>
              <a:rPr lang="zh-CN" altLang="zh-CN" sz="2600"/>
              <a:t>OEM ID</a:t>
            </a:r>
            <a:r>
              <a:rPr lang="zh-CN" altLang="en-US" sz="2600"/>
              <a:t>标识了格式化该分区的操作系统的名称和版本号。</a:t>
            </a:r>
            <a:endParaRPr lang="en-US" altLang="zh-CN" sz="2600"/>
          </a:p>
          <a:p>
            <a:pPr eaLnBrk="1" hangingPunct="1">
              <a:lnSpc>
                <a:spcPct val="80000"/>
              </a:lnSpc>
            </a:pPr>
            <a:r>
              <a:rPr lang="zh-CN" altLang="en-US" sz="2600"/>
              <a:t>为了保留与</a:t>
            </a:r>
            <a:r>
              <a:rPr lang="zh-CN" altLang="zh-CN" sz="2600"/>
              <a:t>MS-DOS</a:t>
            </a:r>
            <a:r>
              <a:rPr lang="zh-CN" altLang="en-US" sz="2600"/>
              <a:t>的兼容性，通常</a:t>
            </a:r>
            <a:r>
              <a:rPr lang="zh-CN" altLang="zh-CN" sz="2600"/>
              <a:t>Windows 2000</a:t>
            </a:r>
            <a:r>
              <a:rPr lang="zh-CN" altLang="en-US" sz="2600"/>
              <a:t>格式化该盘是在</a:t>
            </a:r>
            <a:r>
              <a:rPr lang="zh-CN" altLang="zh-CN" sz="2600"/>
              <a:t>FAT16</a:t>
            </a:r>
            <a:r>
              <a:rPr lang="zh-CN" altLang="en-US" sz="2600"/>
              <a:t>和</a:t>
            </a:r>
            <a:r>
              <a:rPr lang="zh-CN" altLang="zh-CN" sz="2600"/>
              <a:t>FAT32</a:t>
            </a:r>
            <a:r>
              <a:rPr lang="zh-CN" altLang="en-US" sz="2600"/>
              <a:t>磁盘上的该字段中记录了“</a:t>
            </a:r>
            <a:r>
              <a:rPr lang="zh-CN" altLang="zh-CN" sz="2600"/>
              <a:t>MSDOS 5.0</a:t>
            </a:r>
            <a:r>
              <a:rPr lang="zh-CN" altLang="en-US" sz="2600"/>
              <a:t>”。</a:t>
            </a:r>
            <a:endParaRPr lang="en-US" altLang="zh-CN" sz="2600"/>
          </a:p>
          <a:p>
            <a:pPr eaLnBrk="1" hangingPunct="1">
              <a:lnSpc>
                <a:spcPct val="80000"/>
              </a:lnSpc>
            </a:pPr>
            <a:r>
              <a:rPr lang="zh-CN" altLang="en-US" sz="2600"/>
              <a:t>在</a:t>
            </a:r>
            <a:r>
              <a:rPr lang="zh-CN" altLang="zh-CN" sz="2600"/>
              <a:t>NTFS</a:t>
            </a:r>
            <a:r>
              <a:rPr lang="zh-CN" altLang="en-US" sz="2600"/>
              <a:t>磁盘上</a:t>
            </a:r>
            <a:r>
              <a:rPr lang="zh-CN" altLang="zh-CN" sz="2600"/>
              <a:t>(</a:t>
            </a:r>
            <a:r>
              <a:rPr lang="zh-CN" altLang="en-US" sz="2600"/>
              <a:t>关于</a:t>
            </a:r>
            <a:r>
              <a:rPr lang="zh-CN" altLang="zh-CN" sz="2600"/>
              <a:t>ntfs</a:t>
            </a:r>
            <a:r>
              <a:rPr lang="zh-CN" altLang="en-US" sz="2600"/>
              <a:t>，另述</a:t>
            </a:r>
            <a:r>
              <a:rPr lang="zh-CN" altLang="zh-CN" sz="2600"/>
              <a:t>)</a:t>
            </a:r>
            <a:r>
              <a:rPr lang="zh-CN" altLang="en-US" sz="2600"/>
              <a:t>，</a:t>
            </a:r>
            <a:r>
              <a:rPr lang="zh-CN" altLang="zh-CN" sz="2600"/>
              <a:t>Windows 2000</a:t>
            </a:r>
            <a:r>
              <a:rPr lang="zh-CN" altLang="en-US" sz="2600"/>
              <a:t>记录的是“</a:t>
            </a:r>
            <a:r>
              <a:rPr lang="zh-CN" altLang="zh-CN" sz="2600"/>
              <a:t>NTFS</a:t>
            </a:r>
            <a:r>
              <a:rPr lang="zh-CN" altLang="en-US" sz="2600"/>
              <a:t>”。通常在被</a:t>
            </a:r>
            <a:r>
              <a:rPr lang="zh-CN" altLang="zh-CN" sz="2600"/>
              <a:t>Windows 95</a:t>
            </a:r>
            <a:r>
              <a:rPr lang="zh-CN" altLang="en-US" sz="2600"/>
              <a:t>格式化的磁盘上</a:t>
            </a:r>
            <a:r>
              <a:rPr lang="zh-CN" altLang="zh-CN" sz="2600"/>
              <a:t>OEM ID</a:t>
            </a:r>
            <a:r>
              <a:rPr lang="zh-CN" altLang="en-US" sz="2600"/>
              <a:t>字段出现“</a:t>
            </a:r>
            <a:r>
              <a:rPr lang="zh-CN" altLang="zh-CN" sz="2600"/>
              <a:t>MSWIN4.0</a:t>
            </a:r>
            <a:r>
              <a:rPr lang="zh-CN" altLang="en-US" sz="2600"/>
              <a:t>”，在被</a:t>
            </a:r>
            <a:r>
              <a:rPr lang="zh-CN" altLang="zh-CN" sz="2600"/>
              <a:t>Windows 95 OSR2</a:t>
            </a:r>
            <a:r>
              <a:rPr lang="zh-CN" altLang="en-US" sz="2600"/>
              <a:t>和</a:t>
            </a:r>
            <a:r>
              <a:rPr lang="zh-CN" altLang="zh-CN" sz="2600"/>
              <a:t>Windows 98</a:t>
            </a:r>
            <a:r>
              <a:rPr lang="zh-CN" altLang="en-US" sz="2600"/>
              <a:t>格式化的磁盘上</a:t>
            </a:r>
            <a:r>
              <a:rPr lang="zh-CN" altLang="zh-CN" sz="2600"/>
              <a:t>OEM ID</a:t>
            </a:r>
            <a:r>
              <a:rPr lang="zh-CN" altLang="en-US" sz="2600"/>
              <a:t>字段出现“</a:t>
            </a:r>
            <a:r>
              <a:rPr lang="zh-CN" altLang="zh-CN" sz="2600"/>
              <a:t>MSWIN4.1</a:t>
            </a:r>
            <a:r>
              <a:rPr lang="zh-CN" altLang="en-US" sz="2600"/>
              <a:t>”。</a:t>
            </a:r>
            <a:br>
              <a:rPr lang="en-US" altLang="zh-CN" sz="2600"/>
            </a:br>
            <a:r>
              <a:rPr lang="en-US" altLang="zh-CN" sz="2600"/>
              <a:t>   </a:t>
            </a:r>
            <a:endParaRPr lang="en-US" altLang="zh-CN" sz="2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Rectangle 2"/>
          <p:cNvSpPr>
            <a:spLocks noGrp="1"/>
          </p:cNvSpPr>
          <p:nvPr>
            <p:ph type="title"/>
          </p:nvPr>
        </p:nvSpPr>
        <p:spPr/>
        <p:txBody>
          <a:bodyPr vert="horz" wrap="square" lIns="91440" tIns="45720" rIns="91440" bIns="45720" anchor="t" anchorCtr="0"/>
          <a:p>
            <a:pPr eaLnBrk="1" hangingPunct="1"/>
            <a:r>
              <a:rPr lang="zh-CN" altLang="zh-CN"/>
              <a:t>FAT32 DBR</a:t>
            </a:r>
            <a:endParaRPr lang="zh-CN" altLang="zh-CN"/>
          </a:p>
        </p:txBody>
      </p:sp>
      <p:sp>
        <p:nvSpPr>
          <p:cNvPr id="68610" name="Rectangle 3"/>
          <p:cNvSpPr>
            <a:spLocks noGrp="1"/>
          </p:cNvSpPr>
          <p:nvPr>
            <p:ph idx="1"/>
          </p:nvPr>
        </p:nvSpPr>
        <p:spPr/>
        <p:txBody>
          <a:bodyPr vert="horz" wrap="square" lIns="91440" tIns="45720" rIns="91440" bIns="45720" anchor="t" anchorCtr="0"/>
          <a:p>
            <a:pPr eaLnBrk="1" hangingPunct="1"/>
            <a:r>
              <a:rPr lang="zh-CN" altLang="en-US" sz="2600"/>
              <a:t>接下来的从偏移</a:t>
            </a:r>
            <a:r>
              <a:rPr lang="zh-CN" altLang="zh-CN" sz="2600"/>
              <a:t>0x0B</a:t>
            </a:r>
            <a:r>
              <a:rPr lang="zh-CN" altLang="en-US" sz="2600"/>
              <a:t>开始的是一段描述能够使可执行引导代码找到相关参数的信息。通常称之为</a:t>
            </a:r>
            <a:r>
              <a:rPr lang="zh-CN" altLang="zh-CN" sz="2600"/>
              <a:t>BPB(BIOS Parameter Block)</a:t>
            </a:r>
            <a:r>
              <a:rPr lang="zh-CN" altLang="en-US" sz="2600"/>
              <a:t>。</a:t>
            </a:r>
            <a:endParaRPr lang="en-US" altLang="zh-CN" sz="2600"/>
          </a:p>
          <a:p>
            <a:pPr eaLnBrk="1" hangingPunct="1"/>
            <a:r>
              <a:rPr lang="zh-CN" altLang="zh-CN" sz="2600"/>
              <a:t>BPB</a:t>
            </a:r>
            <a:r>
              <a:rPr lang="zh-CN" altLang="en-US" sz="2600"/>
              <a:t>一般开始于相同的位移量，因此，标准的参数都处于一个已知的位置。磁盘容量和几何结构变量都被封在</a:t>
            </a:r>
            <a:r>
              <a:rPr lang="zh-CN" altLang="zh-CN" sz="2600"/>
              <a:t>BPB</a:t>
            </a:r>
            <a:r>
              <a:rPr lang="zh-CN" altLang="en-US" sz="2600"/>
              <a:t>之中。</a:t>
            </a:r>
            <a:endParaRPr lang="en-US" altLang="zh-CN" sz="2600"/>
          </a:p>
          <a:p>
            <a:pPr eaLnBrk="1" hangingPunct="1"/>
            <a:r>
              <a:rPr lang="zh-CN" altLang="en-US" sz="2600"/>
              <a:t>由于引导扇区的第一部分是一个</a:t>
            </a:r>
            <a:r>
              <a:rPr lang="zh-CN" altLang="zh-CN" sz="2600"/>
              <a:t>x86</a:t>
            </a:r>
            <a:r>
              <a:rPr lang="zh-CN" altLang="en-US" sz="2600"/>
              <a:t>跳转指令。因此，将来通过在</a:t>
            </a:r>
            <a:r>
              <a:rPr lang="zh-CN" altLang="zh-CN" sz="2600"/>
              <a:t>BPB</a:t>
            </a:r>
            <a:r>
              <a:rPr lang="zh-CN" altLang="en-US" sz="2600"/>
              <a:t>末端附加新的信息，可以对</a:t>
            </a:r>
            <a:r>
              <a:rPr lang="zh-CN" altLang="zh-CN" sz="2600"/>
              <a:t>BPB</a:t>
            </a:r>
            <a:r>
              <a:rPr lang="zh-CN" altLang="en-US" sz="2600"/>
              <a:t>进行扩展。只需要对该跳转指令作一个小的调整就可以适应</a:t>
            </a:r>
            <a:r>
              <a:rPr lang="zh-CN" altLang="zh-CN" sz="2600"/>
              <a:t>BPB</a:t>
            </a:r>
            <a:r>
              <a:rPr lang="zh-CN" altLang="en-US" sz="2600"/>
              <a:t>的变化。</a:t>
            </a:r>
            <a:r>
              <a:rPr lang="en-US" altLang="zh-CN" sz="2600"/>
              <a:t> </a:t>
            </a:r>
            <a:endParaRPr lang="en-US" altLang="zh-CN" sz="26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标题 1"/>
          <p:cNvSpPr>
            <a:spLocks noGrp="1"/>
          </p:cNvSpPr>
          <p:nvPr>
            <p:ph type="title"/>
          </p:nvPr>
        </p:nvSpPr>
        <p:spPr/>
        <p:txBody>
          <a:bodyPr anchor="t" anchorCtr="0"/>
          <a:p>
            <a:r>
              <a:rPr lang="zh-CN" altLang="zh-CN"/>
              <a:t>FAT32 DBR</a:t>
            </a:r>
            <a:br>
              <a:rPr lang="zh-CN" altLang="zh-CN"/>
            </a:br>
            <a:endParaRPr lang="zh-CN" altLang="en-US"/>
          </a:p>
        </p:txBody>
      </p:sp>
      <p:pic>
        <p:nvPicPr>
          <p:cNvPr id="69634" name="内容占位符 3"/>
          <p:cNvPicPr>
            <a:picLocks noGrp="1" noChangeAspect="1"/>
          </p:cNvPicPr>
          <p:nvPr>
            <p:ph idx="1"/>
          </p:nvPr>
        </p:nvPicPr>
        <p:blipFill>
          <a:blip r:embed="rId1"/>
          <a:stretch>
            <a:fillRect/>
          </a:stretch>
        </p:blipFill>
        <p:spPr>
          <a:xfrm>
            <a:off x="457200" y="1781175"/>
            <a:ext cx="8140700" cy="4233863"/>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标题 1"/>
          <p:cNvSpPr>
            <a:spLocks noGrp="1"/>
          </p:cNvSpPr>
          <p:nvPr>
            <p:ph type="title"/>
          </p:nvPr>
        </p:nvSpPr>
        <p:spPr/>
        <p:txBody>
          <a:bodyPr anchor="t" anchorCtr="0"/>
          <a:p>
            <a:r>
              <a:rPr lang="zh-CN" altLang="zh-CN">
                <a:sym typeface="华文新魏" panose="02010800040101010101" charset="-122"/>
              </a:rPr>
              <a:t>FAT32 DBR</a:t>
            </a:r>
            <a:endParaRPr lang="zh-CN" altLang="en-US"/>
          </a:p>
        </p:txBody>
      </p:sp>
      <p:sp>
        <p:nvSpPr>
          <p:cNvPr id="70658" name="内容占位符 2"/>
          <p:cNvSpPr>
            <a:spLocks noGrp="1"/>
          </p:cNvSpPr>
          <p:nvPr>
            <p:ph idx="1"/>
          </p:nvPr>
        </p:nvSpPr>
        <p:spPr/>
        <p:txBody>
          <a:bodyPr anchor="t" anchorCtr="0"/>
          <a:p>
            <a:r>
              <a:rPr lang="zh-CN" altLang="en-US"/>
              <a:t>0DH～0DH：每簇扇区数</a:t>
            </a:r>
            <a:endParaRPr lang="zh-CN" altLang="en-US"/>
          </a:p>
          <a:p>
            <a:pPr lvl="1" indent="-325120"/>
            <a:r>
              <a:rPr lang="zh-CN" altLang="en-US"/>
              <a:t>每簇扇区数记录着文件系统的簇大小，即由多少个扇区组成一个簇。</a:t>
            </a:r>
            <a:endParaRPr lang="zh-CN" altLang="en-US"/>
          </a:p>
          <a:p>
            <a:pPr lvl="1" indent="-325120"/>
            <a:r>
              <a:rPr lang="zh-CN" altLang="en-US"/>
              <a:t>FAT32最大支持128扇区的簇。</a:t>
            </a:r>
            <a:endParaRPr lang="zh-CN" altLang="en-US"/>
          </a:p>
          <a:p>
            <a:pPr lvl="1" indent="-325120"/>
            <a:r>
              <a:rPr lang="zh-CN" altLang="en-US"/>
              <a:t>在FAT32文件系统中所有的簇从2开始进行编号，每个簇都有一个自己的地址编号，并且所有的簇都位于数据区内，在数据区之前是没有簇的。</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标题 1"/>
          <p:cNvSpPr>
            <a:spLocks noGrp="1"/>
          </p:cNvSpPr>
          <p:nvPr>
            <p:ph type="title"/>
          </p:nvPr>
        </p:nvSpPr>
        <p:spPr/>
        <p:txBody>
          <a:bodyPr anchor="t" anchorCtr="0"/>
          <a:p>
            <a:r>
              <a:rPr lang="zh-CN" altLang="zh-CN">
                <a:sym typeface="华文新魏" panose="02010800040101010101" charset="-122"/>
              </a:rPr>
              <a:t>FAT32 DBR</a:t>
            </a:r>
            <a:br>
              <a:rPr lang="zh-CN" altLang="en-US"/>
            </a:br>
            <a:endParaRPr lang="zh-CN" altLang="en-US"/>
          </a:p>
        </p:txBody>
      </p:sp>
      <p:sp>
        <p:nvSpPr>
          <p:cNvPr id="71682" name="内容占位符 2"/>
          <p:cNvSpPr>
            <a:spLocks noGrp="1"/>
          </p:cNvSpPr>
          <p:nvPr>
            <p:ph idx="1"/>
          </p:nvPr>
        </p:nvSpPr>
        <p:spPr/>
        <p:txBody>
          <a:bodyPr anchor="t" anchorCtr="0"/>
          <a:p>
            <a:r>
              <a:rPr lang="zh-CN" altLang="en-US"/>
              <a:t>1CH～1FH：隐藏扇区数</a:t>
            </a:r>
            <a:endParaRPr lang="zh-CN" altLang="en-US"/>
          </a:p>
          <a:p>
            <a:pPr lvl="1" indent="-325120"/>
            <a:r>
              <a:rPr lang="zh-CN" altLang="en-US"/>
              <a:t>隐藏扇区数是指本分区之前使用的扇区数，该值与分区表中所描述的该分区的起始扇区号一致。</a:t>
            </a:r>
            <a:endParaRPr lang="zh-CN" altLang="en-US"/>
          </a:p>
          <a:p>
            <a:pPr lvl="1" indent="-325120"/>
            <a:r>
              <a:rPr lang="zh-CN" altLang="en-US"/>
              <a:t>对于主磁盘分区来讲，是MBR到该分区DBR之间的扇区数；对于扩展分区中的逻辑驱动器来讲，是其EBR到该分区DBR之间的扇区数。</a:t>
            </a: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标题 1"/>
          <p:cNvSpPr>
            <a:spLocks noGrp="1"/>
          </p:cNvSpPr>
          <p:nvPr>
            <p:ph type="title"/>
          </p:nvPr>
        </p:nvSpPr>
        <p:spPr/>
        <p:txBody>
          <a:bodyPr anchor="t" anchorCtr="0"/>
          <a:p>
            <a:r>
              <a:rPr lang="zh-CN" altLang="zh-CN">
                <a:sym typeface="华文新魏" panose="02010800040101010101" charset="-122"/>
              </a:rPr>
              <a:t>FAT32 DBR</a:t>
            </a:r>
            <a:endParaRPr lang="zh-CN" altLang="en-US"/>
          </a:p>
        </p:txBody>
      </p:sp>
      <p:sp>
        <p:nvSpPr>
          <p:cNvPr id="72706" name="内容占位符 2"/>
          <p:cNvSpPr>
            <a:spLocks noGrp="1"/>
          </p:cNvSpPr>
          <p:nvPr>
            <p:ph idx="1"/>
          </p:nvPr>
        </p:nvSpPr>
        <p:spPr/>
        <p:txBody>
          <a:bodyPr anchor="t" anchorCtr="0"/>
          <a:p>
            <a:r>
              <a:rPr lang="zh-CN" altLang="en-US"/>
              <a:t>2CH～2FH：根目录首簇号</a:t>
            </a:r>
            <a:endParaRPr lang="zh-CN" altLang="en-US"/>
          </a:p>
          <a:p>
            <a:pPr lvl="1" indent="-325120"/>
            <a:r>
              <a:rPr lang="zh-CN" altLang="en-US"/>
              <a:t>分区在格式化为FAT32文件系统时，格式化程序会在数据区中指派一个簇作为FAT32的根目录区的开始，并把该簇号记录在BPB中。</a:t>
            </a:r>
            <a:endParaRPr lang="zh-CN" altLang="en-US"/>
          </a:p>
          <a:p>
            <a:pPr lvl="1" indent="-325120"/>
            <a:r>
              <a:rPr lang="zh-CN" altLang="en-US"/>
              <a:t>通常都是把数据区的第一个簇分配给根目录使用，也就是2号簇。</a:t>
            </a:r>
            <a:endParaRPr lang="zh-CN" altLang="en-US"/>
          </a:p>
          <a:p>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标题 1"/>
          <p:cNvSpPr>
            <a:spLocks noGrp="1"/>
          </p:cNvSpPr>
          <p:nvPr>
            <p:ph type="title"/>
          </p:nvPr>
        </p:nvSpPr>
        <p:spPr/>
        <p:txBody>
          <a:bodyPr anchor="t" anchorCtr="0"/>
          <a:p>
            <a:r>
              <a:rPr lang="zh-CN" altLang="zh-CN">
                <a:sym typeface="华文新魏" panose="02010800040101010101" charset="-122"/>
              </a:rPr>
              <a:t>FAT32 DBR</a:t>
            </a:r>
            <a:br>
              <a:rPr lang="zh-CN" altLang="en-US"/>
            </a:br>
            <a:endParaRPr lang="zh-CN" altLang="en-US"/>
          </a:p>
        </p:txBody>
      </p:sp>
      <p:sp>
        <p:nvSpPr>
          <p:cNvPr id="73730" name="内容占位符 2"/>
          <p:cNvSpPr>
            <a:spLocks noGrp="1"/>
          </p:cNvSpPr>
          <p:nvPr>
            <p:ph idx="1"/>
          </p:nvPr>
        </p:nvSpPr>
        <p:spPr/>
        <p:txBody>
          <a:bodyPr anchor="t" anchorCtr="0"/>
          <a:p>
            <a:r>
              <a:rPr lang="zh-CN" altLang="en-US"/>
              <a:t>30H～31H：文件系统信息扇区号</a:t>
            </a:r>
            <a:endParaRPr lang="zh-CN" altLang="en-US"/>
          </a:p>
          <a:p>
            <a:pPr lvl="1" indent="-325120"/>
            <a:r>
              <a:rPr lang="zh-CN" altLang="en-US" sz="3000"/>
              <a:t>FAT32文件系统在DBR的保留扇区中安排了一个文件系统信息扇区，用以记录数据区中空闲簇的数量及下一个空闲簇的簇号，该扇区一般在分区的1号扇区，也就是紧跟着DBR后的一个扇区</a:t>
            </a:r>
            <a:endParaRPr lang="zh-CN" altLang="en-US" sz="3000"/>
          </a:p>
          <a:p>
            <a:endParaRPr lang="zh-CN" altLang="en-US"/>
          </a:p>
        </p:txBody>
      </p:sp>
      <p:pic>
        <p:nvPicPr>
          <p:cNvPr id="73731" name="图片 3"/>
          <p:cNvPicPr>
            <a:picLocks noChangeAspect="1"/>
          </p:cNvPicPr>
          <p:nvPr/>
        </p:nvPicPr>
        <p:blipFill>
          <a:blip r:embed="rId1"/>
          <a:stretch>
            <a:fillRect/>
          </a:stretch>
        </p:blipFill>
        <p:spPr>
          <a:xfrm>
            <a:off x="723900" y="4587875"/>
            <a:ext cx="7696200" cy="1476375"/>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Rectangle 2"/>
          <p:cNvSpPr>
            <a:spLocks noGrp="1"/>
          </p:cNvSpPr>
          <p:nvPr>
            <p:ph type="title"/>
          </p:nvPr>
        </p:nvSpPr>
        <p:spPr/>
        <p:txBody>
          <a:bodyPr vert="horz" wrap="square" lIns="91440" tIns="45720" rIns="91440" bIns="45720" anchor="t" anchorCtr="0"/>
          <a:p>
            <a:pPr eaLnBrk="1" hangingPunct="1"/>
            <a:r>
              <a:rPr lang="zh-CN" altLang="en-US"/>
              <a:t>保留扇区</a:t>
            </a:r>
            <a:endParaRPr lang="zh-CN" altLang="en-US"/>
          </a:p>
        </p:txBody>
      </p:sp>
      <p:sp>
        <p:nvSpPr>
          <p:cNvPr id="74754" name="Rectangle 3"/>
          <p:cNvSpPr>
            <a:spLocks noGrp="1"/>
          </p:cNvSpPr>
          <p:nvPr>
            <p:ph idx="1"/>
          </p:nvPr>
        </p:nvSpPr>
        <p:spPr/>
        <p:txBody>
          <a:bodyPr vert="horz" wrap="square" lIns="91440" tIns="45720" rIns="91440" bIns="45720" anchor="t" anchorCtr="0"/>
          <a:p>
            <a:pPr eaLnBrk="1" hangingPunct="1"/>
            <a:r>
              <a:rPr lang="zh-CN" altLang="en-US" sz="2600"/>
              <a:t>所谓保留扇区是指从分区</a:t>
            </a:r>
            <a:r>
              <a:rPr lang="zh-CN" altLang="zh-CN" sz="2600"/>
              <a:t>DBR</a:t>
            </a:r>
            <a:r>
              <a:rPr lang="zh-CN" altLang="en-US" sz="2600"/>
              <a:t>扇区开始的仅为系统所有的扇区，包括</a:t>
            </a:r>
            <a:r>
              <a:rPr lang="zh-CN" altLang="zh-CN" sz="2600"/>
              <a:t>DBR</a:t>
            </a:r>
            <a:r>
              <a:rPr lang="zh-CN" altLang="en-US" sz="2600"/>
              <a:t>扇区。</a:t>
            </a:r>
            <a:endParaRPr lang="en-US" altLang="zh-CN" sz="2600"/>
          </a:p>
          <a:p>
            <a:pPr eaLnBrk="1" hangingPunct="1"/>
            <a:r>
              <a:rPr lang="zh-CN" altLang="en-US" sz="2600"/>
              <a:t>在</a:t>
            </a:r>
            <a:r>
              <a:rPr lang="zh-CN" altLang="zh-CN" sz="2600"/>
              <a:t>FAT32</a:t>
            </a:r>
            <a:r>
              <a:rPr lang="zh-CN" altLang="en-US" sz="2600"/>
              <a:t>中，保留扇区的数量通常取为</a:t>
            </a:r>
            <a:r>
              <a:rPr lang="zh-CN" altLang="zh-CN" sz="2600"/>
              <a:t>32</a:t>
            </a:r>
            <a:r>
              <a:rPr lang="zh-CN" altLang="en-US" sz="2600"/>
              <a:t>。</a:t>
            </a:r>
            <a:endParaRPr lang="en-US" altLang="zh-CN" sz="2600"/>
          </a:p>
          <a:p>
            <a:pPr eaLnBrk="1" hangingPunct="1"/>
            <a:r>
              <a:rPr lang="zh-CN" altLang="zh-CN" sz="2600"/>
              <a:t>FAT32</a:t>
            </a:r>
            <a:r>
              <a:rPr lang="zh-CN" altLang="en-US" sz="2600"/>
              <a:t>中的保留扇区除了磁盘逻辑</a:t>
            </a:r>
            <a:r>
              <a:rPr lang="zh-CN" altLang="zh-CN" sz="2600"/>
              <a:t>0</a:t>
            </a:r>
            <a:r>
              <a:rPr lang="zh-CN" altLang="en-US" sz="2600"/>
              <a:t>扇区用作</a:t>
            </a:r>
            <a:r>
              <a:rPr lang="zh-CN" altLang="zh-CN" sz="2600"/>
              <a:t>DBR</a:t>
            </a:r>
            <a:r>
              <a:rPr lang="zh-CN" altLang="en-US" sz="2600"/>
              <a:t>，逻辑</a:t>
            </a:r>
            <a:r>
              <a:rPr lang="zh-CN" altLang="zh-CN" sz="2600"/>
              <a:t>2</a:t>
            </a:r>
            <a:r>
              <a:rPr lang="zh-CN" altLang="en-US" sz="2600"/>
              <a:t>扇区（</a:t>
            </a:r>
            <a:r>
              <a:rPr lang="zh-CN" altLang="zh-CN" sz="2600"/>
              <a:t>win98</a:t>
            </a:r>
            <a:r>
              <a:rPr lang="zh-CN" altLang="en-US" sz="2600"/>
              <a:t>）或</a:t>
            </a:r>
            <a:r>
              <a:rPr lang="zh-CN" altLang="zh-CN" sz="2600"/>
              <a:t>0xC</a:t>
            </a:r>
            <a:r>
              <a:rPr lang="zh-CN" altLang="en-US" sz="2600"/>
              <a:t>扇区（</a:t>
            </a:r>
            <a:r>
              <a:rPr lang="zh-CN" altLang="zh-CN" sz="2600"/>
              <a:t>Win2000/XP</a:t>
            </a:r>
            <a:r>
              <a:rPr lang="zh-CN" altLang="en-US" sz="2600"/>
              <a:t>）用作</a:t>
            </a:r>
            <a:r>
              <a:rPr lang="zh-CN" altLang="zh-CN" sz="2600"/>
              <a:t>OS</a:t>
            </a:r>
            <a:r>
              <a:rPr lang="zh-CN" altLang="en-US" sz="2600"/>
              <a:t>引导代码扩展部分外，部分用于备份和升级，其余通常闲置。</a:t>
            </a:r>
            <a:endParaRPr lang="en-US" altLang="zh-CN" sz="2600"/>
          </a:p>
          <a:p>
            <a:pPr eaLnBrk="1" hangingPunct="1"/>
            <a:r>
              <a:rPr lang="zh-CN" altLang="en-US" sz="2600"/>
              <a:t>闲置扇区为病毒提供了栖息之地。</a:t>
            </a:r>
            <a:endParaRPr lang="zh-CN" altLang="en-US" sz="26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标题 1"/>
          <p:cNvSpPr>
            <a:spLocks noGrp="1"/>
          </p:cNvSpPr>
          <p:nvPr>
            <p:ph type="title"/>
          </p:nvPr>
        </p:nvSpPr>
        <p:spPr/>
        <p:txBody>
          <a:bodyPr anchor="t" anchorCtr="0"/>
          <a:p>
            <a:r>
              <a:rPr lang="en-US" altLang="zh-CN"/>
              <a:t>FAT32 FAT</a:t>
            </a:r>
            <a:endParaRPr lang="en-US" altLang="zh-CN"/>
          </a:p>
        </p:txBody>
      </p:sp>
      <p:sp>
        <p:nvSpPr>
          <p:cNvPr id="75778" name="内容占位符 2"/>
          <p:cNvSpPr>
            <a:spLocks noGrp="1"/>
          </p:cNvSpPr>
          <p:nvPr>
            <p:ph idx="1"/>
          </p:nvPr>
        </p:nvSpPr>
        <p:spPr/>
        <p:txBody>
          <a:bodyPr anchor="t" anchorCtr="0"/>
          <a:p>
            <a:r>
              <a:rPr lang="zh-CN" altLang="en-US"/>
              <a:t>FAT（File Allocation Table）文件分配表</a:t>
            </a:r>
            <a:endParaRPr lang="zh-CN" altLang="en-US"/>
          </a:p>
          <a:p>
            <a:pPr lvl="1" indent="-325120"/>
            <a:r>
              <a:rPr lang="zh-CN" altLang="en-US"/>
              <a:t>FAT文件系统一般有两份FAT，它们由格式化程序在对分区进行格式化时创建，FAT1是活动FAT，FAT2是备份FAT。</a:t>
            </a:r>
            <a:endParaRPr lang="zh-CN" altLang="en-US"/>
          </a:p>
          <a:p>
            <a:pPr lvl="1" indent="-325120"/>
            <a:r>
              <a:rPr lang="zh-CN" altLang="en-US"/>
              <a:t>FAT1跟在DBR之后，其具体地址由DBR的BPB参数中偏移量为0EH～0FH的两字节描述；FAT2跟在FAT1之后，其地址可以用FAT1的所在扇区号加上每个FAT所占的扇区数获得。</a:t>
            </a:r>
            <a:endParaRPr lang="zh-CN" altLang="en-US"/>
          </a:p>
          <a:p>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标题 1"/>
          <p:cNvSpPr>
            <a:spLocks noGrp="1"/>
          </p:cNvSpPr>
          <p:nvPr>
            <p:ph type="title"/>
          </p:nvPr>
        </p:nvSpPr>
        <p:spPr/>
        <p:txBody>
          <a:bodyPr anchor="t" anchorCtr="0"/>
          <a:p>
            <a:r>
              <a:rPr lang="en-US" altLang="zh-CN"/>
              <a:t>FAT32 FAT</a:t>
            </a:r>
            <a:br>
              <a:rPr lang="en-US" altLang="zh-CN"/>
            </a:br>
            <a:endParaRPr lang="zh-CN" altLang="en-US"/>
          </a:p>
        </p:txBody>
      </p:sp>
      <p:sp>
        <p:nvSpPr>
          <p:cNvPr id="76802" name="内容占位符 2"/>
          <p:cNvSpPr>
            <a:spLocks noGrp="1"/>
          </p:cNvSpPr>
          <p:nvPr>
            <p:ph idx="1"/>
          </p:nvPr>
        </p:nvSpPr>
        <p:spPr/>
        <p:txBody>
          <a:bodyPr anchor="t" anchorCtr="0"/>
          <a:p>
            <a:r>
              <a:rPr lang="zh-CN" altLang="en-US"/>
              <a:t>FAT（File Allocation Table）文件分配表</a:t>
            </a:r>
            <a:endParaRPr lang="zh-CN" altLang="en-US"/>
          </a:p>
          <a:p>
            <a:pPr lvl="1" indent="-325120"/>
            <a:r>
              <a:rPr lang="zh-CN" altLang="en-US"/>
              <a:t>FAT表是由FAT表项构成的，我们把FAT表项简称为FAT项，每个FAT项的大小32位。</a:t>
            </a:r>
            <a:endParaRPr lang="zh-CN" altLang="en-US"/>
          </a:p>
          <a:p>
            <a:pPr lvl="1" indent="-325120"/>
            <a:r>
              <a:rPr lang="zh-CN" altLang="en-US"/>
              <a:t>FAT表的前两个FAT项有专门的用途：0号FAT项通常用来存放分区所在的介质类型，例如硬盘的介质类型为“F8”，那么硬盘上分区的FAT表第一个FAT项就以“F8”开始；1号FAT项则用来存储文件系统的肮脏标志，表明文件系统被非法卸载或者磁盘表面存在错误。</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标题 1"/>
          <p:cNvSpPr>
            <a:spLocks noGrp="1"/>
          </p:cNvSpPr>
          <p:nvPr>
            <p:ph type="title"/>
          </p:nvPr>
        </p:nvSpPr>
        <p:spPr/>
        <p:txBody>
          <a:bodyPr anchor="t" anchorCtr="0"/>
          <a:p>
            <a:r>
              <a:rPr lang="en-US" altLang="zh-CN">
                <a:sym typeface="华文新魏" panose="02010800040101010101" charset="-122"/>
              </a:rPr>
              <a:t>FAT32 FAT</a:t>
            </a:r>
            <a:endParaRPr lang="zh-CN" altLang="en-US"/>
          </a:p>
        </p:txBody>
      </p:sp>
      <p:sp>
        <p:nvSpPr>
          <p:cNvPr id="77826" name="内容占位符 2"/>
          <p:cNvSpPr>
            <a:spLocks noGrp="1"/>
          </p:cNvSpPr>
          <p:nvPr>
            <p:ph idx="1"/>
          </p:nvPr>
        </p:nvSpPr>
        <p:spPr/>
        <p:txBody>
          <a:bodyPr anchor="t" anchorCtr="0"/>
          <a:p>
            <a:r>
              <a:rPr lang="zh-CN" altLang="en-US">
                <a:sym typeface="华文新魏" panose="02010800040101010101" charset="-122"/>
              </a:rPr>
              <a:t>FAT（File Allocation Table）文件分配表</a:t>
            </a:r>
            <a:endParaRPr lang="zh-CN" altLang="en-US"/>
          </a:p>
          <a:p>
            <a:pPr lvl="1" indent="-325120"/>
            <a:r>
              <a:rPr lang="zh-CN" altLang="en-US"/>
              <a:t>分区的数据区中每一个簇都会映射到FAT表中的唯一一个FAT项。因为0号FAT项和1号FAT项有特殊用途，无法与数据区中的簇形成映射，所以从2号FAT项开始跟数据区中的第一个簇映射。</a:t>
            </a:r>
            <a:endParaRPr lang="zh-CN" altLang="en-US"/>
          </a:p>
          <a:p>
            <a:pPr lvl="1" indent="-325120"/>
            <a:r>
              <a:rPr lang="zh-CN" altLang="en-US"/>
              <a:t>数据区中的第一个簇编号为2号簇，然后3号簇跟3号FAT项映射，以此类推，直到数据区中的最后一个簇。</a:t>
            </a:r>
            <a:endParaRPr lang="zh-CN" altLang="en-US"/>
          </a:p>
        </p:txBody>
      </p:sp>
      <p:pic>
        <p:nvPicPr>
          <p:cNvPr id="77827" name="图片 3"/>
          <p:cNvPicPr>
            <a:picLocks noChangeAspect="1"/>
          </p:cNvPicPr>
          <p:nvPr/>
        </p:nvPicPr>
        <p:blipFill>
          <a:blip r:embed="rId1"/>
          <a:stretch>
            <a:fillRect/>
          </a:stretch>
        </p:blipFill>
        <p:spPr>
          <a:xfrm>
            <a:off x="2085975" y="4873625"/>
            <a:ext cx="6303963" cy="1133475"/>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标题 1"/>
          <p:cNvSpPr>
            <a:spLocks noGrp="1"/>
          </p:cNvSpPr>
          <p:nvPr>
            <p:ph type="title"/>
          </p:nvPr>
        </p:nvSpPr>
        <p:spPr/>
        <p:txBody>
          <a:bodyPr anchor="t" anchorCtr="0"/>
          <a:p>
            <a:r>
              <a:rPr lang="en-US" altLang="zh-CN">
                <a:sym typeface="华文新魏" panose="02010800040101010101" charset="-122"/>
              </a:rPr>
              <a:t>FAT32 FAT</a:t>
            </a:r>
            <a:br>
              <a:rPr lang="zh-CN" altLang="en-US"/>
            </a:br>
            <a:endParaRPr lang="zh-CN" altLang="en-US"/>
          </a:p>
        </p:txBody>
      </p:sp>
      <p:sp>
        <p:nvSpPr>
          <p:cNvPr id="78850" name="内容占位符 2"/>
          <p:cNvSpPr>
            <a:spLocks noGrp="1"/>
          </p:cNvSpPr>
          <p:nvPr>
            <p:ph idx="1"/>
          </p:nvPr>
        </p:nvSpPr>
        <p:spPr/>
        <p:txBody>
          <a:bodyPr anchor="t" anchorCtr="0"/>
          <a:p>
            <a:r>
              <a:rPr lang="zh-CN" altLang="en-US">
                <a:sym typeface="华文新魏" panose="02010800040101010101" charset="-122"/>
              </a:rPr>
              <a:t>FAT（File Allocation Table）文件分配表</a:t>
            </a:r>
            <a:endParaRPr lang="zh-CN" altLang="en-US"/>
          </a:p>
          <a:p>
            <a:endParaRPr lang="zh-CN" altLang="en-US"/>
          </a:p>
        </p:txBody>
      </p:sp>
      <p:pic>
        <p:nvPicPr>
          <p:cNvPr id="78851" name="图片 3"/>
          <p:cNvPicPr>
            <a:picLocks noChangeAspect="1"/>
          </p:cNvPicPr>
          <p:nvPr/>
        </p:nvPicPr>
        <p:blipFill>
          <a:blip r:embed="rId1"/>
          <a:stretch>
            <a:fillRect/>
          </a:stretch>
        </p:blipFill>
        <p:spPr>
          <a:xfrm>
            <a:off x="1327150" y="2098675"/>
            <a:ext cx="5127625" cy="3919538"/>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标题 1"/>
          <p:cNvSpPr>
            <a:spLocks noGrp="1"/>
          </p:cNvSpPr>
          <p:nvPr>
            <p:ph type="title"/>
          </p:nvPr>
        </p:nvSpPr>
        <p:spPr/>
        <p:txBody>
          <a:bodyPr anchor="t" anchorCtr="0"/>
          <a:p>
            <a:r>
              <a:rPr lang="en-US" altLang="zh-CN">
                <a:sym typeface="华文新魏" panose="02010800040101010101" charset="-122"/>
              </a:rPr>
              <a:t>FAT32 FAT</a:t>
            </a:r>
            <a:endParaRPr lang="zh-CN" altLang="en-US"/>
          </a:p>
        </p:txBody>
      </p:sp>
      <p:sp>
        <p:nvSpPr>
          <p:cNvPr id="79874" name="内容占位符 2"/>
          <p:cNvSpPr>
            <a:spLocks noGrp="1"/>
          </p:cNvSpPr>
          <p:nvPr>
            <p:ph idx="1"/>
          </p:nvPr>
        </p:nvSpPr>
        <p:spPr>
          <a:xfrm>
            <a:off x="457200" y="1600200"/>
            <a:ext cx="8486775" cy="4530725"/>
          </a:xfrm>
        </p:spPr>
        <p:txBody>
          <a:bodyPr anchor="t" anchorCtr="0"/>
          <a:p>
            <a:r>
              <a:rPr lang="zh-CN" altLang="en-US"/>
              <a:t>定位FAT1的步骤</a:t>
            </a:r>
            <a:endParaRPr lang="zh-CN" altLang="en-US"/>
          </a:p>
          <a:p>
            <a:pPr lvl="1" indent="-325120"/>
            <a:r>
              <a:rPr lang="zh-CN" altLang="en-US"/>
              <a:t>系统通过该分区的分区表信息，定位到其DBR扇区；</a:t>
            </a:r>
            <a:endParaRPr lang="zh-CN" altLang="en-US"/>
          </a:p>
          <a:p>
            <a:pPr lvl="1" indent="-325120"/>
            <a:r>
              <a:rPr lang="zh-CN" altLang="en-US"/>
              <a:t>读取DBR的BPB，主要读取“DBR保留扇区数”这个参数，它在DBR的0EH～0FH偏移处；</a:t>
            </a:r>
            <a:endParaRPr lang="zh-CN" altLang="en-US"/>
          </a:p>
          <a:p>
            <a:pPr lvl="1" indent="-325120"/>
            <a:r>
              <a:rPr lang="zh-CN" altLang="en-US"/>
              <a:t>读取到“DBR保留扇区数”这个参数的值为6之后，跳转到该分区的6号扇区，这里就是FAT1的开始。</a:t>
            </a:r>
            <a:endParaRPr lang="zh-CN" altLang="en-US"/>
          </a:p>
          <a:p>
            <a:pPr lvl="1" indent="-325120"/>
            <a:r>
              <a:rPr lang="zh-CN" altLang="en-US"/>
              <a:t>FAT2的位置：用“DBR保留扇区数”加上“每FAT扇区数”。</a:t>
            </a: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标题 1"/>
          <p:cNvSpPr>
            <a:spLocks noGrp="1"/>
          </p:cNvSpPr>
          <p:nvPr>
            <p:ph type="title"/>
          </p:nvPr>
        </p:nvSpPr>
        <p:spPr/>
        <p:txBody>
          <a:bodyPr anchor="t" anchorCtr="0"/>
          <a:p>
            <a:r>
              <a:rPr lang="zh-CN" altLang="en-US"/>
              <a:t>FAT32文件系统目录项</a:t>
            </a:r>
            <a:endParaRPr lang="zh-CN" altLang="en-US"/>
          </a:p>
        </p:txBody>
      </p:sp>
      <p:sp>
        <p:nvSpPr>
          <p:cNvPr id="80898" name="内容占位符 2"/>
          <p:cNvSpPr>
            <a:spLocks noGrp="1"/>
          </p:cNvSpPr>
          <p:nvPr>
            <p:ph idx="1"/>
          </p:nvPr>
        </p:nvSpPr>
        <p:spPr/>
        <p:txBody>
          <a:bodyPr anchor="t" anchorCtr="0"/>
          <a:p>
            <a:r>
              <a:rPr lang="zh-CN" altLang="en-US"/>
              <a:t>目录存储位置</a:t>
            </a:r>
            <a:endParaRPr lang="zh-CN" altLang="en-US"/>
          </a:p>
          <a:p>
            <a:pPr lvl="1" indent="-325120"/>
            <a:r>
              <a:rPr lang="zh-CN" altLang="en-US"/>
              <a:t>在FAT32文件系统下，分区根目录下的文件及文件夹的目录项存放在根目录区中，分区子目录下的文件及文件夹的目录项存放在子目录区中，根目录区和子目录区都在数据区中。</a:t>
            </a:r>
            <a:endParaRPr lang="zh-CN" altLang="en-US"/>
          </a:p>
          <a:p>
            <a:r>
              <a:rPr lang="zh-CN" altLang="en-US"/>
              <a:t>FAT32的目录项为四类</a:t>
            </a:r>
            <a:endParaRPr lang="zh-CN" altLang="en-US"/>
          </a:p>
          <a:p>
            <a:pPr lvl="1" indent="-325120"/>
            <a:r>
              <a:rPr lang="zh-CN" altLang="en-US"/>
              <a:t>短文件名目录项。</a:t>
            </a:r>
            <a:endParaRPr lang="zh-CN" altLang="en-US"/>
          </a:p>
          <a:p>
            <a:pPr lvl="1" indent="-325120"/>
            <a:r>
              <a:rPr lang="zh-CN" altLang="en-US"/>
              <a:t>长文件名目录项。</a:t>
            </a:r>
            <a:endParaRPr lang="zh-CN" altLang="en-US"/>
          </a:p>
          <a:p>
            <a:pPr lvl="1" indent="-325120"/>
            <a:r>
              <a:rPr lang="zh-CN" altLang="en-US"/>
              <a:t>“.”目录项和“..”目录项。</a:t>
            </a:r>
            <a:endParaRPr lang="zh-CN" altLang="en-US"/>
          </a:p>
          <a:p>
            <a:pPr lvl="1" indent="-325120"/>
            <a:r>
              <a:rPr lang="zh-CN" altLang="en-US"/>
              <a:t>卷标目录项。</a:t>
            </a: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2"/>
          <p:cNvSpPr>
            <a:spLocks noGrp="1"/>
          </p:cNvSpPr>
          <p:nvPr>
            <p:ph type="title"/>
          </p:nvPr>
        </p:nvSpPr>
        <p:spPr/>
        <p:txBody>
          <a:bodyPr vert="horz" wrap="square" lIns="91440" tIns="45720" rIns="91440" bIns="45720" anchor="t" anchorCtr="0"/>
          <a:p>
            <a:pPr eaLnBrk="1" hangingPunct="1"/>
            <a:r>
              <a:rPr lang="zh-CN" altLang="zh-CN"/>
              <a:t>FAT32</a:t>
            </a:r>
            <a:r>
              <a:rPr lang="zh-CN" altLang="en-US"/>
              <a:t>目录结构</a:t>
            </a:r>
            <a:endParaRPr lang="zh-CN" altLang="zh-CN"/>
          </a:p>
        </p:txBody>
      </p:sp>
      <p:sp>
        <p:nvSpPr>
          <p:cNvPr id="81922" name="Rectangle 3"/>
          <p:cNvSpPr>
            <a:spLocks noGrp="1"/>
          </p:cNvSpPr>
          <p:nvPr>
            <p:ph idx="1"/>
          </p:nvPr>
        </p:nvSpPr>
        <p:spPr/>
        <p:txBody>
          <a:bodyPr vert="horz" wrap="square" lIns="91440" tIns="45720" rIns="91440" bIns="45720" anchor="t" anchorCtr="0"/>
          <a:p>
            <a:pPr eaLnBrk="1" hangingPunct="1"/>
            <a:endParaRPr lang="zh-CN" altLang="zh-CN"/>
          </a:p>
        </p:txBody>
      </p:sp>
      <p:graphicFrame>
        <p:nvGraphicFramePr>
          <p:cNvPr id="67587" name="表格 67586"/>
          <p:cNvGraphicFramePr/>
          <p:nvPr/>
        </p:nvGraphicFramePr>
        <p:xfrm>
          <a:off x="71438" y="65088"/>
          <a:ext cx="9037638" cy="7172325"/>
        </p:xfrm>
        <a:graphic>
          <a:graphicData uri="http://schemas.openxmlformats.org/drawingml/2006/table">
            <a:tbl>
              <a:tblPr/>
              <a:tblGrid>
                <a:gridCol w="1295400"/>
                <a:gridCol w="760413"/>
                <a:gridCol w="454025"/>
                <a:gridCol w="2049462"/>
                <a:gridCol w="1443038"/>
                <a:gridCol w="1138237"/>
                <a:gridCol w="1897063"/>
              </a:tblGrid>
              <a:tr h="403225">
                <a:tc gridSpan="7">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FAT32</a:t>
                      </a:r>
                      <a:r>
                        <a:rPr lang="zh-CN" altLang="zh-CN" sz="1700">
                          <a:solidFill>
                            <a:srgbClr val="000000"/>
                          </a:solidFill>
                          <a:latin typeface="Arial" panose="020B0604020202090204" pitchFamily="34" charset="0"/>
                          <a:ea typeface="华文新魏" panose="02010800040101010101" charset="-122"/>
                        </a:rPr>
                        <a:t>短文件目录项</a:t>
                      </a:r>
                      <a:r>
                        <a:rPr lang="en-US" altLang="zh-CN" sz="1700">
                          <a:solidFill>
                            <a:srgbClr val="000000"/>
                          </a:solidFill>
                          <a:latin typeface="Arial" panose="020B0604020202090204" pitchFamily="34" charset="0"/>
                          <a:ea typeface="华文新魏" panose="02010800040101010101" charset="-122"/>
                        </a:rPr>
                        <a:t>32</a:t>
                      </a:r>
                      <a:r>
                        <a:rPr lang="zh-CN" altLang="zh-CN" sz="1700">
                          <a:solidFill>
                            <a:srgbClr val="000000"/>
                          </a:solidFill>
                          <a:latin typeface="Arial" panose="020B0604020202090204" pitchFamily="34" charset="0"/>
                          <a:ea typeface="华文新魏" panose="02010800040101010101" charset="-122"/>
                        </a:rPr>
                        <a:t>个字节的表示定义</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79216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字节偏移</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字节数</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gridSpan="2">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定义</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字节数</a:t>
                      </a:r>
                      <a:endParaRPr lang="zh-CN" altLang="zh-CN" sz="1700">
                        <a:solidFill>
                          <a:srgbClr val="000000"/>
                        </a:solidFill>
                        <a:latin typeface="Times New Roman" panose="02020603050405020304" charset="0"/>
                      </a:endParaRPr>
                    </a:p>
                    <a:p>
                      <a:pPr lvl="0" algn="ctr" eaLnBrk="1" latinLnBrk="1" hangingPunct="1">
                        <a:lnSpc>
                          <a:spcPct val="150000"/>
                        </a:lnSpc>
                        <a:buNone/>
                      </a:pP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endParaRPr lang="zh-CN" altLang="en-US" sz="1700">
                        <a:solidFill>
                          <a:srgbClr val="000000"/>
                        </a:solidFill>
                        <a:latin typeface="Arial" panose="020B0604020202090204" pitchFamily="34" charset="0"/>
                        <a:ea typeface="华文新魏" panose="02010800040101010101" charset="-122"/>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r>
              <a:tr h="79216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0x0~0x7</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8</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gridSpan="2">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文件名</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0xD</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1</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创建时间的</a:t>
                      </a:r>
                      <a:r>
                        <a:rPr lang="en-US" altLang="zh-CN" sz="1700">
                          <a:solidFill>
                            <a:srgbClr val="000000"/>
                          </a:solidFill>
                          <a:latin typeface="Arial" panose="020B0604020202090204" pitchFamily="34" charset="0"/>
                          <a:ea typeface="华文新魏" panose="02010800040101010101" charset="-122"/>
                        </a:rPr>
                        <a:t>10</a:t>
                      </a:r>
                      <a:r>
                        <a:rPr lang="zh-CN" altLang="zh-CN" sz="1700">
                          <a:solidFill>
                            <a:srgbClr val="000000"/>
                          </a:solidFill>
                          <a:latin typeface="Arial" panose="020B0604020202090204" pitchFamily="34" charset="0"/>
                          <a:ea typeface="华文新魏" panose="02010800040101010101" charset="-122"/>
                        </a:rPr>
                        <a:t>毫秒位</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r>
              <a:tr h="40322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0x8~0xA</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3</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gridSpan="2">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扩展名</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0xE~0xF</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2</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文件创建时间</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r>
              <a:tr h="403225">
                <a:tc rowSpan="7">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0xB</a:t>
                      </a:r>
                      <a:r>
                        <a:rPr lang="en-US" altLang="zh-CN" sz="1700" baseline="30000">
                          <a:solidFill>
                            <a:srgbClr val="000000"/>
                          </a:solidFill>
                          <a:latin typeface="Arial" panose="020B0604020202090204" pitchFamily="34" charset="0"/>
                          <a:ea typeface="华文新魏" panose="02010800040101010101" charset="-122"/>
                        </a:rPr>
                        <a:t>*</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rowSpan="7">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1</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rowSpan="7">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属性字节</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00000000(</a:t>
                      </a:r>
                      <a:r>
                        <a:rPr lang="zh-CN" altLang="zh-CN" sz="1700">
                          <a:solidFill>
                            <a:srgbClr val="000000"/>
                          </a:solidFill>
                          <a:latin typeface="Arial" panose="020B0604020202090204" pitchFamily="34" charset="0"/>
                          <a:ea typeface="华文新魏" panose="02010800040101010101" charset="-122"/>
                        </a:rPr>
                        <a:t>读写</a:t>
                      </a:r>
                      <a:r>
                        <a:rPr lang="en-US" altLang="zh-CN" sz="1700">
                          <a:solidFill>
                            <a:srgbClr val="000000"/>
                          </a:solidFill>
                          <a:latin typeface="Arial" panose="020B0604020202090204" pitchFamily="34" charset="0"/>
                          <a:ea typeface="华文新魏" panose="02010800040101010101" charset="-122"/>
                        </a:rPr>
                        <a:t>)</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0x10~0x11 </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2</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文件创建日期</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r>
              <a:tr h="403225">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00000001(</a:t>
                      </a:r>
                      <a:r>
                        <a:rPr lang="zh-CN" altLang="zh-CN" sz="1700">
                          <a:solidFill>
                            <a:srgbClr val="000000"/>
                          </a:solidFill>
                          <a:latin typeface="Arial" panose="020B0604020202090204" pitchFamily="34" charset="0"/>
                          <a:ea typeface="华文新魏" panose="02010800040101010101" charset="-122"/>
                        </a:rPr>
                        <a:t>只读</a:t>
                      </a:r>
                      <a:r>
                        <a:rPr lang="en-US" altLang="zh-CN" sz="1700">
                          <a:solidFill>
                            <a:srgbClr val="000000"/>
                          </a:solidFill>
                          <a:latin typeface="Arial" panose="020B0604020202090204" pitchFamily="34" charset="0"/>
                          <a:ea typeface="华文新魏" panose="02010800040101010101" charset="-122"/>
                        </a:rPr>
                        <a:t>)</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0x12~0x13</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2</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文件最后访问日期</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r>
              <a:tr h="792163">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00000010(</a:t>
                      </a:r>
                      <a:r>
                        <a:rPr lang="zh-CN" altLang="zh-CN" sz="1700">
                          <a:solidFill>
                            <a:srgbClr val="000000"/>
                          </a:solidFill>
                          <a:latin typeface="Arial" panose="020B0604020202090204" pitchFamily="34" charset="0"/>
                          <a:ea typeface="华文新魏" panose="02010800040101010101" charset="-122"/>
                        </a:rPr>
                        <a:t>隐藏</a:t>
                      </a:r>
                      <a:r>
                        <a:rPr lang="en-US" altLang="zh-CN" sz="1700">
                          <a:solidFill>
                            <a:srgbClr val="000000"/>
                          </a:solidFill>
                          <a:latin typeface="Arial" panose="020B0604020202090204" pitchFamily="34" charset="0"/>
                          <a:ea typeface="华文新魏" panose="02010800040101010101" charset="-122"/>
                        </a:rPr>
                        <a:t>)</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FF0000"/>
                          </a:solidFill>
                          <a:latin typeface="Arial" panose="020B0604020202090204" pitchFamily="34" charset="0"/>
                          <a:ea typeface="华文新魏" panose="02010800040101010101" charset="-122"/>
                        </a:rPr>
                        <a:t>0x14~0x15 </a:t>
                      </a:r>
                      <a:endParaRPr lang="zh-CN" altLang="zh-CN" sz="1700">
                        <a:solidFill>
                          <a:srgbClr val="FF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FF0000"/>
                          </a:solidFill>
                          <a:latin typeface="Arial" panose="020B0604020202090204" pitchFamily="34" charset="0"/>
                          <a:ea typeface="华文新魏" panose="02010800040101010101" charset="-122"/>
                        </a:rPr>
                        <a:t>2</a:t>
                      </a:r>
                      <a:endParaRPr lang="zh-CN" altLang="zh-CN" sz="1700">
                        <a:solidFill>
                          <a:srgbClr val="FF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FF0000"/>
                          </a:solidFill>
                          <a:latin typeface="Arial" panose="020B0604020202090204" pitchFamily="34" charset="0"/>
                          <a:ea typeface="华文新魏" panose="02010800040101010101" charset="-122"/>
                        </a:rPr>
                        <a:t>文件起始簇号的高</a:t>
                      </a:r>
                      <a:r>
                        <a:rPr lang="en-US" altLang="zh-CN" sz="1700">
                          <a:solidFill>
                            <a:srgbClr val="FF0000"/>
                          </a:solidFill>
                          <a:latin typeface="Arial" panose="020B0604020202090204" pitchFamily="34" charset="0"/>
                          <a:ea typeface="华文新魏" panose="02010800040101010101" charset="-122"/>
                        </a:rPr>
                        <a:t>16</a:t>
                      </a:r>
                      <a:r>
                        <a:rPr lang="zh-CN" altLang="zh-CN" sz="1700">
                          <a:solidFill>
                            <a:srgbClr val="FF0000"/>
                          </a:solidFill>
                          <a:latin typeface="Arial" panose="020B0604020202090204" pitchFamily="34" charset="0"/>
                          <a:ea typeface="华文新魏" panose="02010800040101010101" charset="-122"/>
                        </a:rPr>
                        <a:t>位 </a:t>
                      </a:r>
                      <a:endParaRPr lang="zh-CN" altLang="zh-CN" sz="1700">
                        <a:solidFill>
                          <a:srgbClr val="FF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r>
              <a:tr h="792162">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00000100(</a:t>
                      </a:r>
                      <a:r>
                        <a:rPr lang="zh-CN" altLang="zh-CN" sz="1700">
                          <a:solidFill>
                            <a:srgbClr val="000000"/>
                          </a:solidFill>
                          <a:latin typeface="Arial" panose="020B0604020202090204" pitchFamily="34" charset="0"/>
                          <a:ea typeface="华文新魏" panose="02010800040101010101" charset="-122"/>
                        </a:rPr>
                        <a:t>系统</a:t>
                      </a:r>
                      <a:r>
                        <a:rPr lang="en-US" altLang="zh-CN" sz="1700">
                          <a:solidFill>
                            <a:srgbClr val="000000"/>
                          </a:solidFill>
                          <a:latin typeface="Arial" panose="020B0604020202090204" pitchFamily="34" charset="0"/>
                          <a:ea typeface="华文新魏" panose="02010800040101010101" charset="-122"/>
                        </a:rPr>
                        <a:t>)</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0x16~0x17</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2</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文件的最近修改时间</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r>
              <a:tr h="792163">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00001000(</a:t>
                      </a:r>
                      <a:r>
                        <a:rPr lang="zh-CN" altLang="zh-CN" sz="1700">
                          <a:solidFill>
                            <a:srgbClr val="000000"/>
                          </a:solidFill>
                          <a:latin typeface="Arial" panose="020B0604020202090204" pitchFamily="34" charset="0"/>
                          <a:ea typeface="华文新魏" panose="02010800040101010101" charset="-122"/>
                        </a:rPr>
                        <a:t>卷标</a:t>
                      </a:r>
                      <a:r>
                        <a:rPr lang="en-US" altLang="zh-CN" sz="1700">
                          <a:solidFill>
                            <a:srgbClr val="000000"/>
                          </a:solidFill>
                          <a:latin typeface="Arial" panose="020B0604020202090204" pitchFamily="34" charset="0"/>
                          <a:ea typeface="华文新魏" panose="02010800040101010101" charset="-122"/>
                        </a:rPr>
                        <a:t>)</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0x18~0x19</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2</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文件的最近修改日期</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r>
              <a:tr h="792162">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  00010000(</a:t>
                      </a:r>
                      <a:r>
                        <a:rPr lang="zh-CN" altLang="zh-CN" sz="1700">
                          <a:solidFill>
                            <a:srgbClr val="000000"/>
                          </a:solidFill>
                          <a:latin typeface="Arial" panose="020B0604020202090204" pitchFamily="34" charset="0"/>
                          <a:ea typeface="华文新魏" panose="02010800040101010101" charset="-122"/>
                        </a:rPr>
                        <a:t>子目录</a:t>
                      </a:r>
                      <a:r>
                        <a:rPr lang="en-US" altLang="zh-CN" sz="1700">
                          <a:solidFill>
                            <a:srgbClr val="000000"/>
                          </a:solidFill>
                          <a:latin typeface="Arial" panose="020B0604020202090204" pitchFamily="34" charset="0"/>
                          <a:ea typeface="华文新魏" panose="02010800040101010101" charset="-122"/>
                        </a:rPr>
                        <a:t>)</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FF0000"/>
                          </a:solidFill>
                          <a:latin typeface="Arial" panose="020B0604020202090204" pitchFamily="34" charset="0"/>
                          <a:ea typeface="华文新魏" panose="02010800040101010101" charset="-122"/>
                        </a:rPr>
                        <a:t>0x1A~0x1B</a:t>
                      </a:r>
                      <a:endParaRPr lang="zh-CN" altLang="zh-CN" sz="1700">
                        <a:solidFill>
                          <a:srgbClr val="FF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FF0000"/>
                          </a:solidFill>
                          <a:latin typeface="Arial" panose="020B0604020202090204" pitchFamily="34" charset="0"/>
                          <a:ea typeface="华文新魏" panose="02010800040101010101" charset="-122"/>
                        </a:rPr>
                        <a:t>2</a:t>
                      </a:r>
                      <a:endParaRPr lang="zh-CN" altLang="zh-CN" sz="1700">
                        <a:solidFill>
                          <a:srgbClr val="FF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FF0000"/>
                          </a:solidFill>
                          <a:latin typeface="Arial" panose="020B0604020202090204" pitchFamily="34" charset="0"/>
                          <a:ea typeface="华文新魏" panose="02010800040101010101" charset="-122"/>
                        </a:rPr>
                        <a:t>文件起始簇号的低</a:t>
                      </a:r>
                      <a:r>
                        <a:rPr lang="en-US" altLang="zh-CN" sz="1700">
                          <a:solidFill>
                            <a:srgbClr val="FF0000"/>
                          </a:solidFill>
                          <a:latin typeface="Arial" panose="020B0604020202090204" pitchFamily="34" charset="0"/>
                          <a:ea typeface="华文新魏" panose="02010800040101010101" charset="-122"/>
                        </a:rPr>
                        <a:t>16</a:t>
                      </a:r>
                      <a:r>
                        <a:rPr lang="zh-CN" altLang="zh-CN" sz="1700">
                          <a:solidFill>
                            <a:srgbClr val="FF0000"/>
                          </a:solidFill>
                          <a:latin typeface="Arial" panose="020B0604020202090204" pitchFamily="34" charset="0"/>
                          <a:ea typeface="华文新魏" panose="02010800040101010101" charset="-122"/>
                        </a:rPr>
                        <a:t>位</a:t>
                      </a:r>
                      <a:endParaRPr lang="zh-CN" altLang="zh-CN" sz="1700">
                        <a:solidFill>
                          <a:srgbClr val="FF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r>
              <a:tr h="403225">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00100000(</a:t>
                      </a:r>
                      <a:r>
                        <a:rPr lang="zh-CN" altLang="zh-CN" sz="1700">
                          <a:solidFill>
                            <a:srgbClr val="000000"/>
                          </a:solidFill>
                          <a:latin typeface="Arial" panose="020B0604020202090204" pitchFamily="34" charset="0"/>
                          <a:ea typeface="华文新魏" panose="02010800040101010101" charset="-122"/>
                        </a:rPr>
                        <a:t>归档</a:t>
                      </a:r>
                      <a:r>
                        <a:rPr lang="en-US" altLang="zh-CN" sz="1700">
                          <a:solidFill>
                            <a:srgbClr val="000000"/>
                          </a:solidFill>
                          <a:latin typeface="Arial" panose="020B0604020202090204" pitchFamily="34" charset="0"/>
                          <a:ea typeface="华文新魏" panose="02010800040101010101" charset="-122"/>
                        </a:rPr>
                        <a:t>)</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0x1C~0x1F</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4</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表示文件的长度</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r>
              <a:tr h="40322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0xC</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1</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gridSpan="2">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系统保留</a:t>
                      </a: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endParaRPr lang="zh-CN" altLang="zh-CN" sz="1700">
                        <a:solidFill>
                          <a:srgbClr val="000000"/>
                        </a:solidFill>
                        <a:latin typeface="Times New Roman" panose="02020603050405020304" charset="0"/>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hangingPunct="1">
                        <a:buNone/>
                      </a:pPr>
                      <a:endParaRPr lang="zh-CN" altLang="en-US" sz="1700">
                        <a:solidFill>
                          <a:srgbClr val="000000"/>
                        </a:solidFill>
                        <a:latin typeface="Arial" panose="020B0604020202090204" pitchFamily="34" charset="0"/>
                        <a:ea typeface="华文新魏" panose="02010800040101010101" charset="-122"/>
                      </a:endParaRPr>
                    </a:p>
                  </a:txBody>
                  <a:tcPr marL="7006" marR="7006" marT="7006" marB="7006"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标题 1"/>
          <p:cNvSpPr>
            <a:spLocks noGrp="1"/>
          </p:cNvSpPr>
          <p:nvPr>
            <p:ph type="title"/>
          </p:nvPr>
        </p:nvSpPr>
        <p:spPr/>
        <p:txBody>
          <a:bodyPr anchor="t" anchorCtr="0"/>
          <a:p>
            <a:r>
              <a:rPr lang="zh-CN" altLang="en-US"/>
              <a:t>FAT32文件系统目录项</a:t>
            </a:r>
            <a:br>
              <a:rPr lang="zh-CN" altLang="en-US"/>
            </a:br>
            <a:endParaRPr lang="zh-CN" altLang="en-US"/>
          </a:p>
        </p:txBody>
      </p:sp>
      <p:sp>
        <p:nvSpPr>
          <p:cNvPr id="82946" name="内容占位符 2"/>
          <p:cNvSpPr>
            <a:spLocks noGrp="1"/>
          </p:cNvSpPr>
          <p:nvPr>
            <p:ph idx="1"/>
          </p:nvPr>
        </p:nvSpPr>
        <p:spPr/>
        <p:txBody>
          <a:bodyPr anchor="t" anchorCtr="0"/>
          <a:p>
            <a:r>
              <a:rPr lang="zh-CN" altLang="en-US"/>
              <a:t>14H～15H：文件起始簇号的高位</a:t>
            </a:r>
            <a:endParaRPr lang="zh-CN" altLang="en-US"/>
          </a:p>
          <a:p>
            <a:pPr lvl="1" indent="-325120"/>
            <a:r>
              <a:rPr lang="zh-CN" altLang="en-US"/>
              <a:t>这两个字节作为文件起始簇号的高位使用。</a:t>
            </a:r>
            <a:endParaRPr lang="zh-CN" altLang="en-US"/>
          </a:p>
          <a:p>
            <a:r>
              <a:rPr lang="zh-CN" altLang="en-US"/>
              <a:t>1AH～1BH：文件起始簇号的低位</a:t>
            </a:r>
            <a:endParaRPr lang="zh-CN" altLang="en-US"/>
          </a:p>
          <a:p>
            <a:pPr lvl="1" indent="-325120"/>
            <a:r>
              <a:rPr lang="zh-CN" altLang="en-US"/>
              <a:t>这两个字节作为文件起始簇号的低位使用。</a:t>
            </a:r>
            <a:endParaRPr lang="zh-CN" altLang="en-US"/>
          </a:p>
          <a:p>
            <a:pPr lvl="1" indent="-325120"/>
            <a:r>
              <a:rPr lang="zh-CN" altLang="en-US"/>
              <a:t>FAT32的目录项中，文件起始簇号占用4字节，把偏移14H～15H处的两个字节作为高位，跟该偏移处的两个字节和在一起，得到文件开始簇号。</a:t>
            </a:r>
            <a:endParaRPr lang="zh-CN" altLang="en-US"/>
          </a:p>
          <a:p>
            <a:r>
              <a:rPr lang="zh-CN" altLang="en-US"/>
              <a:t>1CH～1FH：文件大小</a:t>
            </a:r>
            <a:endParaRPr lang="zh-CN" altLang="en-US"/>
          </a:p>
          <a:p>
            <a:pPr lvl="1" indent="-325120"/>
            <a:r>
              <a:rPr lang="zh-CN" altLang="en-US"/>
              <a:t>文件大小占用4字节，记录着文件的总字节数。</a:t>
            </a: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标题 1"/>
          <p:cNvSpPr>
            <a:spLocks noGrp="1"/>
          </p:cNvSpPr>
          <p:nvPr>
            <p:ph type="title"/>
          </p:nvPr>
        </p:nvSpPr>
        <p:spPr/>
        <p:txBody>
          <a:bodyPr anchor="t" anchorCtr="0"/>
          <a:p>
            <a:r>
              <a:rPr lang="zh-CN" altLang="en-US"/>
              <a:t>长文件名目录项</a:t>
            </a:r>
            <a:endParaRPr lang="zh-CN" altLang="en-US"/>
          </a:p>
        </p:txBody>
      </p:sp>
      <p:sp>
        <p:nvSpPr>
          <p:cNvPr id="83970" name="内容占位符 2"/>
          <p:cNvSpPr>
            <a:spLocks noGrp="1"/>
          </p:cNvSpPr>
          <p:nvPr>
            <p:ph idx="1"/>
          </p:nvPr>
        </p:nvSpPr>
        <p:spPr/>
        <p:txBody>
          <a:bodyPr anchor="t" anchorCtr="0"/>
          <a:p>
            <a:r>
              <a:rPr lang="zh-CN" altLang="en-US"/>
              <a:t>当创建一个长文件名时，其对应短文件名的存储有以下三个处理原则：</a:t>
            </a:r>
            <a:endParaRPr lang="zh-CN" altLang="en-US"/>
          </a:p>
          <a:p>
            <a:pPr lvl="1" indent="-325120"/>
            <a:r>
              <a:rPr lang="zh-CN" altLang="en-US"/>
              <a:t>系统取长文件名的前6个字符加上“~1”形成短文件名，其扩展名不变；</a:t>
            </a:r>
            <a:endParaRPr lang="zh-CN" altLang="en-US"/>
          </a:p>
          <a:p>
            <a:pPr lvl="1" indent="-325120"/>
            <a:r>
              <a:rPr lang="zh-CN" altLang="en-US"/>
              <a:t>如果已存在这个名字的文件，则符号“~”后的数字自动增加；</a:t>
            </a:r>
            <a:endParaRPr lang="zh-CN" altLang="en-US"/>
          </a:p>
          <a:p>
            <a:pPr lvl="1" indent="-325120"/>
            <a:r>
              <a:rPr lang="zh-CN" altLang="en-US"/>
              <a:t>如果有DOS和Windows 3.x非法的字符，则以下画线“_”替代。</a:t>
            </a: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标题 1"/>
          <p:cNvSpPr>
            <a:spLocks noGrp="1"/>
          </p:cNvSpPr>
          <p:nvPr>
            <p:ph type="title"/>
          </p:nvPr>
        </p:nvSpPr>
        <p:spPr/>
        <p:txBody>
          <a:bodyPr vert="horz" wrap="square" lIns="91440" tIns="45720" rIns="91440" bIns="45720" anchor="t" anchorCtr="0"/>
          <a:p>
            <a:endParaRPr lang="zh-CN" altLang="en-US"/>
          </a:p>
        </p:txBody>
      </p:sp>
      <p:sp>
        <p:nvSpPr>
          <p:cNvPr id="84994" name="内容占位符 2"/>
          <p:cNvSpPr>
            <a:spLocks noGrp="1"/>
          </p:cNvSpPr>
          <p:nvPr>
            <p:ph idx="1"/>
          </p:nvPr>
        </p:nvSpPr>
        <p:spPr/>
        <p:txBody>
          <a:bodyPr vert="horz" wrap="square" lIns="91440" tIns="45720" rIns="91440" bIns="45720" anchor="t" anchorCtr="0"/>
          <a:p>
            <a:endParaRPr lang="zh-CN" altLang="en-US"/>
          </a:p>
        </p:txBody>
      </p:sp>
      <p:graphicFrame>
        <p:nvGraphicFramePr>
          <p:cNvPr id="68611" name="表格 68610"/>
          <p:cNvGraphicFramePr/>
          <p:nvPr/>
        </p:nvGraphicFramePr>
        <p:xfrm>
          <a:off x="71438" y="107950"/>
          <a:ext cx="8964613" cy="6424613"/>
        </p:xfrm>
        <a:graphic>
          <a:graphicData uri="http://schemas.openxmlformats.org/drawingml/2006/table">
            <a:tbl>
              <a:tblPr/>
              <a:tblGrid>
                <a:gridCol w="1152525"/>
                <a:gridCol w="792163"/>
                <a:gridCol w="360362"/>
                <a:gridCol w="719138"/>
                <a:gridCol w="1584325"/>
                <a:gridCol w="1296987"/>
                <a:gridCol w="771525"/>
                <a:gridCol w="2287588"/>
              </a:tblGrid>
              <a:tr h="431800">
                <a:tc gridSpan="8">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FAT32</a:t>
                      </a:r>
                      <a:r>
                        <a:rPr lang="zh-CN" altLang="zh-CN" sz="1700">
                          <a:solidFill>
                            <a:srgbClr val="000000"/>
                          </a:solidFill>
                          <a:latin typeface="Arial" panose="020B0604020202090204" pitchFamily="34" charset="0"/>
                          <a:ea typeface="华文新魏" panose="02010800040101010101" charset="-122"/>
                        </a:rPr>
                        <a:t>长文件目录项</a:t>
                      </a:r>
                      <a:r>
                        <a:rPr lang="en-US" altLang="zh-CN" sz="1700">
                          <a:solidFill>
                            <a:srgbClr val="000000"/>
                          </a:solidFill>
                          <a:latin typeface="Arial" panose="020B0604020202090204" pitchFamily="34" charset="0"/>
                          <a:ea typeface="华文新魏" panose="02010800040101010101" charset="-122"/>
                        </a:rPr>
                        <a:t>32</a:t>
                      </a:r>
                      <a:r>
                        <a:rPr lang="zh-CN" altLang="zh-CN" sz="1700">
                          <a:solidFill>
                            <a:srgbClr val="000000"/>
                          </a:solidFill>
                          <a:latin typeface="Arial" panose="020B0604020202090204" pitchFamily="34" charset="0"/>
                          <a:ea typeface="华文新魏" panose="02010800040101010101" charset="-122"/>
                        </a:rPr>
                        <a:t>个字节的表示定义</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79375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字节偏移</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字节数</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gridSpan="3">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定义</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字节偏移</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字节数</a:t>
                      </a:r>
                      <a:endParaRPr lang="zh-CN" altLang="zh-CN" sz="1700">
                        <a:solidFill>
                          <a:srgbClr val="000000"/>
                        </a:solidFill>
                        <a:latin typeface="Times New Roman" panose="02020603050405020304" charset="0"/>
                      </a:endParaRPr>
                    </a:p>
                    <a:p>
                      <a:pPr lvl="0" algn="ctr" eaLnBrk="1" latinLnBrk="1" hangingPunct="1">
                        <a:lnSpc>
                          <a:spcPct val="150000"/>
                        </a:lnSpc>
                        <a:buNone/>
                      </a:pP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定义</a:t>
                      </a:r>
                      <a:endParaRPr lang="zh-CN" altLang="zh-CN" sz="1700">
                        <a:solidFill>
                          <a:srgbClr val="000000"/>
                        </a:solidFill>
                        <a:latin typeface="Times New Roman" panose="02020603050405020304" charset="0"/>
                      </a:endParaRPr>
                    </a:p>
                    <a:p>
                      <a:pPr lvl="0" algn="ctr" eaLnBrk="1" latinLnBrk="1" hangingPunct="1">
                        <a:lnSpc>
                          <a:spcPct val="150000"/>
                        </a:lnSpc>
                        <a:buNone/>
                      </a:pP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r>
              <a:tr h="793750">
                <a:tc rowSpan="8">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0x0</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rowSpan="8">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1</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rowSpan="8">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属性字节位意义</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7</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保留未用</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0xB</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1</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FF0000"/>
                          </a:solidFill>
                          <a:latin typeface="Arial" panose="020B0604020202090204" pitchFamily="34" charset="0"/>
                          <a:ea typeface="华文新魏" panose="02010800040101010101" charset="-122"/>
                        </a:rPr>
                        <a:t>长文件名目录项标志，取值</a:t>
                      </a:r>
                      <a:r>
                        <a:rPr lang="en-US" altLang="zh-CN" sz="1700">
                          <a:solidFill>
                            <a:srgbClr val="FF0000"/>
                          </a:solidFill>
                          <a:latin typeface="Arial" panose="020B0604020202090204" pitchFamily="34" charset="0"/>
                          <a:ea typeface="华文新魏" panose="02010800040101010101" charset="-122"/>
                        </a:rPr>
                        <a:t>0FH</a:t>
                      </a:r>
                      <a:endParaRPr lang="zh-CN" altLang="zh-CN" sz="1700">
                        <a:solidFill>
                          <a:srgbClr val="FF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r>
              <a:tr h="79375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6</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en-US" sz="1700">
                          <a:solidFill>
                            <a:srgbClr val="000000"/>
                          </a:solidFill>
                          <a:latin typeface="Arial" panose="020B0604020202090204" pitchFamily="34" charset="0"/>
                          <a:ea typeface="华文新魏" panose="02010800040101010101" charset="-122"/>
                        </a:rPr>
                        <a:t>“</a:t>
                      </a:r>
                      <a:r>
                        <a:rPr lang="en-US" altLang="zh-CN" sz="1700">
                          <a:solidFill>
                            <a:srgbClr val="000000"/>
                          </a:solidFill>
                          <a:latin typeface="Arial" panose="020B0604020202090204" pitchFamily="34" charset="0"/>
                          <a:ea typeface="华文新魏" panose="02010800040101010101" charset="-122"/>
                        </a:rPr>
                        <a:t>1</a:t>
                      </a:r>
                      <a:r>
                        <a:rPr lang="zh-CN" altLang="en-US" sz="1700">
                          <a:solidFill>
                            <a:srgbClr val="000000"/>
                          </a:solidFill>
                          <a:latin typeface="Arial" panose="020B0604020202090204" pitchFamily="34" charset="0"/>
                          <a:ea typeface="华文新魏" panose="02010800040101010101" charset="-122"/>
                        </a:rPr>
                        <a:t>”</a:t>
                      </a:r>
                      <a:r>
                        <a:rPr lang="zh-CN" altLang="zh-CN" sz="1700">
                          <a:solidFill>
                            <a:srgbClr val="000000"/>
                          </a:solidFill>
                          <a:latin typeface="Arial" panose="020B0604020202090204" pitchFamily="34" charset="0"/>
                          <a:ea typeface="华文新魏" panose="02010800040101010101" charset="-122"/>
                        </a:rPr>
                        <a:t> 最后一个目录项</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0xC</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1</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系统保留</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r>
              <a:tr h="79375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5</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保留未用</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0xD</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1</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校验值</a:t>
                      </a:r>
                      <a:r>
                        <a:rPr lang="en-US" altLang="zh-CN" sz="1700">
                          <a:solidFill>
                            <a:srgbClr val="000000"/>
                          </a:solidFill>
                          <a:latin typeface="Arial" panose="020B0604020202090204" pitchFamily="34" charset="0"/>
                          <a:ea typeface="华文新魏" panose="02010800040101010101" charset="-122"/>
                        </a:rPr>
                        <a:t>(</a:t>
                      </a:r>
                      <a:r>
                        <a:rPr lang="zh-CN" altLang="zh-CN" sz="1700">
                          <a:solidFill>
                            <a:srgbClr val="000000"/>
                          </a:solidFill>
                          <a:latin typeface="Arial" panose="020B0604020202090204" pitchFamily="34" charset="0"/>
                          <a:ea typeface="华文新魏" panose="02010800040101010101" charset="-122"/>
                        </a:rPr>
                        <a:t>根据短文件名计算得出</a:t>
                      </a:r>
                      <a:r>
                        <a:rPr lang="en-US" altLang="zh-CN" sz="1700">
                          <a:solidFill>
                            <a:srgbClr val="000000"/>
                          </a:solidFill>
                          <a:latin typeface="Arial" panose="020B0604020202090204" pitchFamily="34" charset="0"/>
                          <a:ea typeface="华文新魏" panose="02010800040101010101" charset="-122"/>
                        </a:rPr>
                        <a:t>)</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r>
              <a:tr h="404813">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4</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rowSpan="5">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顺序号数值</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0xE~0x19</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12</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长文件名</a:t>
                      </a:r>
                      <a:r>
                        <a:rPr lang="en-US" altLang="zh-CN" sz="1700">
                          <a:solidFill>
                            <a:srgbClr val="000000"/>
                          </a:solidFill>
                          <a:latin typeface="Arial" panose="020B0604020202090204" pitchFamily="34" charset="0"/>
                          <a:ea typeface="华文新魏" panose="02010800040101010101" charset="-122"/>
                        </a:rPr>
                        <a:t>unicode</a:t>
                      </a:r>
                      <a:r>
                        <a:rPr lang="zh-CN" altLang="zh-CN" sz="1700">
                          <a:solidFill>
                            <a:srgbClr val="000000"/>
                          </a:solidFill>
                          <a:latin typeface="Arial" panose="020B0604020202090204" pitchFamily="34" charset="0"/>
                          <a:ea typeface="华文新魏" panose="02010800040101010101" charset="-122"/>
                        </a:rPr>
                        <a:t>码</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r>
              <a:tr h="404812">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3</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0x1A~0x1B </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2</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文件起始簇号</a:t>
                      </a:r>
                      <a:r>
                        <a:rPr lang="en-US" altLang="zh-CN" sz="1700">
                          <a:solidFill>
                            <a:srgbClr val="000000"/>
                          </a:solidFill>
                          <a:latin typeface="Arial" panose="020B0604020202090204" pitchFamily="34" charset="0"/>
                          <a:ea typeface="华文新魏" panose="02010800040101010101" charset="-122"/>
                        </a:rPr>
                        <a:t>(</a:t>
                      </a:r>
                      <a:r>
                        <a:rPr lang="zh-CN" altLang="zh-CN" sz="1700">
                          <a:solidFill>
                            <a:srgbClr val="000000"/>
                          </a:solidFill>
                          <a:latin typeface="Arial" panose="020B0604020202090204" pitchFamily="34" charset="0"/>
                          <a:ea typeface="华文新魏" panose="02010800040101010101" charset="-122"/>
                        </a:rPr>
                        <a:t>常置</a:t>
                      </a:r>
                      <a:r>
                        <a:rPr lang="en-US" altLang="zh-CN" sz="1700">
                          <a:solidFill>
                            <a:srgbClr val="000000"/>
                          </a:solidFill>
                          <a:latin typeface="Arial" panose="020B0604020202090204" pitchFamily="34" charset="0"/>
                          <a:ea typeface="华文新魏" panose="02010800040101010101" charset="-122"/>
                        </a:rPr>
                        <a:t>0) </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r>
              <a:tr h="404813">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2</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0x1C~0x1F</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4</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长文件名</a:t>
                      </a:r>
                      <a:r>
                        <a:rPr lang="en-US" altLang="zh-CN" sz="1700">
                          <a:solidFill>
                            <a:srgbClr val="000000"/>
                          </a:solidFill>
                          <a:latin typeface="Arial" panose="020B0604020202090204" pitchFamily="34" charset="0"/>
                          <a:ea typeface="华文新魏" panose="02010800040101010101" charset="-122"/>
                        </a:rPr>
                        <a:t>unicode</a:t>
                      </a:r>
                      <a:r>
                        <a:rPr lang="zh-CN" altLang="zh-CN" sz="1700">
                          <a:solidFill>
                            <a:srgbClr val="000000"/>
                          </a:solidFill>
                          <a:latin typeface="Arial" panose="020B0604020202090204" pitchFamily="34" charset="0"/>
                          <a:ea typeface="华文新魏" panose="02010800040101010101" charset="-122"/>
                        </a:rPr>
                        <a:t>码</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r>
              <a:tr h="79375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1</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rowSpan="3" gridSpan="3">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endParaRPr lang="zh-CN" altLang="zh-CN" sz="1700">
                        <a:solidFill>
                          <a:srgbClr val="000000"/>
                        </a:solidFill>
                        <a:latin typeface="Arial" panose="020B0604020202090204" pitchFamily="34" charset="0"/>
                        <a:ea typeface="华文新魏" panose="02010800040101010101" charset="-122"/>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rowSpan="3" hMerge="1">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rowSpan="3" hMerge="1">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r>
              <a:tr h="404812">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gridSpan="3">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vMerge="1" hMerge="1">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vMerge="1" hMerge="1">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r>
              <a:tr h="40481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0x1~0xA</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en-US" altLang="zh-CN" sz="1700">
                          <a:solidFill>
                            <a:srgbClr val="000000"/>
                          </a:solidFill>
                          <a:latin typeface="Arial" panose="020B0604020202090204" pitchFamily="34" charset="0"/>
                          <a:ea typeface="华文新魏" panose="02010800040101010101" charset="-122"/>
                        </a:rPr>
                        <a:t>10</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gridSpan="3">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ctr" eaLnBrk="1" latinLnBrk="1" hangingPunct="1">
                        <a:lnSpc>
                          <a:spcPct val="150000"/>
                        </a:lnSpc>
                        <a:buNone/>
                      </a:pPr>
                      <a:r>
                        <a:rPr lang="zh-CN" altLang="zh-CN" sz="1700">
                          <a:solidFill>
                            <a:srgbClr val="000000"/>
                          </a:solidFill>
                          <a:latin typeface="Arial" panose="020B0604020202090204" pitchFamily="34" charset="0"/>
                          <a:ea typeface="华文新魏" panose="02010800040101010101" charset="-122"/>
                        </a:rPr>
                        <a:t>长文件名</a:t>
                      </a:r>
                      <a:r>
                        <a:rPr lang="en-US" altLang="zh-CN" sz="1700">
                          <a:solidFill>
                            <a:srgbClr val="000000"/>
                          </a:solidFill>
                          <a:latin typeface="Arial" panose="020B0604020202090204" pitchFamily="34" charset="0"/>
                          <a:ea typeface="华文新魏" panose="02010800040101010101" charset="-122"/>
                        </a:rPr>
                        <a:t>unicode</a:t>
                      </a:r>
                      <a:r>
                        <a:rPr lang="zh-CN" altLang="zh-CN" sz="1700">
                          <a:solidFill>
                            <a:srgbClr val="000000"/>
                          </a:solidFill>
                          <a:latin typeface="Arial" panose="020B0604020202090204" pitchFamily="34" charset="0"/>
                          <a:ea typeface="华文新魏" panose="02010800040101010101" charset="-122"/>
                        </a:rPr>
                        <a:t>码</a:t>
                      </a:r>
                      <a:endParaRPr lang="zh-CN" altLang="zh-CN" sz="1700">
                        <a:solidFill>
                          <a:srgbClr val="000000"/>
                        </a:solidFill>
                        <a:latin typeface="Times New Roman" panose="02020603050405020304" charset="0"/>
                      </a:endParaRPr>
                    </a:p>
                  </a:txBody>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vMerge="1" gridSpan="3">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vMerge="1" hMerge="1">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c vMerge="1" hMerge="1">
                  <a:tcPr marL="7795" marR="7795" marT="7795" marB="779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6EFE7"/>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标题 1"/>
          <p:cNvSpPr>
            <a:spLocks noGrp="1"/>
          </p:cNvSpPr>
          <p:nvPr>
            <p:ph type="title"/>
          </p:nvPr>
        </p:nvSpPr>
        <p:spPr/>
        <p:txBody>
          <a:bodyPr vert="horz" wrap="square" lIns="91440" tIns="45720" rIns="91440" bIns="45720" anchor="t" anchorCtr="0"/>
          <a:p>
            <a:r>
              <a:rPr lang="en-US" altLang="zh-CN"/>
              <a:t>LongnameTestAndSmallSize</a:t>
            </a:r>
            <a:endParaRPr lang="zh-CN" altLang="en-US"/>
          </a:p>
        </p:txBody>
      </p:sp>
      <p:sp>
        <p:nvSpPr>
          <p:cNvPr id="86018" name="内容占位符 2"/>
          <p:cNvSpPr>
            <a:spLocks noGrp="1"/>
          </p:cNvSpPr>
          <p:nvPr>
            <p:ph idx="1"/>
          </p:nvPr>
        </p:nvSpPr>
        <p:spPr>
          <a:xfrm>
            <a:off x="457200" y="1600200"/>
            <a:ext cx="8229600" cy="1181100"/>
          </a:xfrm>
        </p:spPr>
        <p:txBody>
          <a:bodyPr vert="horz" wrap="square" lIns="91440" tIns="45720" rIns="91440" bIns="45720" anchor="t" anchorCtr="0"/>
          <a:p>
            <a:pPr marL="0" indent="0">
              <a:buNone/>
            </a:pPr>
            <a:r>
              <a:rPr lang="zh-CN" altLang="en-US"/>
              <a:t>文件名：</a:t>
            </a:r>
            <a:r>
              <a:rPr lang="en-US" altLang="zh-CN"/>
              <a:t>LongnameTestAndSmallSize.txt</a:t>
            </a:r>
            <a:endParaRPr lang="en-US" altLang="zh-CN"/>
          </a:p>
          <a:p>
            <a:pPr marL="0" indent="0">
              <a:buNone/>
            </a:pPr>
            <a:r>
              <a:rPr lang="zh-CN" altLang="en-US"/>
              <a:t>大小：</a:t>
            </a:r>
            <a:r>
              <a:rPr lang="en-US" altLang="zh-CN"/>
              <a:t>0x11</a:t>
            </a:r>
            <a:r>
              <a:rPr lang="zh-CN" altLang="en-US"/>
              <a:t>字节</a:t>
            </a:r>
            <a:endParaRPr lang="en-US" altLang="zh-CN"/>
          </a:p>
          <a:p>
            <a:pPr marL="0" indent="0">
              <a:buNone/>
            </a:pPr>
            <a:endParaRPr lang="en-US" altLang="zh-CN"/>
          </a:p>
          <a:p>
            <a:pPr marL="0" indent="0">
              <a:buNone/>
            </a:pPr>
            <a:endParaRPr lang="zh-CN" altLang="en-US"/>
          </a:p>
        </p:txBody>
      </p:sp>
      <p:pic>
        <p:nvPicPr>
          <p:cNvPr id="86019" name="内容占位符 3"/>
          <p:cNvPicPr>
            <a:picLocks noChangeAspect="1"/>
          </p:cNvPicPr>
          <p:nvPr/>
        </p:nvPicPr>
        <p:blipFill>
          <a:blip r:embed="rId1"/>
          <a:stretch>
            <a:fillRect/>
          </a:stretch>
        </p:blipFill>
        <p:spPr>
          <a:xfrm>
            <a:off x="457200" y="2794000"/>
            <a:ext cx="8229600" cy="1333500"/>
          </a:xfrm>
          <a:prstGeom prst="rect">
            <a:avLst/>
          </a:prstGeom>
          <a:noFill/>
          <a:ln w="9525">
            <a:noFill/>
          </a:ln>
        </p:spPr>
      </p:pic>
      <p:pic>
        <p:nvPicPr>
          <p:cNvPr id="86020" name="图片 4"/>
          <p:cNvPicPr>
            <a:picLocks noChangeAspect="1"/>
          </p:cNvPicPr>
          <p:nvPr/>
        </p:nvPicPr>
        <p:blipFill>
          <a:blip r:embed="rId2"/>
          <a:stretch>
            <a:fillRect/>
          </a:stretch>
        </p:blipFill>
        <p:spPr>
          <a:xfrm>
            <a:off x="142875" y="4395788"/>
            <a:ext cx="8858250" cy="938212"/>
          </a:xfrm>
          <a:prstGeom prst="rect">
            <a:avLst/>
          </a:prstGeom>
          <a:noFill/>
          <a:ln w="9525">
            <a:noFill/>
          </a:ln>
        </p:spPr>
      </p:pic>
      <p:pic>
        <p:nvPicPr>
          <p:cNvPr id="86021" name="图片 5"/>
          <p:cNvPicPr>
            <a:picLocks noChangeAspect="1"/>
          </p:cNvPicPr>
          <p:nvPr/>
        </p:nvPicPr>
        <p:blipFill>
          <a:blip r:embed="rId3"/>
          <a:stretch>
            <a:fillRect/>
          </a:stretch>
        </p:blipFill>
        <p:spPr>
          <a:xfrm>
            <a:off x="142875" y="5627688"/>
            <a:ext cx="8858250" cy="876300"/>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Rectangle 2"/>
          <p:cNvSpPr>
            <a:spLocks noGrp="1"/>
          </p:cNvSpPr>
          <p:nvPr>
            <p:ph type="title"/>
          </p:nvPr>
        </p:nvSpPr>
        <p:spPr/>
        <p:txBody>
          <a:bodyPr vert="horz" wrap="square" lIns="91440" tIns="45720" rIns="91440" bIns="45720" anchor="t" anchorCtr="0"/>
          <a:p>
            <a:pPr eaLnBrk="1" hangingPunct="1"/>
            <a:r>
              <a:rPr lang="zh-CN" altLang="zh-CN"/>
              <a:t>NTFS</a:t>
            </a:r>
            <a:r>
              <a:rPr lang="zh-CN" altLang="en-US"/>
              <a:t>文件系统</a:t>
            </a:r>
            <a:endParaRPr lang="zh-CN" altLang="en-US"/>
          </a:p>
        </p:txBody>
      </p:sp>
      <p:sp>
        <p:nvSpPr>
          <p:cNvPr id="87042" name="Rectangle 3"/>
          <p:cNvSpPr>
            <a:spLocks noGrp="1"/>
          </p:cNvSpPr>
          <p:nvPr>
            <p:ph idx="1"/>
          </p:nvPr>
        </p:nvSpPr>
        <p:spPr/>
        <p:txBody>
          <a:bodyPr vert="horz" wrap="square" lIns="91440" tIns="45720" rIns="91440" bIns="45720" anchor="t" anchorCtr="0"/>
          <a:p>
            <a:pPr eaLnBrk="1" hangingPunct="1"/>
            <a:r>
              <a:rPr lang="zh-CN" altLang="en-US"/>
              <a:t>简介</a:t>
            </a:r>
            <a:endParaRPr lang="en-US" altLang="zh-CN"/>
          </a:p>
          <a:p>
            <a:pPr lvl="1" indent="-325120" eaLnBrk="1" hangingPunct="1"/>
            <a:r>
              <a:rPr lang="en-US" altLang="zh-CN"/>
              <a:t>NTFS的安全性很高，提供许多安全性能方面的选项，可以在本机也可以通过远程的方法保护文件、目录。NTFS还支持加密文件系统（EFS），可以阻止没有授权的用户访问文件。</a:t>
            </a:r>
            <a:endParaRPr lang="en-US" altLang="zh-CN"/>
          </a:p>
          <a:p>
            <a:pPr lvl="1" indent="-325120" eaLnBrk="1" hangingPunct="1"/>
            <a:r>
              <a:rPr lang="zh-CN" altLang="zh-CN"/>
              <a:t>NTFS文件系统数据存储的可靠性很强，比较适合做服务器的文件系统，因为其提供了基于原子事务（Atomic Transaction）概念的文件系统可恢复性。</a:t>
            </a:r>
            <a:endParaRPr lang="zh-CN" altLang="zh-CN"/>
          </a:p>
          <a:p>
            <a:pPr lvl="1" indent="-325120" eaLnBrk="1" hangingPunct="1"/>
            <a:endParaRPr lang="zh-CN" altLang="zh-C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Rectangle 2"/>
          <p:cNvSpPr>
            <a:spLocks noGrp="1"/>
          </p:cNvSpPr>
          <p:nvPr>
            <p:ph type="title"/>
          </p:nvPr>
        </p:nvSpPr>
        <p:spPr/>
        <p:txBody>
          <a:bodyPr vert="horz" wrap="square" lIns="91440" tIns="45720" rIns="91440" bIns="45720" anchor="t" anchorCtr="0"/>
          <a:p>
            <a:pPr eaLnBrk="1" hangingPunct="1"/>
            <a:r>
              <a:rPr lang="zh-CN" altLang="zh-CN"/>
              <a:t>NTFS</a:t>
            </a:r>
            <a:r>
              <a:rPr lang="zh-CN" altLang="en-US"/>
              <a:t>文件系统</a:t>
            </a:r>
            <a:endParaRPr lang="zh-CN" altLang="en-US"/>
          </a:p>
        </p:txBody>
      </p:sp>
      <p:sp>
        <p:nvSpPr>
          <p:cNvPr id="88066" name="Rectangle 3"/>
          <p:cNvSpPr>
            <a:spLocks noGrp="1"/>
          </p:cNvSpPr>
          <p:nvPr>
            <p:ph idx="1"/>
          </p:nvPr>
        </p:nvSpPr>
        <p:spPr/>
        <p:txBody>
          <a:bodyPr vert="horz" wrap="square" lIns="91440" tIns="45720" rIns="91440" bIns="45720" anchor="t" anchorCtr="0"/>
          <a:p>
            <a:pPr defTabSz="914400" eaLnBrk="1" latinLnBrk="0" hangingPunct="1">
              <a:lnSpc>
                <a:spcPct val="100000"/>
              </a:lnSpc>
            </a:pPr>
            <a:r>
              <a:rPr lang="zh-CN" altLang="en-US" baseline="0"/>
              <a:t>简介</a:t>
            </a:r>
            <a:endParaRPr lang="zh-CN" altLang="en-US" baseline="0"/>
          </a:p>
          <a:p>
            <a:pPr lvl="1" indent="-325120" defTabSz="914400" eaLnBrk="1" latinLnBrk="0" hangingPunct="1">
              <a:lnSpc>
                <a:spcPct val="100000"/>
              </a:lnSpc>
            </a:pPr>
            <a:r>
              <a:rPr lang="zh-CN" altLang="en-US" baseline="0"/>
              <a:t>将文件系统所需的全部数据，如记录卷的分配状态位图、文件、目录和系统引导程序等数据，像一般的文件一样储存在硬盘上。这些系统文件称为元文件</a:t>
            </a:r>
            <a:r>
              <a:rPr lang="zh-CN" altLang="zh-CN" baseline="0"/>
              <a:t>(metafile)</a:t>
            </a:r>
            <a:r>
              <a:rPr lang="zh-CN" altLang="en-US" baseline="0"/>
              <a:t>，这些数据则称为元数据</a:t>
            </a:r>
            <a:r>
              <a:rPr lang="zh-CN" altLang="zh-CN" baseline="0"/>
              <a:t>(metadata) </a:t>
            </a:r>
            <a:endParaRPr lang="zh-CN" altLang="zh-CN" baseline="0"/>
          </a:p>
          <a:p>
            <a:pPr lvl="1" indent="-325120" defTabSz="914400" eaLnBrk="1" latinLnBrk="0" hangingPunct="1">
              <a:lnSpc>
                <a:spcPct val="100000"/>
              </a:lnSpc>
            </a:pPr>
            <a:r>
              <a:rPr lang="zh-CN" altLang="en-US" baseline="0"/>
              <a:t>由于元文件的重要性，所以</a:t>
            </a:r>
            <a:r>
              <a:rPr lang="zh-CN" altLang="zh-CN" baseline="0"/>
              <a:t>NTFS</a:t>
            </a:r>
            <a:r>
              <a:rPr lang="zh-CN" altLang="en-US" baseline="0"/>
              <a:t>系统在该卷文件存储部分的正中央对它们进行了备份。</a:t>
            </a:r>
            <a:endParaRPr lang="zh-CN" altLang="en-US" baseline="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Rectangle 2"/>
          <p:cNvSpPr>
            <a:spLocks noGrp="1"/>
          </p:cNvSpPr>
          <p:nvPr>
            <p:ph type="title"/>
          </p:nvPr>
        </p:nvSpPr>
        <p:spPr/>
        <p:txBody>
          <a:bodyPr vert="horz" wrap="square" lIns="91440" tIns="45720" rIns="91440" bIns="45720" anchor="t" anchorCtr="0"/>
          <a:p>
            <a:pPr eaLnBrk="1" hangingPunct="1"/>
            <a:r>
              <a:rPr lang="zh-CN" altLang="zh-CN"/>
              <a:t>NTFS</a:t>
            </a:r>
            <a:r>
              <a:rPr lang="zh-CN" altLang="en-US"/>
              <a:t>文件系统</a:t>
            </a:r>
            <a:endParaRPr lang="zh-CN" altLang="en-US"/>
          </a:p>
        </p:txBody>
      </p:sp>
      <p:pic>
        <p:nvPicPr>
          <p:cNvPr id="89090" name="Picture 3"/>
          <p:cNvPicPr>
            <a:picLocks noChangeAspect="1"/>
          </p:cNvPicPr>
          <p:nvPr/>
        </p:nvPicPr>
        <p:blipFill>
          <a:blip r:embed="rId1"/>
          <a:stretch>
            <a:fillRect/>
          </a:stretch>
        </p:blipFill>
        <p:spPr>
          <a:xfrm>
            <a:off x="1908175" y="1700213"/>
            <a:ext cx="5432425" cy="4176712"/>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zh-CN">
                <a:sym typeface="+mn-ea"/>
              </a:rPr>
              <a:t>NTFS</a:t>
            </a:r>
            <a:r>
              <a:rPr lang="zh-CN" altLang="en-US">
                <a:sym typeface="+mn-ea"/>
              </a:rPr>
              <a:t>文件系统</a:t>
            </a:r>
            <a:endParaRPr lang="zh-CN" altLang="en-US"/>
          </a:p>
        </p:txBody>
      </p:sp>
      <p:graphicFrame>
        <p:nvGraphicFramePr>
          <p:cNvPr id="5" name="表格 4"/>
          <p:cNvGraphicFramePr/>
          <p:nvPr>
            <p:custDataLst>
              <p:tags r:id="rId1"/>
            </p:custDataLst>
          </p:nvPr>
        </p:nvGraphicFramePr>
        <p:xfrm>
          <a:off x="394970" y="1484630"/>
          <a:ext cx="8331200" cy="4674870"/>
        </p:xfrm>
        <a:graphic>
          <a:graphicData uri="http://schemas.openxmlformats.org/drawingml/2006/table">
            <a:tbl>
              <a:tblPr/>
              <a:tblGrid>
                <a:gridCol w="2750820"/>
                <a:gridCol w="5580380"/>
              </a:tblGrid>
              <a:tr h="259715">
                <a:tc>
                  <a:txBody>
                    <a:bodyPr/>
                    <a:p>
                      <a:pPr indent="0">
                        <a:buNone/>
                      </a:pPr>
                      <a:r>
                        <a:rPr lang="en-US" sz="1600" b="0">
                          <a:solidFill>
                            <a:srgbClr val="3D464D"/>
                          </a:solidFill>
                          <a:latin typeface="宋体" charset="0"/>
                          <a:ea typeface="宋体" charset="0"/>
                          <a:cs typeface="Arial" panose="020B0604020202090204" pitchFamily="34" charset="0"/>
                        </a:rPr>
                        <a:t>元文件</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rgbClr val="3D464D"/>
                          </a:solidFill>
                          <a:latin typeface="宋体" charset="0"/>
                          <a:ea typeface="宋体" charset="0"/>
                          <a:cs typeface="Arial" panose="020B0604020202090204" pitchFamily="34" charset="0"/>
                        </a:rPr>
                        <a:t>功能</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buNone/>
                      </a:pPr>
                      <a:r>
                        <a:rPr lang="en-US" sz="1600" b="0">
                          <a:solidFill>
                            <a:srgbClr val="3D464D"/>
                          </a:solidFill>
                          <a:latin typeface="宋体" charset="0"/>
                          <a:ea typeface="宋体" charset="0"/>
                          <a:cs typeface="Arial" panose="020B0604020202090204" pitchFamily="34" charset="0"/>
                        </a:rPr>
                        <a:t>$MFT</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rgbClr val="3D464D"/>
                          </a:solidFill>
                          <a:latin typeface="宋体" charset="0"/>
                          <a:ea typeface="宋体" charset="0"/>
                          <a:cs typeface="Arial" panose="020B0604020202090204" pitchFamily="34" charset="0"/>
                        </a:rPr>
                        <a:t>主文件表本身，是每个文件的索引</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buNone/>
                      </a:pPr>
                      <a:r>
                        <a:rPr lang="en-US" sz="1600" b="0">
                          <a:solidFill>
                            <a:srgbClr val="3D464D"/>
                          </a:solidFill>
                          <a:latin typeface="宋体" charset="0"/>
                          <a:ea typeface="宋体" charset="0"/>
                          <a:cs typeface="Arial" panose="020B0604020202090204" pitchFamily="34" charset="0"/>
                        </a:rPr>
                        <a:t>$MFTMirr</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rgbClr val="3D464D"/>
                          </a:solidFill>
                          <a:latin typeface="宋体" charset="0"/>
                          <a:ea typeface="宋体" charset="0"/>
                          <a:cs typeface="Arial" panose="020B0604020202090204" pitchFamily="34" charset="0"/>
                        </a:rPr>
                        <a:t>主文件表的部分镜像</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buNone/>
                      </a:pPr>
                      <a:r>
                        <a:rPr lang="en-US" sz="1600" b="0">
                          <a:solidFill>
                            <a:srgbClr val="3D464D"/>
                          </a:solidFill>
                          <a:latin typeface="宋体" charset="0"/>
                          <a:ea typeface="宋体" charset="0"/>
                          <a:cs typeface="Arial" panose="020B0604020202090204" pitchFamily="34" charset="0"/>
                        </a:rPr>
                        <a:t>$LogFile</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rgbClr val="3D464D"/>
                          </a:solidFill>
                          <a:latin typeface="宋体" charset="0"/>
                          <a:ea typeface="宋体" charset="0"/>
                          <a:cs typeface="Arial" panose="020B0604020202090204" pitchFamily="34" charset="0"/>
                        </a:rPr>
                        <a:t>事务型日志文件</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buNone/>
                      </a:pPr>
                      <a:r>
                        <a:rPr lang="en-US" sz="1600" b="0">
                          <a:solidFill>
                            <a:srgbClr val="3D464D"/>
                          </a:solidFill>
                          <a:latin typeface="宋体" charset="0"/>
                          <a:ea typeface="宋体" charset="0"/>
                          <a:cs typeface="Arial" panose="020B0604020202090204" pitchFamily="34" charset="0"/>
                        </a:rPr>
                        <a:t>$Volume</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rgbClr val="3D464D"/>
                          </a:solidFill>
                          <a:latin typeface="宋体" charset="0"/>
                          <a:ea typeface="宋体" charset="0"/>
                          <a:cs typeface="Arial" panose="020B0604020202090204" pitchFamily="34" charset="0"/>
                        </a:rPr>
                        <a:t>卷文件，记录卷标等信息</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buNone/>
                      </a:pPr>
                      <a:r>
                        <a:rPr lang="en-US" sz="1600" b="0">
                          <a:solidFill>
                            <a:srgbClr val="3D464D"/>
                          </a:solidFill>
                          <a:latin typeface="宋体" charset="0"/>
                          <a:ea typeface="宋体" charset="0"/>
                          <a:cs typeface="Arial" panose="020B0604020202090204" pitchFamily="34" charset="0"/>
                        </a:rPr>
                        <a:t>$AttrDef</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rgbClr val="3D464D"/>
                          </a:solidFill>
                          <a:latin typeface="宋体" charset="0"/>
                          <a:ea typeface="宋体" charset="0"/>
                          <a:cs typeface="Arial" panose="020B0604020202090204" pitchFamily="34" charset="0"/>
                        </a:rPr>
                        <a:t>属性定义列表文件</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buNone/>
                      </a:pPr>
                      <a:r>
                        <a:rPr lang="en-US" sz="1600" b="0">
                          <a:solidFill>
                            <a:srgbClr val="3D464D"/>
                          </a:solidFill>
                          <a:latin typeface="宋体" charset="0"/>
                          <a:ea typeface="宋体" charset="0"/>
                          <a:cs typeface="Arial" panose="020B0604020202090204" pitchFamily="34" charset="0"/>
                        </a:rPr>
                        <a:t>$Root</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rgbClr val="3D464D"/>
                          </a:solidFill>
                          <a:latin typeface="宋体" charset="0"/>
                          <a:ea typeface="宋体" charset="0"/>
                          <a:cs typeface="Arial" panose="020B0604020202090204" pitchFamily="34" charset="0"/>
                        </a:rPr>
                        <a:t>根目录文件，管理根目录</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buNone/>
                      </a:pPr>
                      <a:r>
                        <a:rPr lang="en-US" sz="1600" b="0">
                          <a:solidFill>
                            <a:srgbClr val="3D464D"/>
                          </a:solidFill>
                          <a:latin typeface="宋体" charset="0"/>
                          <a:ea typeface="宋体" charset="0"/>
                          <a:cs typeface="Arial" panose="020B0604020202090204" pitchFamily="34" charset="0"/>
                        </a:rPr>
                        <a:t>$Bitmap</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rgbClr val="3D464D"/>
                          </a:solidFill>
                          <a:latin typeface="宋体" charset="0"/>
                          <a:ea typeface="宋体" charset="0"/>
                          <a:cs typeface="Arial" panose="020B0604020202090204" pitchFamily="34" charset="0"/>
                        </a:rPr>
                        <a:t>位图文件，记录了分区中簇的使用情况</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buNone/>
                      </a:pPr>
                      <a:r>
                        <a:rPr lang="en-US" sz="1600" b="0">
                          <a:solidFill>
                            <a:srgbClr val="3D464D"/>
                          </a:solidFill>
                          <a:latin typeface="宋体" charset="0"/>
                          <a:ea typeface="宋体" charset="0"/>
                          <a:cs typeface="Arial" panose="020B0604020202090204" pitchFamily="34" charset="0"/>
                        </a:rPr>
                        <a:t>$Boot</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rgbClr val="3D464D"/>
                          </a:solidFill>
                          <a:latin typeface="宋体" charset="0"/>
                          <a:ea typeface="宋体" charset="0"/>
                          <a:cs typeface="Arial" panose="020B0604020202090204" pitchFamily="34" charset="0"/>
                        </a:rPr>
                        <a:t>引导文件，记录了用于系统引导的数据情况</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buNone/>
                      </a:pPr>
                      <a:r>
                        <a:rPr lang="en-US" sz="1600" b="0">
                          <a:solidFill>
                            <a:srgbClr val="3D464D"/>
                          </a:solidFill>
                          <a:latin typeface="宋体" charset="0"/>
                          <a:ea typeface="宋体" charset="0"/>
                          <a:cs typeface="Arial" panose="020B0604020202090204" pitchFamily="34" charset="0"/>
                        </a:rPr>
                        <a:t>$BadClus</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rgbClr val="3D464D"/>
                          </a:solidFill>
                          <a:latin typeface="宋体" charset="0"/>
                          <a:ea typeface="宋体" charset="0"/>
                          <a:cs typeface="Arial" panose="020B0604020202090204" pitchFamily="34" charset="0"/>
                        </a:rPr>
                        <a:t>坏簇列表文件</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buNone/>
                      </a:pPr>
                      <a:r>
                        <a:rPr lang="en-US" sz="1600" b="0">
                          <a:solidFill>
                            <a:srgbClr val="3D464D"/>
                          </a:solidFill>
                          <a:latin typeface="宋体" charset="0"/>
                          <a:ea typeface="宋体" charset="0"/>
                          <a:cs typeface="宋体" charset="0"/>
                        </a:rPr>
                        <a:t>$Quota（NTFS4）</a:t>
                      </a:r>
                      <a:endParaRPr lang="en-US" altLang="en-US" sz="16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rgbClr val="3D464D"/>
                          </a:solidFill>
                          <a:latin typeface="宋体" charset="0"/>
                          <a:ea typeface="宋体" charset="0"/>
                          <a:cs typeface="宋体" charset="0"/>
                        </a:rPr>
                        <a:t>在早期的Windows NT系统中此文件为磁盘配额信息</a:t>
                      </a:r>
                      <a:endParaRPr lang="en-US" altLang="en-US" sz="16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buNone/>
                      </a:pPr>
                      <a:r>
                        <a:rPr lang="en-US" sz="1600" b="0">
                          <a:solidFill>
                            <a:srgbClr val="3D464D"/>
                          </a:solidFill>
                          <a:latin typeface="宋体" charset="0"/>
                          <a:ea typeface="宋体" charset="0"/>
                          <a:cs typeface="Arial" panose="020B0604020202090204" pitchFamily="34" charset="0"/>
                        </a:rPr>
                        <a:t>$Secure</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rgbClr val="3D464D"/>
                          </a:solidFill>
                          <a:latin typeface="宋体" charset="0"/>
                          <a:ea typeface="宋体" charset="0"/>
                          <a:cs typeface="Arial" panose="020B0604020202090204" pitchFamily="34" charset="0"/>
                        </a:rPr>
                        <a:t>安全文件</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buNone/>
                      </a:pPr>
                      <a:r>
                        <a:rPr lang="en-US" sz="1600" b="0">
                          <a:solidFill>
                            <a:srgbClr val="3D464D"/>
                          </a:solidFill>
                          <a:latin typeface="宋体" charset="0"/>
                          <a:ea typeface="宋体" charset="0"/>
                          <a:cs typeface="Arial" panose="020B0604020202090204" pitchFamily="34" charset="0"/>
                        </a:rPr>
                        <a:t>$UpCase</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rgbClr val="3D464D"/>
                          </a:solidFill>
                          <a:latin typeface="宋体" charset="0"/>
                          <a:ea typeface="宋体" charset="0"/>
                          <a:cs typeface="Arial" panose="020B0604020202090204" pitchFamily="34" charset="0"/>
                        </a:rPr>
                        <a:t>大小写字符转换表文件</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buNone/>
                      </a:pPr>
                      <a:r>
                        <a:rPr lang="en-US" sz="1600" b="0">
                          <a:solidFill>
                            <a:srgbClr val="3D464D"/>
                          </a:solidFill>
                          <a:latin typeface="宋体" charset="0"/>
                          <a:ea typeface="宋体" charset="0"/>
                          <a:cs typeface="Arial" panose="020B0604020202090204" pitchFamily="34" charset="0"/>
                        </a:rPr>
                        <a:t>$Extend metadata directory</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rgbClr val="3D464D"/>
                          </a:solidFill>
                          <a:latin typeface="宋体" charset="0"/>
                          <a:ea typeface="宋体" charset="0"/>
                          <a:cs typeface="Arial" panose="020B0604020202090204" pitchFamily="34" charset="0"/>
                        </a:rPr>
                        <a:t>扩展元数据目录</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buNone/>
                      </a:pPr>
                      <a:r>
                        <a:rPr lang="en-US" sz="1600" b="0">
                          <a:solidFill>
                            <a:srgbClr val="3D464D"/>
                          </a:solidFill>
                          <a:latin typeface="宋体" charset="0"/>
                          <a:ea typeface="宋体" charset="0"/>
                          <a:cs typeface="Arial" panose="020B0604020202090204" pitchFamily="34" charset="0"/>
                        </a:rPr>
                        <a:t>$Extend\$Reparse</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rgbClr val="3D464D"/>
                          </a:solidFill>
                          <a:latin typeface="宋体" charset="0"/>
                          <a:ea typeface="宋体" charset="0"/>
                          <a:cs typeface="Arial" panose="020B0604020202090204" pitchFamily="34" charset="0"/>
                        </a:rPr>
                        <a:t>重解析点文件</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buNone/>
                      </a:pPr>
                      <a:r>
                        <a:rPr lang="en-US" sz="1600" b="0">
                          <a:solidFill>
                            <a:srgbClr val="3D464D"/>
                          </a:solidFill>
                          <a:latin typeface="宋体" charset="0"/>
                          <a:ea typeface="宋体" charset="0"/>
                          <a:cs typeface="Arial" panose="020B0604020202090204" pitchFamily="34" charset="0"/>
                        </a:rPr>
                        <a:t>$Extend\$UsnJrnl</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rgbClr val="3D464D"/>
                          </a:solidFill>
                          <a:latin typeface="宋体" charset="0"/>
                          <a:ea typeface="宋体" charset="0"/>
                          <a:cs typeface="Arial" panose="020B0604020202090204" pitchFamily="34" charset="0"/>
                        </a:rPr>
                        <a:t>加密日志文件</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buNone/>
                      </a:pPr>
                      <a:r>
                        <a:rPr lang="en-US" sz="1600" b="0">
                          <a:solidFill>
                            <a:srgbClr val="3D464D"/>
                          </a:solidFill>
                          <a:latin typeface="宋体" charset="0"/>
                          <a:ea typeface="宋体" charset="0"/>
                          <a:cs typeface="Arial" panose="020B0604020202090204" pitchFamily="34" charset="0"/>
                        </a:rPr>
                        <a:t>$Extend\$Quota</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rgbClr val="3D464D"/>
                          </a:solidFill>
                          <a:latin typeface="宋体" charset="0"/>
                          <a:ea typeface="宋体" charset="0"/>
                          <a:cs typeface="Arial" panose="020B0604020202090204" pitchFamily="34" charset="0"/>
                        </a:rPr>
                        <a:t>配额管理文件</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buNone/>
                      </a:pPr>
                      <a:r>
                        <a:rPr lang="en-US" sz="1600" b="0">
                          <a:solidFill>
                            <a:srgbClr val="3D464D"/>
                          </a:solidFill>
                          <a:latin typeface="宋体" charset="0"/>
                          <a:ea typeface="宋体" charset="0"/>
                          <a:cs typeface="Arial" panose="020B0604020202090204" pitchFamily="34" charset="0"/>
                        </a:rPr>
                        <a:t>$Extend\$ObjId</a:t>
                      </a:r>
                      <a:endParaRPr lang="en-US" altLang="en-US" sz="1600" b="0">
                        <a:solidFill>
                          <a:srgbClr val="3D464D"/>
                        </a:solidFill>
                        <a:latin typeface="宋体" charset="0"/>
                        <a:ea typeface="宋体"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rgbClr val="3D464D"/>
                          </a:solidFill>
                          <a:latin typeface="宋体" charset="0"/>
                          <a:ea typeface="宋体" charset="0"/>
                          <a:cs typeface="宋体" charset="0"/>
                        </a:rPr>
                        <a:t>对象ID文件</a:t>
                      </a:r>
                      <a:endParaRPr lang="en-US" altLang="en-US" sz="16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100" name="文本框 99"/>
          <p:cNvSpPr txBox="1"/>
          <p:nvPr/>
        </p:nvSpPr>
        <p:spPr>
          <a:xfrm>
            <a:off x="673100" y="5165090"/>
            <a:ext cx="5080000" cy="368300"/>
          </a:xfrm>
          <a:prstGeom prst="rect">
            <a:avLst/>
          </a:prstGeom>
          <a:noFill/>
          <a:ln w="9525">
            <a:noFill/>
          </a:ln>
        </p:spPr>
        <p:txBody>
          <a:bodyPr>
            <a:spAutoFit/>
          </a:bodyPr>
          <a:p>
            <a:pPr marL="0" indent="0" algn="l"/>
            <a:r>
              <a:rPr lang="en-US" sz="1800" b="0">
                <a:latin typeface="Calibri" charset="0"/>
                <a:cs typeface="宋体" charset="0"/>
              </a:rPr>
              <a:t> </a:t>
            </a:r>
            <a:endParaRPr lang="en-US" altLang="en-US" sz="1800" b="0">
              <a:latin typeface="Calibri" charset="0"/>
              <a:cs typeface="宋体"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标题 1"/>
          <p:cNvSpPr>
            <a:spLocks noGrp="1"/>
          </p:cNvSpPr>
          <p:nvPr>
            <p:ph type="title"/>
          </p:nvPr>
        </p:nvSpPr>
        <p:spPr/>
        <p:txBody>
          <a:bodyPr anchor="t" anchorCtr="0"/>
          <a:p>
            <a:r>
              <a:rPr lang="zh-CN" altLang="zh-CN"/>
              <a:t>NTFS</a:t>
            </a:r>
            <a:r>
              <a:rPr lang="zh-CN" altLang="en-US"/>
              <a:t>文件系统</a:t>
            </a:r>
            <a:br>
              <a:rPr lang="zh-CN" altLang="en-US"/>
            </a:br>
            <a:endParaRPr lang="zh-CN" altLang="en-US"/>
          </a:p>
        </p:txBody>
      </p:sp>
      <p:pic>
        <p:nvPicPr>
          <p:cNvPr id="90114" name="内容占位符 4"/>
          <p:cNvPicPr>
            <a:picLocks noGrp="1" noChangeAspect="1"/>
          </p:cNvPicPr>
          <p:nvPr>
            <p:ph idx="1"/>
          </p:nvPr>
        </p:nvPicPr>
        <p:blipFill>
          <a:blip r:embed="rId1"/>
          <a:stretch>
            <a:fillRect/>
          </a:stretch>
        </p:blipFill>
        <p:spPr>
          <a:xfrm>
            <a:off x="584200" y="1954213"/>
            <a:ext cx="8102600" cy="2757487"/>
          </a:xfr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标题 1"/>
          <p:cNvSpPr>
            <a:spLocks noGrp="1"/>
          </p:cNvSpPr>
          <p:nvPr>
            <p:ph type="title"/>
          </p:nvPr>
        </p:nvSpPr>
        <p:spPr/>
        <p:txBody>
          <a:bodyPr anchor="t" anchorCtr="0"/>
          <a:p>
            <a:r>
              <a:rPr lang="zh-CN" altLang="zh-CN"/>
              <a:t>NTFS引导扇区</a:t>
            </a:r>
            <a:endParaRPr lang="zh-CN" altLang="zh-CN"/>
          </a:p>
        </p:txBody>
      </p:sp>
      <p:sp>
        <p:nvSpPr>
          <p:cNvPr id="91138" name="内容占位符 2"/>
          <p:cNvSpPr>
            <a:spLocks noGrp="1"/>
          </p:cNvSpPr>
          <p:nvPr>
            <p:ph idx="1"/>
          </p:nvPr>
        </p:nvSpPr>
        <p:spPr/>
        <p:txBody>
          <a:bodyPr anchor="t" anchorCtr="0"/>
          <a:p>
            <a:r>
              <a:rPr lang="zh-CN" altLang="en-US" sz="2400"/>
              <a:t>NTFS的第一个扇区为引导扇区，即DBR扇区。其中有NTFS分区的引导程序和一些BPB参数，系统根据这些BPB参数来得到分区的重要信息。</a:t>
            </a:r>
            <a:endParaRPr lang="zh-CN" altLang="en-US" sz="2400"/>
          </a:p>
          <a:p>
            <a:r>
              <a:rPr lang="zh-CN" altLang="en-US" sz="2400"/>
              <a:t>NTFS文件系统的DBR扇区与FAT文件系统的结构一样，也包括跳转指令、OEM代号、BPB参数、引导程序和结束标志。</a:t>
            </a:r>
            <a:endParaRPr lang="zh-CN" altLang="en-US" sz="2400"/>
          </a:p>
          <a:p>
            <a:r>
              <a:rPr lang="zh-CN" altLang="en-US" sz="2400"/>
              <a:t>BPB描述了每扇区字节数、每簇扇区数、$MFT的起始簇号、文件记录的大小描述等信息。</a:t>
            </a:r>
            <a:endParaRPr lang="zh-CN" altLang="en-US" sz="2400"/>
          </a:p>
          <a:p>
            <a:r>
              <a:rPr lang="zh-CN" altLang="en-US" sz="2400"/>
              <a:t>NTFS的DBR引导程序占用426字节（54H～1FDH），其负责完成将系统文件NTLDR装入。</a:t>
            </a:r>
            <a:endParaRPr lang="zh-CN" altLang="en-US" sz="2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zh-CN">
                <a:sym typeface="+mn-ea"/>
              </a:rPr>
              <a:t>NTFS引导扇区</a:t>
            </a:r>
            <a:endParaRPr lang="zh-CN" altLang="en-US"/>
          </a:p>
        </p:txBody>
      </p:sp>
      <p:pic>
        <p:nvPicPr>
          <p:cNvPr id="4" name="内容占位符 3"/>
          <p:cNvPicPr>
            <a:picLocks noChangeAspect="1"/>
          </p:cNvPicPr>
          <p:nvPr>
            <p:ph idx="1"/>
          </p:nvPr>
        </p:nvPicPr>
        <p:blipFill>
          <a:blip r:embed="rId1"/>
          <a:stretch>
            <a:fillRect/>
          </a:stretch>
        </p:blipFill>
        <p:spPr>
          <a:xfrm>
            <a:off x="394970" y="1700530"/>
            <a:ext cx="8229600" cy="415798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标题 1"/>
          <p:cNvSpPr>
            <a:spLocks noGrp="1"/>
          </p:cNvSpPr>
          <p:nvPr>
            <p:ph type="title"/>
          </p:nvPr>
        </p:nvSpPr>
        <p:spPr/>
        <p:txBody>
          <a:bodyPr anchor="t" anchorCtr="0"/>
          <a:p>
            <a:r>
              <a:rPr lang="en-US" altLang="zh-CN"/>
              <a:t>MFT</a:t>
            </a:r>
            <a:br>
              <a:rPr lang="en-US" altLang="zh-CN"/>
            </a:br>
            <a:endParaRPr lang="zh-CN" altLang="en-US"/>
          </a:p>
        </p:txBody>
      </p:sp>
      <p:sp>
        <p:nvSpPr>
          <p:cNvPr id="92162" name="内容占位符 2"/>
          <p:cNvSpPr>
            <a:spLocks noGrp="1"/>
          </p:cNvSpPr>
          <p:nvPr>
            <p:ph idx="1"/>
          </p:nvPr>
        </p:nvSpPr>
        <p:spPr/>
        <p:txBody>
          <a:bodyPr anchor="t" anchorCtr="0"/>
          <a:p>
            <a:r>
              <a:rPr lang="zh-CN" altLang="en-US" sz="2800"/>
              <a:t>16个元文件中主文件表（$MFT）是一个非常重要的元文件，它由文件记录构成，每个文件记录占用2个扇区。</a:t>
            </a:r>
            <a:endParaRPr lang="zh-CN" altLang="en-US" sz="2800"/>
          </a:p>
          <a:p>
            <a:r>
              <a:rPr lang="zh-CN" altLang="en-US" sz="2800"/>
              <a:t>在$MFT中前16个文件记录总是元文件的纪录</a:t>
            </a:r>
            <a:endParaRPr lang="zh-CN" altLang="en-US" sz="2800"/>
          </a:p>
          <a:p>
            <a:r>
              <a:rPr lang="zh-CN" altLang="en-US" sz="2800"/>
              <a:t>系统通过$MFT来确定文件在磁盘上的位置以及文件的所有属性。</a:t>
            </a:r>
            <a:endParaRPr lang="zh-CN" altLang="en-US" sz="2800"/>
          </a:p>
          <a:p>
            <a:r>
              <a:rPr lang="zh-CN" altLang="en-US" sz="2800">
                <a:sym typeface="+mn-ea"/>
              </a:rPr>
              <a:t>NTFS文件系统分配给主文件表的区域大约占据了磁盘空间的12.5％，剩余的磁盘空间用来存放其他元文件和用户的文件。</a:t>
            </a:r>
            <a:endParaRPr lang="zh-CN" altLang="en-US" sz="28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Rectangle 2"/>
          <p:cNvSpPr>
            <a:spLocks noGrp="1"/>
          </p:cNvSpPr>
          <p:nvPr>
            <p:ph type="title"/>
          </p:nvPr>
        </p:nvSpPr>
        <p:spPr/>
        <p:txBody>
          <a:bodyPr vert="horz" wrap="square" lIns="91440" tIns="45720" rIns="91440" bIns="45720" anchor="t" anchorCtr="0"/>
          <a:p>
            <a:pPr eaLnBrk="1" hangingPunct="1"/>
            <a:r>
              <a:rPr lang="zh-CN" altLang="zh-CN"/>
              <a:t>MFT</a:t>
            </a:r>
            <a:endParaRPr lang="zh-CN" altLang="zh-CN"/>
          </a:p>
        </p:txBody>
      </p:sp>
      <p:sp>
        <p:nvSpPr>
          <p:cNvPr id="91138" name="Rectangle 3"/>
          <p:cNvSpPr>
            <a:spLocks noGrp="1"/>
          </p:cNvSpPr>
          <p:nvPr>
            <p:ph idx="1"/>
          </p:nvPr>
        </p:nvSpPr>
        <p:spPr>
          <a:xfrm>
            <a:off x="222250" y="1600200"/>
            <a:ext cx="2205038" cy="3759200"/>
          </a:xfrm>
        </p:spPr>
        <p:txBody>
          <a:bodyPr vert="horz" wrap="square" lIns="91440" tIns="45720" rIns="91440" bIns="45720" anchor="t"/>
          <a:p>
            <a:pPr marL="344805" marR="0" lvl="1"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pPr>
            <a:r>
              <a:rPr kumimoji="1" lang="zh-CN" altLang="zh-CN" sz="2400" b="0" i="0" u="none" strike="noStrike" kern="1200" cap="none" spc="0" normalizeH="0" baseline="0" noProof="1">
                <a:solidFill>
                  <a:schemeClr val="tx1"/>
                </a:solidFill>
                <a:latin typeface="+mn-lt"/>
                <a:ea typeface="+mn-ea"/>
                <a:cs typeface="华文新魏" panose="02010800040101010101" charset="-122"/>
              </a:rPr>
              <a:t>文件记录由文件记录头，属性列表：属性1	、属性2……，结束标志“FFFFFFFFH”组成。</a:t>
            </a:r>
            <a:endParaRPr kumimoji="1" lang="zh-CN" altLang="zh-CN" sz="2400" b="0" i="0" u="none" strike="noStrike" kern="1200" cap="none" spc="0" normalizeH="0" baseline="0" noProof="1">
              <a:solidFill>
                <a:schemeClr val="tx1"/>
              </a:solidFill>
              <a:latin typeface="+mn-lt"/>
              <a:ea typeface="+mn-ea"/>
              <a:cs typeface="华文新魏" panose="02010800040101010101" charset="-122"/>
            </a:endParaRPr>
          </a:p>
          <a:p>
            <a:pPr marL="669925" marR="0" lvl="1" indent="-32512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q"/>
            </a:pPr>
            <a:endParaRPr kumimoji="1" lang="zh-CN" altLang="en-US" sz="2400" b="0" i="0" u="none" strike="noStrike" kern="1200" cap="none" spc="0" normalizeH="0" baseline="0" noProof="1">
              <a:solidFill>
                <a:schemeClr val="tx1"/>
              </a:solidFill>
              <a:latin typeface="+mn-lt"/>
              <a:ea typeface="+mn-ea"/>
              <a:cs typeface="华文新魏" panose="02010800040101010101" charset="-122"/>
            </a:endParaRPr>
          </a:p>
        </p:txBody>
      </p:sp>
      <p:pic>
        <p:nvPicPr>
          <p:cNvPr id="93187" name="图片 1" descr="/private/var/folders/z1/_v6t_9s51kqckknxrtjc_wz00000gp/T/com.kingsoft.wpsoffice.mac/photoeditapp/20240312111449/temp.pngtemp"/>
          <p:cNvPicPr>
            <a:picLocks noChangeAspect="1"/>
          </p:cNvPicPr>
          <p:nvPr/>
        </p:nvPicPr>
        <p:blipFill>
          <a:blip r:embed="rId1"/>
          <a:stretch>
            <a:fillRect/>
          </a:stretch>
        </p:blipFill>
        <p:spPr>
          <a:xfrm>
            <a:off x="2555240" y="519113"/>
            <a:ext cx="6430963" cy="5819140"/>
          </a:xfrm>
          <a:prstGeom prst="rect">
            <a:avLst/>
          </a:prstGeom>
          <a:noFill/>
          <a:ln w="9525">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标题 1"/>
          <p:cNvSpPr>
            <a:spLocks noGrp="1"/>
          </p:cNvSpPr>
          <p:nvPr>
            <p:ph type="title"/>
          </p:nvPr>
        </p:nvSpPr>
        <p:spPr/>
        <p:txBody>
          <a:bodyPr anchor="t" anchorCtr="0"/>
          <a:p>
            <a:r>
              <a:rPr lang="en-US" altLang="zh-CN"/>
              <a:t>MFT</a:t>
            </a:r>
            <a:endParaRPr lang="en-US" altLang="zh-CN"/>
          </a:p>
        </p:txBody>
      </p:sp>
      <p:sp>
        <p:nvSpPr>
          <p:cNvPr id="94210" name="内容占位符 2"/>
          <p:cNvSpPr>
            <a:spLocks noGrp="1"/>
          </p:cNvSpPr>
          <p:nvPr>
            <p:ph idx="1"/>
          </p:nvPr>
        </p:nvSpPr>
        <p:spPr/>
        <p:txBody>
          <a:bodyPr anchor="t" anchorCtr="0"/>
          <a:p>
            <a:r>
              <a:rPr lang="zh-CN" altLang="en-US"/>
              <a:t>文件记录头</a:t>
            </a:r>
            <a:endParaRPr lang="zh-CN" altLang="en-US"/>
          </a:p>
          <a:p>
            <a:pPr lvl="1" indent="-325120"/>
            <a:r>
              <a:rPr lang="zh-CN" altLang="en-US"/>
              <a:t>在同一系统中，文件记录头的长度和具体偏移位置的数据含义是不变的，而属性列表是可变的，其不同的属性有着不同的含义。</a:t>
            </a:r>
            <a:endParaRPr lang="zh-CN" altLang="en-US"/>
          </a:p>
          <a:p>
            <a:pPr lvl="1" indent="-325120"/>
            <a:r>
              <a:rPr lang="zh-CN" altLang="en-US"/>
              <a:t>偏移00H～03H为MFT的标志字符串，它总为“FILE”。</a:t>
            </a:r>
            <a:endParaRPr lang="zh-CN" altLang="en-US"/>
          </a:p>
          <a:p>
            <a:pPr lvl="1" indent="-325120"/>
            <a:r>
              <a:rPr lang="zh-CN" altLang="en-US"/>
              <a:t>偏移14</a:t>
            </a:r>
            <a:r>
              <a:rPr lang="en-US" altLang="zh-CN"/>
              <a:t>H</a:t>
            </a:r>
            <a:r>
              <a:rPr lang="zh-CN" altLang="en-US"/>
              <a:t>第一个属性的偏移地址</a:t>
            </a:r>
            <a:endParaRPr lang="zh-CN" altLang="en-US"/>
          </a:p>
          <a:p>
            <a:pPr lvl="1" indent="-325120"/>
            <a:r>
              <a:rPr lang="zh-CN" altLang="en-US"/>
              <a:t>偏移18H～1BH处文件记录的实际长度也即文件记录在磁盘上实际占用的字节空间</a:t>
            </a:r>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文件记录</a:t>
            </a:r>
            <a:r>
              <a:rPr lang="zh-CN" altLang="en-US"/>
              <a:t>头</a:t>
            </a:r>
            <a:endParaRPr lang="zh-CN" altLang="en-US"/>
          </a:p>
        </p:txBody>
      </p:sp>
      <p:graphicFrame>
        <p:nvGraphicFramePr>
          <p:cNvPr id="5" name="表格 4"/>
          <p:cNvGraphicFramePr/>
          <p:nvPr>
            <p:custDataLst>
              <p:tags r:id="rId1"/>
            </p:custDataLst>
          </p:nvPr>
        </p:nvGraphicFramePr>
        <p:xfrm>
          <a:off x="323215" y="1484630"/>
          <a:ext cx="8122920" cy="4756150"/>
        </p:xfrm>
        <a:graphic>
          <a:graphicData uri="http://schemas.openxmlformats.org/drawingml/2006/table">
            <a:tbl>
              <a:tblPr/>
              <a:tblGrid>
                <a:gridCol w="1004570"/>
                <a:gridCol w="884555"/>
                <a:gridCol w="6233795"/>
              </a:tblGrid>
              <a:tr h="219710">
                <a:tc>
                  <a:txBody>
                    <a:bodyPr/>
                    <a:p>
                      <a:pPr indent="0">
                        <a:buNone/>
                      </a:pPr>
                      <a:r>
                        <a:rPr lang="en-US" sz="1500" b="0">
                          <a:latin typeface="宋体" charset="0"/>
                          <a:cs typeface="宋体" charset="0"/>
                        </a:rPr>
                        <a:t>字节偏移</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500" b="0">
                          <a:latin typeface="宋体" charset="0"/>
                          <a:cs typeface="宋体" charset="0"/>
                        </a:rPr>
                        <a:t>字段长度</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500" b="0">
                          <a:latin typeface="宋体" charset="0"/>
                          <a:cs typeface="宋体" charset="0"/>
                        </a:rPr>
                        <a:t>字段名和含义</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9710">
                <a:tc>
                  <a:txBody>
                    <a:bodyPr/>
                    <a:p>
                      <a:pPr indent="0" algn="ctr">
                        <a:buNone/>
                      </a:pPr>
                      <a:r>
                        <a:rPr lang="en-US" sz="1500" b="0">
                          <a:latin typeface="宋体" charset="0"/>
                          <a:cs typeface="宋体" charset="0"/>
                        </a:rPr>
                        <a:t>0x00</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500" b="0">
                          <a:latin typeface="宋体" charset="0"/>
                          <a:cs typeface="宋体" charset="0"/>
                        </a:rPr>
                        <a:t>4</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500" b="0">
                          <a:latin typeface="宋体" charset="0"/>
                          <a:cs typeface="宋体" charset="0"/>
                        </a:rPr>
                        <a:t>　MFT标志，一定为字符串“FILE”</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9710">
                <a:tc>
                  <a:txBody>
                    <a:bodyPr/>
                    <a:p>
                      <a:pPr indent="0" algn="ctr">
                        <a:buNone/>
                      </a:pPr>
                      <a:r>
                        <a:rPr lang="en-US" sz="1500" b="0">
                          <a:latin typeface="宋体" charset="0"/>
                          <a:cs typeface="宋体" charset="0"/>
                        </a:rPr>
                        <a:t>0x04</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500" b="0">
                          <a:latin typeface="宋体" charset="0"/>
                          <a:cs typeface="宋体" charset="0"/>
                        </a:rPr>
                        <a:t>2</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500" b="0">
                          <a:latin typeface="宋体" charset="0"/>
                          <a:cs typeface="宋体" charset="0"/>
                        </a:rPr>
                        <a:t>　更新序列号（Update Sequence Number）的偏移</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9710">
                <a:tc>
                  <a:txBody>
                    <a:bodyPr/>
                    <a:p>
                      <a:pPr indent="0" algn="ctr">
                        <a:buNone/>
                      </a:pPr>
                      <a:r>
                        <a:rPr lang="en-US" sz="1500" b="0">
                          <a:latin typeface="宋体" charset="0"/>
                          <a:cs typeface="宋体" charset="0"/>
                        </a:rPr>
                        <a:t>0x06</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500" b="0">
                          <a:latin typeface="宋体" charset="0"/>
                          <a:cs typeface="宋体" charset="0"/>
                        </a:rPr>
                        <a:t>2</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500" b="0">
                          <a:latin typeface="宋体" charset="0"/>
                          <a:cs typeface="宋体" charset="0"/>
                        </a:rPr>
                        <a:t>　更新序列号的大小与数组，包括第一个字节</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9710">
                <a:tc>
                  <a:txBody>
                    <a:bodyPr/>
                    <a:p>
                      <a:pPr indent="0" algn="ctr">
                        <a:buNone/>
                      </a:pPr>
                      <a:r>
                        <a:rPr lang="en-US" sz="1500" b="0">
                          <a:latin typeface="宋体" charset="0"/>
                          <a:cs typeface="宋体" charset="0"/>
                        </a:rPr>
                        <a:t>0x08</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500" b="0">
                          <a:latin typeface="宋体" charset="0"/>
                          <a:cs typeface="宋体" charset="0"/>
                        </a:rPr>
                        <a:t>8</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500" b="0">
                          <a:latin typeface="宋体" charset="0"/>
                          <a:cs typeface="宋体" charset="0"/>
                        </a:rPr>
                        <a:t>　日志文件序列号（$LogFile Sequence Number，LSN）</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9710">
                <a:tc>
                  <a:txBody>
                    <a:bodyPr/>
                    <a:p>
                      <a:pPr indent="0" algn="ctr">
                        <a:buNone/>
                      </a:pPr>
                      <a:r>
                        <a:rPr lang="en-US" sz="1500" b="0">
                          <a:latin typeface="宋体" charset="0"/>
                          <a:cs typeface="宋体" charset="0"/>
                        </a:rPr>
                        <a:t>0x10</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500" b="0">
                          <a:latin typeface="宋体" charset="0"/>
                          <a:cs typeface="宋体" charset="0"/>
                        </a:rPr>
                        <a:t>2</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500" b="0">
                          <a:latin typeface="宋体" charset="0"/>
                          <a:cs typeface="宋体" charset="0"/>
                        </a:rPr>
                        <a:t>　序列号（Sequence Number）</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9710">
                <a:tc>
                  <a:txBody>
                    <a:bodyPr/>
                    <a:p>
                      <a:pPr indent="0" algn="ctr">
                        <a:buNone/>
                      </a:pPr>
                      <a:r>
                        <a:rPr lang="en-US" sz="1500" b="0">
                          <a:latin typeface="宋体" charset="0"/>
                          <a:cs typeface="宋体" charset="0"/>
                        </a:rPr>
                        <a:t>0x12</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500" b="0">
                          <a:latin typeface="宋体" charset="0"/>
                          <a:cs typeface="宋体" charset="0"/>
                        </a:rPr>
                        <a:t>2</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500" b="0">
                          <a:latin typeface="宋体" charset="0"/>
                          <a:cs typeface="宋体" charset="0"/>
                        </a:rPr>
                        <a:t>　硬连接数（Hard Link Count），即有多少目录指向该文件</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9710">
                <a:tc>
                  <a:txBody>
                    <a:bodyPr/>
                    <a:p>
                      <a:pPr indent="0" algn="ctr">
                        <a:buNone/>
                      </a:pPr>
                      <a:r>
                        <a:rPr lang="en-US" sz="1500" b="0">
                          <a:latin typeface="宋体" charset="0"/>
                          <a:cs typeface="宋体" charset="0"/>
                        </a:rPr>
                        <a:t>0x14</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500" b="0">
                          <a:latin typeface="宋体" charset="0"/>
                          <a:cs typeface="宋体" charset="0"/>
                        </a:rPr>
                        <a:t>2</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500" b="0">
                          <a:latin typeface="宋体" charset="0"/>
                          <a:cs typeface="宋体" charset="0"/>
                        </a:rPr>
                        <a:t>　第一个属性的偏移地址</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39420">
                <a:tc>
                  <a:txBody>
                    <a:bodyPr/>
                    <a:p>
                      <a:pPr indent="0" algn="ctr">
                        <a:buNone/>
                      </a:pPr>
                      <a:r>
                        <a:rPr lang="en-US" sz="1500" b="0">
                          <a:latin typeface="宋体" charset="0"/>
                          <a:cs typeface="宋体" charset="0"/>
                        </a:rPr>
                        <a:t>0x16</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500" b="0">
                          <a:latin typeface="宋体" charset="0"/>
                          <a:cs typeface="宋体" charset="0"/>
                        </a:rPr>
                        <a:t>2</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500" b="0">
                          <a:latin typeface="宋体" charset="0"/>
                          <a:cs typeface="宋体" charset="0"/>
                        </a:rPr>
                        <a:t>　标志（Flag），00H表示文件被删除，01H表示文件正在使用，02H表示目录被删除，03H表示目录正在使用</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9710">
                <a:tc>
                  <a:txBody>
                    <a:bodyPr/>
                    <a:p>
                      <a:pPr indent="0" algn="ctr">
                        <a:buNone/>
                      </a:pPr>
                      <a:r>
                        <a:rPr lang="en-US" sz="1500" b="0">
                          <a:latin typeface="宋体" charset="0"/>
                          <a:cs typeface="宋体" charset="0"/>
                        </a:rPr>
                        <a:t>0x18</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500" b="0">
                          <a:latin typeface="宋体" charset="0"/>
                          <a:cs typeface="宋体" charset="0"/>
                        </a:rPr>
                        <a:t>4</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500" b="0">
                          <a:latin typeface="宋体" charset="0"/>
                          <a:cs typeface="宋体" charset="0"/>
                        </a:rPr>
                        <a:t>　文件记录的实际长度</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9710">
                <a:tc>
                  <a:txBody>
                    <a:bodyPr/>
                    <a:p>
                      <a:pPr indent="0" algn="ctr">
                        <a:buNone/>
                      </a:pPr>
                      <a:r>
                        <a:rPr lang="en-US" sz="1500" b="0">
                          <a:latin typeface="宋体" charset="0"/>
                          <a:cs typeface="宋体" charset="0"/>
                        </a:rPr>
                        <a:t>0x1C</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500" b="0">
                          <a:latin typeface="宋体" charset="0"/>
                          <a:cs typeface="宋体" charset="0"/>
                        </a:rPr>
                        <a:t>4</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500" b="0">
                          <a:latin typeface="宋体" charset="0"/>
                          <a:cs typeface="宋体" charset="0"/>
                        </a:rPr>
                        <a:t>　文件记录的分配长度</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9710">
                <a:tc>
                  <a:txBody>
                    <a:bodyPr/>
                    <a:p>
                      <a:pPr indent="0" algn="ctr">
                        <a:buNone/>
                      </a:pPr>
                      <a:r>
                        <a:rPr lang="en-US" sz="1500" b="0">
                          <a:latin typeface="宋体" charset="0"/>
                          <a:cs typeface="宋体" charset="0"/>
                        </a:rPr>
                        <a:t>0x20</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500" b="0">
                          <a:latin typeface="宋体" charset="0"/>
                          <a:cs typeface="宋体" charset="0"/>
                        </a:rPr>
                        <a:t>8</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500" b="0">
                          <a:latin typeface="宋体" charset="0"/>
                          <a:cs typeface="宋体" charset="0"/>
                        </a:rPr>
                        <a:t>　基本文件记录中的文件索引号</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59130">
                <a:tc>
                  <a:txBody>
                    <a:bodyPr/>
                    <a:p>
                      <a:pPr indent="0" algn="ctr">
                        <a:buNone/>
                      </a:pPr>
                      <a:r>
                        <a:rPr lang="en-US" sz="1500" b="0">
                          <a:latin typeface="宋体" charset="0"/>
                          <a:cs typeface="宋体" charset="0"/>
                        </a:rPr>
                        <a:t>0x28</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500" b="0">
                          <a:latin typeface="宋体" charset="0"/>
                          <a:cs typeface="宋体" charset="0"/>
                        </a:rPr>
                        <a:t>2</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500" b="0">
                          <a:latin typeface="宋体" charset="0"/>
                          <a:cs typeface="宋体" charset="0"/>
                        </a:rPr>
                        <a:t>　下一属性ID，当增加新的属性时，将该值分配给新属性，然后该值增加，如果MFT记录重新使用，则将它置0，第一个实例总是0</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9710">
                <a:tc>
                  <a:txBody>
                    <a:bodyPr/>
                    <a:p>
                      <a:pPr indent="0" algn="ctr">
                        <a:buNone/>
                      </a:pPr>
                      <a:r>
                        <a:rPr lang="en-US" sz="1500" b="0">
                          <a:latin typeface="宋体" charset="0"/>
                          <a:cs typeface="宋体" charset="0"/>
                        </a:rPr>
                        <a:t>0x2A</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500" b="0">
                          <a:latin typeface="宋体" charset="0"/>
                          <a:cs typeface="宋体" charset="0"/>
                        </a:rPr>
                        <a:t>2</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500" b="0">
                          <a:latin typeface="宋体" charset="0"/>
                          <a:cs typeface="宋体" charset="0"/>
                        </a:rPr>
                        <a:t>　边界，Windows XP中为偏移0x30处</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39420">
                <a:tc>
                  <a:txBody>
                    <a:bodyPr/>
                    <a:p>
                      <a:pPr indent="0" algn="ctr">
                        <a:buNone/>
                      </a:pPr>
                      <a:r>
                        <a:rPr lang="en-US" sz="1500" b="0">
                          <a:latin typeface="宋体" charset="0"/>
                          <a:cs typeface="宋体" charset="0"/>
                        </a:rPr>
                        <a:t>0x2C</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500" b="0">
                          <a:latin typeface="宋体" charset="0"/>
                          <a:cs typeface="宋体" charset="0"/>
                        </a:rPr>
                        <a:t>4</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500" b="0">
                          <a:latin typeface="宋体" charset="0"/>
                          <a:cs typeface="宋体" charset="0"/>
                        </a:rPr>
                        <a:t>　文件记录参考号，Windows XP中使用，Windows 2000中无此参数</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9710">
                <a:tc>
                  <a:txBody>
                    <a:bodyPr/>
                    <a:p>
                      <a:pPr indent="0" algn="ctr">
                        <a:buNone/>
                      </a:pPr>
                      <a:r>
                        <a:rPr lang="en-US" sz="1500" b="0">
                          <a:latin typeface="宋体" charset="0"/>
                          <a:cs typeface="宋体" charset="0"/>
                        </a:rPr>
                        <a:t>0x30</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500" b="0">
                          <a:latin typeface="宋体" charset="0"/>
                          <a:cs typeface="宋体" charset="0"/>
                        </a:rPr>
                        <a:t>2</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500" b="0">
                          <a:latin typeface="宋体" charset="0"/>
                          <a:cs typeface="宋体" charset="0"/>
                        </a:rPr>
                        <a:t>　更新序列号</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9710">
                <a:tc>
                  <a:txBody>
                    <a:bodyPr/>
                    <a:p>
                      <a:pPr indent="0" algn="ctr">
                        <a:buNone/>
                      </a:pPr>
                      <a:r>
                        <a:rPr lang="en-US" sz="1500" b="0">
                          <a:latin typeface="宋体" charset="0"/>
                          <a:cs typeface="宋体" charset="0"/>
                        </a:rPr>
                        <a:t>0x32</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500" b="0">
                          <a:latin typeface="宋体" charset="0"/>
                          <a:cs typeface="宋体" charset="0"/>
                        </a:rPr>
                        <a:t>4</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500" b="0">
                          <a:latin typeface="宋体" charset="0"/>
                          <a:cs typeface="宋体" charset="0"/>
                        </a:rPr>
                        <a:t>　更新数组</a:t>
                      </a:r>
                      <a:endParaRPr lang="en-US" altLang="en-US" sz="15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文件记录头</a:t>
            </a:r>
            <a:endParaRPr lang="zh-CN" altLang="en-US"/>
          </a:p>
        </p:txBody>
      </p:sp>
      <p:sp>
        <p:nvSpPr>
          <p:cNvPr id="3" name="内容占位符 2"/>
          <p:cNvSpPr>
            <a:spLocks noGrp="1"/>
          </p:cNvSpPr>
          <p:nvPr>
            <p:ph idx="1"/>
          </p:nvPr>
        </p:nvSpPr>
        <p:spPr/>
        <p:txBody>
          <a:bodyPr/>
          <a:p>
            <a:r>
              <a:rPr lang="zh-CN" altLang="en-US"/>
              <a:t>偏移30H～31H处为更新序列号，这两个字节同时会出现在该文件记录第一个扇区最后两个字节处及该文件记录第二个扇区最后两个字节处。</a:t>
            </a:r>
            <a:endParaRPr lang="zh-CN" altLang="en-US"/>
          </a:p>
          <a:p>
            <a:r>
              <a:rPr lang="zh-CN" altLang="en-US"/>
              <a:t>示例</a:t>
            </a:r>
            <a:r>
              <a:rPr lang="zh-CN" altLang="en-US"/>
              <a:t>如下图</a:t>
            </a: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文件记录头</a:t>
            </a:r>
            <a:endParaRPr lang="zh-CN" altLang="en-US"/>
          </a:p>
        </p:txBody>
      </p:sp>
      <p:sp>
        <p:nvSpPr>
          <p:cNvPr id="3" name="内容占位符 2"/>
          <p:cNvSpPr>
            <a:spLocks noGrp="1"/>
          </p:cNvSpPr>
          <p:nvPr>
            <p:ph idx="1"/>
          </p:nvPr>
        </p:nvSpPr>
        <p:spPr>
          <a:xfrm>
            <a:off x="1115060" y="1557020"/>
            <a:ext cx="800735" cy="4530725"/>
          </a:xfrm>
        </p:spPr>
        <p:txBody>
          <a:bodyPr/>
          <a:p>
            <a:pPr marL="0" indent="0">
              <a:buNone/>
            </a:pPr>
            <a:r>
              <a:rPr lang="zh-CN" altLang="en-US" sz="2800"/>
              <a:t>更新序列号</a:t>
            </a:r>
            <a:endParaRPr lang="zh-CN" altLang="en-US" sz="2800"/>
          </a:p>
        </p:txBody>
      </p:sp>
      <p:pic>
        <p:nvPicPr>
          <p:cNvPr id="4" name="图片 3"/>
          <p:cNvPicPr>
            <a:picLocks noChangeAspect="1"/>
          </p:cNvPicPr>
          <p:nvPr/>
        </p:nvPicPr>
        <p:blipFill>
          <a:blip r:embed="rId1"/>
          <a:stretch>
            <a:fillRect/>
          </a:stretch>
        </p:blipFill>
        <p:spPr>
          <a:xfrm>
            <a:off x="2339340" y="1412875"/>
            <a:ext cx="5494020" cy="520382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文件记录</a:t>
            </a:r>
            <a:r>
              <a:rPr lang="zh-CN" altLang="en-US"/>
              <a:t>头</a:t>
            </a:r>
            <a:endParaRPr lang="zh-CN" altLang="en-US"/>
          </a:p>
        </p:txBody>
      </p:sp>
      <p:sp>
        <p:nvSpPr>
          <p:cNvPr id="3" name="内容占位符 2"/>
          <p:cNvSpPr>
            <a:spLocks noGrp="1"/>
          </p:cNvSpPr>
          <p:nvPr>
            <p:ph idx="1"/>
          </p:nvPr>
        </p:nvSpPr>
        <p:spPr/>
        <p:txBody>
          <a:bodyPr/>
          <a:p>
            <a:r>
              <a:rPr lang="zh-CN" altLang="en-US"/>
              <a:t>偏移32H～35H处为更新数组</a:t>
            </a:r>
            <a:endParaRPr lang="zh-CN" altLang="en-US"/>
          </a:p>
          <a:p>
            <a:pPr lvl="1"/>
            <a:r>
              <a:rPr lang="zh-CN" altLang="en-US"/>
              <a:t>因为文件记录中“更新序列号”的两个字节同时会出现在该文件记录第一个扇区最后两个字节处及该文件记录第二个扇区最后两个字节处，也就是事先占用了文件记录的4个字节，当文件记录中的信息需要往这4个字节处写入时，就跳转到了32H～35H处来写。</a:t>
            </a:r>
            <a:endParaRPr lang="zh-CN" altLang="en-US"/>
          </a:p>
          <a:p>
            <a:pPr lvl="1"/>
            <a:r>
              <a:rPr lang="zh-CN" altLang="en-US"/>
              <a:t>具体对应关系是：文件记录第一个扇区最后两个字节对应32H～33H处，文件记录第二个扇区最后两个字节对应34H～35H处，如</a:t>
            </a:r>
            <a:r>
              <a:rPr lang="zh-CN" altLang="en-US"/>
              <a:t>下图所示。</a:t>
            </a:r>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文件</a:t>
            </a:r>
            <a:r>
              <a:rPr lang="zh-CN" altLang="en-US"/>
              <a:t>记录头</a:t>
            </a:r>
            <a:endParaRPr lang="zh-CN" altLang="en-US"/>
          </a:p>
        </p:txBody>
      </p:sp>
      <p:sp>
        <p:nvSpPr>
          <p:cNvPr id="3" name="内容占位符 2"/>
          <p:cNvSpPr>
            <a:spLocks noGrp="1"/>
          </p:cNvSpPr>
          <p:nvPr>
            <p:ph idx="1"/>
          </p:nvPr>
        </p:nvSpPr>
        <p:spPr>
          <a:xfrm>
            <a:off x="457200" y="1600200"/>
            <a:ext cx="6599555" cy="757555"/>
          </a:xfrm>
        </p:spPr>
        <p:txBody>
          <a:bodyPr/>
          <a:p>
            <a:pPr marL="0" indent="0">
              <a:buNone/>
            </a:pPr>
            <a:r>
              <a:rPr lang="zh-CN" altLang="en-US"/>
              <a:t>更新</a:t>
            </a:r>
            <a:r>
              <a:rPr lang="zh-CN" altLang="en-US"/>
              <a:t>数组</a:t>
            </a:r>
            <a:endParaRPr lang="zh-CN" altLang="en-US"/>
          </a:p>
        </p:txBody>
      </p:sp>
      <p:pic>
        <p:nvPicPr>
          <p:cNvPr id="5" name="图片 4"/>
          <p:cNvPicPr>
            <a:picLocks noChangeAspect="1"/>
          </p:cNvPicPr>
          <p:nvPr/>
        </p:nvPicPr>
        <p:blipFill>
          <a:blip r:embed="rId1"/>
          <a:stretch>
            <a:fillRect/>
          </a:stretch>
        </p:blipFill>
        <p:spPr>
          <a:xfrm>
            <a:off x="566420" y="2204720"/>
            <a:ext cx="8011795" cy="393763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标题 1"/>
          <p:cNvSpPr>
            <a:spLocks noGrp="1"/>
          </p:cNvSpPr>
          <p:nvPr>
            <p:ph type="title"/>
          </p:nvPr>
        </p:nvSpPr>
        <p:spPr/>
        <p:txBody>
          <a:bodyPr anchor="t" anchorCtr="0"/>
          <a:p>
            <a:r>
              <a:rPr lang="en-US" altLang="zh-CN"/>
              <a:t>MFT</a:t>
            </a:r>
            <a:br>
              <a:rPr lang="en-US" altLang="zh-CN"/>
            </a:br>
            <a:endParaRPr lang="zh-CN" altLang="en-US"/>
          </a:p>
        </p:txBody>
      </p:sp>
      <p:sp>
        <p:nvSpPr>
          <p:cNvPr id="95234" name="内容占位符 2"/>
          <p:cNvSpPr>
            <a:spLocks noGrp="1"/>
          </p:cNvSpPr>
          <p:nvPr>
            <p:ph idx="1"/>
          </p:nvPr>
        </p:nvSpPr>
        <p:spPr>
          <a:xfrm>
            <a:off x="457200" y="1600200"/>
            <a:ext cx="8230235" cy="4530725"/>
          </a:xfrm>
        </p:spPr>
        <p:txBody>
          <a:bodyPr anchor="t" anchorCtr="0"/>
          <a:p>
            <a:r>
              <a:rPr lang="zh-CN" altLang="en-US" sz="2800"/>
              <a:t>每个文件记录中都有多个属性，它们相对独立，有各自的类型和名称。</a:t>
            </a:r>
            <a:endParaRPr lang="zh-CN" altLang="en-US" sz="2800"/>
          </a:p>
          <a:p>
            <a:r>
              <a:rPr lang="zh-CN" altLang="en-US" sz="2800"/>
              <a:t>属性有常驻与非常驻之分。当一个文件很小时，其所有属性体都可存放在MFT的文件记录中，该属性就称为常驻属性（Resident Attribute）。有些属性总是常驻的，这样NTFS才可以确定其他非常驻属性，例如，标准信息属性和根索引就总是常驻属性。</a:t>
            </a:r>
            <a:endParaRPr lang="zh-CN" altLang="en-US" sz="2800"/>
          </a:p>
          <a:p>
            <a:r>
              <a:rPr lang="zh-CN" altLang="en-US" sz="2800"/>
              <a:t>每一个属性都可以分为两个部分：属性头和属性体。</a:t>
            </a:r>
            <a:endParaRPr lang="zh-CN" altLang="en-US" sz="2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属性</a:t>
            </a:r>
            <a:r>
              <a:rPr lang="zh-CN" altLang="en-US"/>
              <a:t>列表</a:t>
            </a:r>
            <a:endParaRPr lang="zh-CN" altLang="en-US"/>
          </a:p>
        </p:txBody>
      </p:sp>
      <p:graphicFrame>
        <p:nvGraphicFramePr>
          <p:cNvPr id="4" name="表格 3"/>
          <p:cNvGraphicFramePr/>
          <p:nvPr>
            <p:custDataLst>
              <p:tags r:id="rId1"/>
            </p:custDataLst>
          </p:nvPr>
        </p:nvGraphicFramePr>
        <p:xfrm>
          <a:off x="360680" y="1484630"/>
          <a:ext cx="8326120" cy="4679950"/>
        </p:xfrm>
        <a:graphic>
          <a:graphicData uri="http://schemas.openxmlformats.org/drawingml/2006/table">
            <a:tbl>
              <a:tblPr/>
              <a:tblGrid>
                <a:gridCol w="899160"/>
                <a:gridCol w="2695575"/>
                <a:gridCol w="4731385"/>
              </a:tblGrid>
              <a:tr h="213360">
                <a:tc>
                  <a:txBody>
                    <a:bodyPr/>
                    <a:p>
                      <a:pPr indent="0">
                        <a:buNone/>
                      </a:pPr>
                      <a:r>
                        <a:rPr lang="zh-CN" altLang="en-US" sz="1400" b="0">
                          <a:latin typeface="Arial" panose="020B0604020202090204" pitchFamily="34" charset="0"/>
                          <a:cs typeface="Arial" panose="020B0604020202090204" pitchFamily="34" charset="0"/>
                        </a:rPr>
                        <a:t>属性</a:t>
                      </a:r>
                      <a:r>
                        <a:rPr lang="en-US" sz="1400" b="0">
                          <a:latin typeface="Arial" panose="020B0604020202090204" pitchFamily="34" charset="0"/>
                          <a:cs typeface="Arial" panose="020B0604020202090204" pitchFamily="34" charset="0"/>
                        </a:rPr>
                        <a:t>类型</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Arial" panose="020B0604020202090204" pitchFamily="34" charset="0"/>
                          <a:cs typeface="Arial" panose="020B0604020202090204" pitchFamily="34" charset="0"/>
                        </a:rPr>
                        <a:t>属性类型名</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Arial" panose="020B0604020202090204" pitchFamily="34" charset="0"/>
                          <a:cs typeface="Arial" panose="020B0604020202090204" pitchFamily="34" charset="0"/>
                        </a:rPr>
                        <a:t>属性描述</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853440">
                <a:tc>
                  <a:txBody>
                    <a:bodyPr/>
                    <a:p>
                      <a:pPr indent="0" algn="ctr">
                        <a:buNone/>
                      </a:pPr>
                      <a:r>
                        <a:rPr lang="en-US" sz="1400" b="0">
                          <a:latin typeface="Arial" panose="020B0604020202090204" pitchFamily="34" charset="0"/>
                          <a:cs typeface="Arial" panose="020B0604020202090204" pitchFamily="34" charset="0"/>
                        </a:rPr>
                        <a:t>10</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Arial" panose="020B0604020202090204" pitchFamily="34" charset="0"/>
                          <a:cs typeface="Arial" panose="020B0604020202090204" pitchFamily="34" charset="0"/>
                        </a:rPr>
                        <a:t>$STANDARD_INFORMATION</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Arial" panose="020B0604020202090204" pitchFamily="34" charset="0"/>
                          <a:cs typeface="Arial" panose="020B0604020202090204" pitchFamily="34" charset="0"/>
                        </a:rPr>
                        <a:t>　标准信息：包括一些基本文件属性，如只读、系统、存档；时间属性，如文件的创建时间和最后修改时间；有多少目录指向该文件（即其硬连接数（hard link count））</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27355">
                <a:tc>
                  <a:txBody>
                    <a:bodyPr/>
                    <a:p>
                      <a:pPr indent="0" algn="ctr">
                        <a:buNone/>
                      </a:pPr>
                      <a:r>
                        <a:rPr lang="en-US" sz="1400" b="0">
                          <a:latin typeface="Arial" panose="020B0604020202090204" pitchFamily="34" charset="0"/>
                          <a:cs typeface="Arial" panose="020B0604020202090204" pitchFamily="34" charset="0"/>
                        </a:rPr>
                        <a:t>20 </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Arial" panose="020B0604020202090204" pitchFamily="34" charset="0"/>
                          <a:cs typeface="Arial" panose="020B0604020202090204" pitchFamily="34" charset="0"/>
                        </a:rPr>
                        <a:t>$ATTRIBUTE_LIST</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Arial" panose="020B0604020202090204" pitchFamily="34" charset="0"/>
                          <a:cs typeface="Arial" panose="020B0604020202090204" pitchFamily="34" charset="0"/>
                        </a:rPr>
                        <a:t>　属性列表：当一个文件需要多个文件记录时，用来描述文件的属性列表</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40080">
                <a:tc>
                  <a:txBody>
                    <a:bodyPr/>
                    <a:p>
                      <a:pPr indent="0" algn="ctr">
                        <a:buNone/>
                      </a:pPr>
                      <a:r>
                        <a:rPr lang="en-US" sz="1400" b="0">
                          <a:latin typeface="Arial" panose="020B0604020202090204" pitchFamily="34" charset="0"/>
                          <a:cs typeface="Arial" panose="020B0604020202090204" pitchFamily="34" charset="0"/>
                        </a:rPr>
                        <a:t>30 </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Arial" panose="020B0604020202090204" pitchFamily="34" charset="0"/>
                          <a:cs typeface="Arial" panose="020B0604020202090204" pitchFamily="34" charset="0"/>
                        </a:rPr>
                        <a:t>$FILE_NAME</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Arial" panose="020B0604020202090204" pitchFamily="34" charset="0"/>
                          <a:cs typeface="Arial" panose="020B0604020202090204" pitchFamily="34" charset="0"/>
                        </a:rPr>
                        <a:t>　文件名：用Unicode字符表示的文件名，由于MS-DOS不能识别长文件名，所以NTFS系统会自动生成一个8.3文件名</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11480">
                <a:tc>
                  <a:txBody>
                    <a:bodyPr/>
                    <a:p>
                      <a:pPr indent="0" algn="ctr">
                        <a:buNone/>
                      </a:pPr>
                      <a:r>
                        <a:rPr lang="en-US" sz="1400" b="0">
                          <a:latin typeface="Arial" panose="020B0604020202090204" pitchFamily="34" charset="0"/>
                          <a:cs typeface="Arial" panose="020B0604020202090204" pitchFamily="34" charset="0"/>
                        </a:rPr>
                        <a:t>40 </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Arial" panose="020B0604020202090204" pitchFamily="34" charset="0"/>
                          <a:cs typeface="Arial" panose="020B0604020202090204" pitchFamily="34" charset="0"/>
                        </a:rPr>
                        <a:t>$VOLUME_VERSION</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Arial" panose="020B0604020202090204" pitchFamily="34" charset="0"/>
                          <a:cs typeface="Arial" panose="020B0604020202090204" pitchFamily="34" charset="0"/>
                        </a:rPr>
                        <a:t>　在早期的NTFS v1.2中为卷版本</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067435">
                <a:tc>
                  <a:txBody>
                    <a:bodyPr/>
                    <a:p>
                      <a:pPr indent="0" algn="ctr">
                        <a:buNone/>
                      </a:pPr>
                      <a:r>
                        <a:rPr lang="en-US" sz="1400" b="0">
                          <a:latin typeface="Arial" panose="020B0604020202090204" pitchFamily="34" charset="0"/>
                          <a:cs typeface="Arial" panose="020B0604020202090204" pitchFamily="34" charset="0"/>
                        </a:rPr>
                        <a:t>40</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Arial" panose="020B0604020202090204" pitchFamily="34" charset="0"/>
                          <a:cs typeface="Arial" panose="020B0604020202090204" pitchFamily="34" charset="0"/>
                        </a:rPr>
                        <a:t>$OBJECT_ID</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Arial" panose="020B0604020202090204" pitchFamily="34" charset="0"/>
                          <a:cs typeface="Arial" panose="020B0604020202090204" pitchFamily="34" charset="0"/>
                        </a:rPr>
                        <a:t>　对象ID：一个具有64字节的标识符，其中最低的16字节对卷来说是唯一的（链接跟踪服务为外壳快捷方式，即OLE链接源文件赋予对象ID；NTFS提供的API是直接通过这些对象的ID而不是文件名来打开文件的）</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066800">
                <a:tc>
                  <a:txBody>
                    <a:bodyPr/>
                    <a:p>
                      <a:pPr indent="0" algn="ctr">
                        <a:buNone/>
                      </a:pPr>
                      <a:r>
                        <a:rPr lang="en-US" sz="1400" b="0">
                          <a:latin typeface="Arial" panose="020B0604020202090204" pitchFamily="34" charset="0"/>
                          <a:cs typeface="Arial" panose="020B0604020202090204" pitchFamily="34" charset="0"/>
                        </a:rPr>
                        <a:t>50</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Arial" panose="020B0604020202090204" pitchFamily="34" charset="0"/>
                          <a:cs typeface="Arial" panose="020B0604020202090204" pitchFamily="34" charset="0"/>
                        </a:rPr>
                        <a:t>$SECURITY_DESCRIPTOR</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Arial" panose="020B0604020202090204" pitchFamily="34" charset="0"/>
                          <a:cs typeface="Arial" panose="020B0604020202090204" pitchFamily="34" charset="0"/>
                        </a:rPr>
                        <a:t>　安全描述符：这是为向后兼容而保留的，主要用于保护文件以防止没有授权的访问，但Windows 2000/XP中已将安全描述符存放在$Secure元数据中，以便于共享（早期的NTFS将其与文件目录一起存放，不便于共享）</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属性</a:t>
            </a:r>
            <a:r>
              <a:rPr lang="zh-CN" altLang="en-US"/>
              <a:t>列表</a:t>
            </a:r>
            <a:endParaRPr lang="zh-CN" altLang="en-US"/>
          </a:p>
        </p:txBody>
      </p:sp>
      <p:graphicFrame>
        <p:nvGraphicFramePr>
          <p:cNvPr id="4" name="表格 3"/>
          <p:cNvGraphicFramePr/>
          <p:nvPr>
            <p:custDataLst>
              <p:tags r:id="rId1"/>
            </p:custDataLst>
          </p:nvPr>
        </p:nvGraphicFramePr>
        <p:xfrm>
          <a:off x="337820" y="1489710"/>
          <a:ext cx="8335010" cy="4679950"/>
        </p:xfrm>
        <a:graphic>
          <a:graphicData uri="http://schemas.openxmlformats.org/drawingml/2006/table">
            <a:tbl>
              <a:tblPr/>
              <a:tblGrid>
                <a:gridCol w="835025"/>
                <a:gridCol w="2525395"/>
                <a:gridCol w="4974590"/>
              </a:tblGrid>
              <a:tr h="194945">
                <a:tc>
                  <a:txBody>
                    <a:bodyPr/>
                    <a:p>
                      <a:pPr indent="0">
                        <a:buNone/>
                      </a:pPr>
                      <a:r>
                        <a:rPr lang="zh-CN" altLang="en-US" sz="1400" b="0">
                          <a:latin typeface="Arial" panose="020B0604020202090204" pitchFamily="34" charset="0"/>
                          <a:cs typeface="Arial" panose="020B0604020202090204" pitchFamily="34" charset="0"/>
                        </a:rPr>
                        <a:t>属</a:t>
                      </a:r>
                      <a:r>
                        <a:rPr lang="en-US" sz="1400" b="0">
                          <a:latin typeface="Arial" panose="020B0604020202090204" pitchFamily="34" charset="0"/>
                          <a:cs typeface="Arial" panose="020B0604020202090204" pitchFamily="34" charset="0"/>
                        </a:rPr>
                        <a:t>性类型</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Arial" panose="020B0604020202090204" pitchFamily="34" charset="0"/>
                          <a:cs typeface="Arial" panose="020B0604020202090204" pitchFamily="34" charset="0"/>
                        </a:rPr>
                        <a:t>属性类型名</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Arial" panose="020B0604020202090204" pitchFamily="34" charset="0"/>
                          <a:cs typeface="Arial" panose="020B0604020202090204" pitchFamily="34" charset="0"/>
                        </a:rPr>
                        <a:t>属性描述</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89890">
                <a:tc>
                  <a:txBody>
                    <a:bodyPr/>
                    <a:p>
                      <a:pPr indent="0" algn="ctr">
                        <a:buNone/>
                      </a:pPr>
                      <a:r>
                        <a:rPr lang="en-US" sz="1400" b="0">
                          <a:latin typeface="Arial" panose="020B0604020202090204" pitchFamily="34" charset="0"/>
                          <a:cs typeface="Arial" panose="020B0604020202090204" pitchFamily="34" charset="0"/>
                        </a:rPr>
                        <a:t>60 </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en-US" sz="1400" b="0">
                          <a:latin typeface="Arial" panose="020B0604020202090204" pitchFamily="34" charset="0"/>
                          <a:cs typeface="Arial" panose="020B0604020202090204" pitchFamily="34" charset="0"/>
                        </a:rPr>
                        <a:t>$VOLUME_NAME</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Arial" panose="020B0604020202090204" pitchFamily="34" charset="0"/>
                          <a:cs typeface="Arial" panose="020B0604020202090204" pitchFamily="34" charset="0"/>
                        </a:rPr>
                        <a:t>　卷名（卷标识）：该属性仅存在于$Volume元文件中</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85470">
                <a:tc>
                  <a:txBody>
                    <a:bodyPr/>
                    <a:p>
                      <a:pPr indent="0" algn="ctr">
                        <a:buNone/>
                      </a:pPr>
                      <a:r>
                        <a:rPr lang="en-US" sz="1400" b="0">
                          <a:latin typeface="Arial" panose="020B0604020202090204" pitchFamily="34" charset="0"/>
                          <a:cs typeface="Arial" panose="020B0604020202090204" pitchFamily="34" charset="0"/>
                        </a:rPr>
                        <a:t>70 </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en-US" sz="1400" b="0">
                          <a:latin typeface="Arial" panose="020B0604020202090204" pitchFamily="34" charset="0"/>
                          <a:cs typeface="Arial" panose="020B0604020202090204" pitchFamily="34" charset="0"/>
                        </a:rPr>
                        <a:t>$VOLUME_INFORMATION</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Arial" panose="020B0604020202090204" pitchFamily="34" charset="0"/>
                          <a:cs typeface="Arial" panose="020B0604020202090204" pitchFamily="34" charset="0"/>
                        </a:rPr>
                        <a:t>　卷信息：该属性仅存在于$Volume元文件中</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indent="0" algn="ctr">
                        <a:buNone/>
                      </a:pPr>
                      <a:r>
                        <a:rPr lang="en-US" sz="1400" b="0">
                          <a:latin typeface="Arial" panose="020B0604020202090204" pitchFamily="34" charset="0"/>
                          <a:cs typeface="Arial" panose="020B0604020202090204" pitchFamily="34" charset="0"/>
                        </a:rPr>
                        <a:t>80 </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en-US" sz="1400" b="0">
                          <a:latin typeface="Arial" panose="020B0604020202090204" pitchFamily="34" charset="0"/>
                          <a:cs typeface="Arial" panose="020B0604020202090204" pitchFamily="34" charset="0"/>
                        </a:rPr>
                        <a:t>$DATA</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Arial" panose="020B0604020202090204" pitchFamily="34" charset="0"/>
                          <a:cs typeface="Arial" panose="020B0604020202090204" pitchFamily="34" charset="0"/>
                        </a:rPr>
                        <a:t>　文件数据：该属性为文件的数据内容</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0525">
                <a:tc>
                  <a:txBody>
                    <a:bodyPr/>
                    <a:p>
                      <a:pPr indent="0" algn="ctr">
                        <a:buNone/>
                      </a:pPr>
                      <a:r>
                        <a:rPr lang="en-US" sz="1400" b="0">
                          <a:latin typeface="Arial" panose="020B0604020202090204" pitchFamily="34" charset="0"/>
                          <a:cs typeface="Arial" panose="020B0604020202090204" pitchFamily="34" charset="0"/>
                        </a:rPr>
                        <a:t>90 </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en-US" sz="1400" b="0">
                          <a:latin typeface="Arial" panose="020B0604020202090204" pitchFamily="34" charset="0"/>
                          <a:cs typeface="Arial" panose="020B0604020202090204" pitchFamily="34" charset="0"/>
                        </a:rPr>
                        <a:t>$INDEX_ROOT</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Arial" panose="020B0604020202090204" pitchFamily="34" charset="0"/>
                          <a:cs typeface="Arial" panose="020B0604020202090204" pitchFamily="34" charset="0"/>
                        </a:rPr>
                        <a:t>　索引根</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89890">
                <a:tc>
                  <a:txBody>
                    <a:bodyPr/>
                    <a:p>
                      <a:pPr indent="0" algn="ctr">
                        <a:buNone/>
                      </a:pPr>
                      <a:r>
                        <a:rPr lang="en-US" sz="1400" b="0">
                          <a:latin typeface="Arial" panose="020B0604020202090204" pitchFamily="34" charset="0"/>
                          <a:cs typeface="Arial" panose="020B0604020202090204" pitchFamily="34" charset="0"/>
                        </a:rPr>
                        <a:t>A0 </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en-US" sz="1400" b="0">
                          <a:latin typeface="Arial" panose="020B0604020202090204" pitchFamily="34" charset="0"/>
                          <a:cs typeface="Arial" panose="020B0604020202090204" pitchFamily="34" charset="0"/>
                        </a:rPr>
                        <a:t>$INDEX_ALLOCATION</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Arial" panose="020B0604020202090204" pitchFamily="34" charset="0"/>
                          <a:cs typeface="Arial" panose="020B0604020202090204" pitchFamily="34" charset="0"/>
                        </a:rPr>
                        <a:t>　索引分配</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945">
                <a:tc>
                  <a:txBody>
                    <a:bodyPr/>
                    <a:p>
                      <a:pPr indent="0" algn="ctr">
                        <a:buNone/>
                      </a:pPr>
                      <a:r>
                        <a:rPr lang="en-US" sz="1400" b="0">
                          <a:latin typeface="Arial" panose="020B0604020202090204" pitchFamily="34" charset="0"/>
                          <a:cs typeface="Arial" panose="020B0604020202090204" pitchFamily="34" charset="0"/>
                        </a:rPr>
                        <a:t>B0 </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en-US" sz="1400" b="0">
                          <a:latin typeface="Arial" panose="020B0604020202090204" pitchFamily="34" charset="0"/>
                          <a:cs typeface="Arial" panose="020B0604020202090204" pitchFamily="34" charset="0"/>
                        </a:rPr>
                        <a:t>$BITMAP</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Arial" panose="020B0604020202090204" pitchFamily="34" charset="0"/>
                          <a:cs typeface="Arial" panose="020B0604020202090204" pitchFamily="34" charset="0"/>
                        </a:rPr>
                        <a:t>　位图</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0525">
                <a:tc>
                  <a:txBody>
                    <a:bodyPr/>
                    <a:p>
                      <a:pPr indent="0" algn="ctr">
                        <a:buNone/>
                      </a:pPr>
                      <a:r>
                        <a:rPr lang="en-US" sz="1400" b="0">
                          <a:latin typeface="Arial" panose="020B0604020202090204" pitchFamily="34" charset="0"/>
                          <a:cs typeface="Arial" panose="020B0604020202090204" pitchFamily="34" charset="0"/>
                        </a:rPr>
                        <a:t>C0 </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en-US" sz="1400" b="0">
                          <a:latin typeface="Arial" panose="020B0604020202090204" pitchFamily="34" charset="0"/>
                          <a:cs typeface="Arial" panose="020B0604020202090204" pitchFamily="34" charset="0"/>
                        </a:rPr>
                        <a:t>$SYMBOLIC_LINK</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Arial" panose="020B0604020202090204" pitchFamily="34" charset="0"/>
                          <a:cs typeface="Arial" panose="020B0604020202090204" pitchFamily="34" charset="0"/>
                        </a:rPr>
                        <a:t>　在早期的NTFS v1.2中为符号链接</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89255">
                <a:tc>
                  <a:txBody>
                    <a:bodyPr/>
                    <a:p>
                      <a:pPr indent="0" algn="ctr">
                        <a:buNone/>
                      </a:pPr>
                      <a:r>
                        <a:rPr lang="en-US" sz="1400" b="0">
                          <a:latin typeface="Arial" panose="020B0604020202090204" pitchFamily="34" charset="0"/>
                          <a:cs typeface="Arial" panose="020B0604020202090204" pitchFamily="34" charset="0"/>
                        </a:rPr>
                        <a:t>C0 </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en-US" sz="1400" b="0">
                          <a:latin typeface="Arial" panose="020B0604020202090204" pitchFamily="34" charset="0"/>
                          <a:cs typeface="Arial" panose="020B0604020202090204" pitchFamily="34" charset="0"/>
                        </a:rPr>
                        <a:t>$REPARSE_POINT</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Arial" panose="020B0604020202090204" pitchFamily="34" charset="0"/>
                          <a:cs typeface="Arial" panose="020B0604020202090204" pitchFamily="34" charset="0"/>
                        </a:rPr>
                        <a:t>　重解析点</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0525">
                <a:tc>
                  <a:txBody>
                    <a:bodyPr/>
                    <a:p>
                      <a:pPr indent="0" algn="ctr">
                        <a:buNone/>
                      </a:pPr>
                      <a:r>
                        <a:rPr lang="en-US" sz="1400" b="0">
                          <a:latin typeface="Arial" panose="020B0604020202090204" pitchFamily="34" charset="0"/>
                          <a:cs typeface="Arial" panose="020B0604020202090204" pitchFamily="34" charset="0"/>
                        </a:rPr>
                        <a:t>D0 </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en-US" sz="1400" b="0">
                          <a:latin typeface="Arial" panose="020B0604020202090204" pitchFamily="34" charset="0"/>
                          <a:cs typeface="Arial" panose="020B0604020202090204" pitchFamily="34" charset="0"/>
                        </a:rPr>
                        <a:t>$EA_INFORMATION</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Arial" panose="020B0604020202090204" pitchFamily="34" charset="0"/>
                          <a:cs typeface="Arial" panose="020B0604020202090204" pitchFamily="34" charset="0"/>
                        </a:rPr>
                        <a:t>　扩充属性信息</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indent="0" algn="ctr">
                        <a:buNone/>
                      </a:pPr>
                      <a:r>
                        <a:rPr lang="en-US" sz="1400" b="0">
                          <a:latin typeface="Arial" panose="020B0604020202090204" pitchFamily="34" charset="0"/>
                          <a:cs typeface="Arial" panose="020B0604020202090204" pitchFamily="34" charset="0"/>
                        </a:rPr>
                        <a:t>E0 </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en-US" sz="1400" b="0">
                          <a:latin typeface="Arial" panose="020B0604020202090204" pitchFamily="34" charset="0"/>
                          <a:cs typeface="Arial" panose="020B0604020202090204" pitchFamily="34" charset="0"/>
                        </a:rPr>
                        <a:t>$EA</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Arial" panose="020B0604020202090204" pitchFamily="34" charset="0"/>
                          <a:cs typeface="Arial" panose="020B0604020202090204" pitchFamily="34" charset="0"/>
                        </a:rPr>
                        <a:t>　扩充属性</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0525">
                <a:tc>
                  <a:txBody>
                    <a:bodyPr/>
                    <a:p>
                      <a:pPr indent="0" algn="ctr">
                        <a:buNone/>
                      </a:pPr>
                      <a:r>
                        <a:rPr lang="en-US" sz="1400" b="0">
                          <a:latin typeface="Arial" panose="020B0604020202090204" pitchFamily="34" charset="0"/>
                          <a:cs typeface="Arial" panose="020B0604020202090204" pitchFamily="34" charset="0"/>
                        </a:rPr>
                        <a:t>F0 </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en-US" sz="1400" b="0">
                          <a:latin typeface="Arial" panose="020B0604020202090204" pitchFamily="34" charset="0"/>
                          <a:cs typeface="Arial" panose="020B0604020202090204" pitchFamily="34" charset="0"/>
                        </a:rPr>
                        <a:t>$PROPERTY_SET</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Arial" panose="020B0604020202090204" pitchFamily="34" charset="0"/>
                          <a:cs typeface="Arial" panose="020B0604020202090204" pitchFamily="34" charset="0"/>
                        </a:rPr>
                        <a:t>　早期的NTFS v1.2中才有</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84835">
                <a:tc>
                  <a:txBody>
                    <a:bodyPr/>
                    <a:p>
                      <a:pPr indent="0" algn="ctr">
                        <a:buNone/>
                      </a:pPr>
                      <a:r>
                        <a:rPr lang="en-US" sz="1400" b="0">
                          <a:latin typeface="Arial" panose="020B0604020202090204" pitchFamily="34" charset="0"/>
                          <a:cs typeface="Arial" panose="020B0604020202090204" pitchFamily="34" charset="0"/>
                        </a:rPr>
                        <a:t>10 00</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en-US" sz="1400" b="0">
                          <a:latin typeface="Arial" panose="020B0604020202090204" pitchFamily="34" charset="0"/>
                          <a:cs typeface="Arial" panose="020B0604020202090204" pitchFamily="34" charset="0"/>
                        </a:rPr>
                        <a:t>$LOGGED_UTILITY_STREAM</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Arial" panose="020B0604020202090204" pitchFamily="34" charset="0"/>
                          <a:cs typeface="Arial" panose="020B0604020202090204" pitchFamily="34" charset="0"/>
                        </a:rPr>
                        <a:t>　EFS加密属性：该属性主要用于存储实现EFS加密的有关加密信息，如合法用户列表、解码密钥等</a:t>
                      </a:r>
                      <a:endParaRPr lang="en-US" altLang="en-US" sz="14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Rectangle 2"/>
          <p:cNvSpPr>
            <a:spLocks noGrp="1"/>
          </p:cNvSpPr>
          <p:nvPr>
            <p:ph type="title"/>
          </p:nvPr>
        </p:nvSpPr>
        <p:spPr/>
        <p:txBody>
          <a:bodyPr vert="horz" wrap="square" lIns="91440" tIns="45720" rIns="91440" bIns="45720" anchor="t" anchorCtr="0"/>
          <a:p>
            <a:pPr eaLnBrk="1" hangingPunct="1"/>
            <a:r>
              <a:rPr lang="en-US" altLang="zh-CN"/>
              <a:t>MFT</a:t>
            </a:r>
            <a:endParaRPr lang="en-US" altLang="zh-CN"/>
          </a:p>
        </p:txBody>
      </p:sp>
      <p:sp>
        <p:nvSpPr>
          <p:cNvPr id="96258" name="Rectangle 3"/>
          <p:cNvSpPr>
            <a:spLocks noGrp="1"/>
          </p:cNvSpPr>
          <p:nvPr>
            <p:ph idx="1"/>
          </p:nvPr>
        </p:nvSpPr>
        <p:spPr/>
        <p:txBody>
          <a:bodyPr vert="horz" wrap="square" lIns="91440" tIns="45720" rIns="91440" bIns="45720" anchor="t" anchorCtr="0"/>
          <a:p>
            <a:pPr eaLnBrk="1" hangingPunct="1"/>
            <a:r>
              <a:rPr lang="zh-CN" altLang="zh-CN"/>
              <a:t>MFT</a:t>
            </a:r>
            <a:r>
              <a:rPr lang="zh-CN" altLang="en-US"/>
              <a:t>的结构</a:t>
            </a:r>
            <a:endParaRPr lang="en-US" altLang="zh-CN"/>
          </a:p>
          <a:p>
            <a:pPr lvl="1" indent="-325120" eaLnBrk="1" hangingPunct="1"/>
            <a:r>
              <a:rPr lang="zh-CN" altLang="en-US"/>
              <a:t>小文件和文件夹将全部存储在文件的</a:t>
            </a:r>
            <a:r>
              <a:rPr lang="zh-CN" altLang="zh-CN"/>
              <a:t>MFT</a:t>
            </a:r>
            <a:r>
              <a:rPr lang="zh-CN" altLang="en-US"/>
              <a:t>记录里，其属性为常驻属性。</a:t>
            </a:r>
            <a:endParaRPr lang="en-US" altLang="zh-CN"/>
          </a:p>
          <a:p>
            <a:pPr lvl="1" indent="-325120" eaLnBrk="1" hangingPunct="1"/>
            <a:endParaRPr lang="zh-CN" altLang="en-US"/>
          </a:p>
        </p:txBody>
      </p:sp>
      <p:pic>
        <p:nvPicPr>
          <p:cNvPr id="4" name="内容占位符 3"/>
          <p:cNvPicPr>
            <a:picLocks noChangeAspect="1"/>
          </p:cNvPicPr>
          <p:nvPr>
            <p:custDataLst>
              <p:tags r:id="rId1"/>
            </p:custDataLst>
          </p:nvPr>
        </p:nvPicPr>
        <p:blipFill>
          <a:blip r:embed="rId2"/>
          <a:stretch>
            <a:fillRect/>
          </a:stretch>
        </p:blipFill>
        <p:spPr>
          <a:xfrm>
            <a:off x="539750" y="3573145"/>
            <a:ext cx="8229600" cy="1183005"/>
          </a:xfrm>
          <a:prstGeom prst="rect">
            <a:avLst/>
          </a:prstGeom>
          <a:noFill/>
          <a:ln w="9525">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Rectangle 2"/>
          <p:cNvSpPr>
            <a:spLocks noGrp="1"/>
          </p:cNvSpPr>
          <p:nvPr>
            <p:ph type="title"/>
          </p:nvPr>
        </p:nvSpPr>
        <p:spPr/>
        <p:txBody>
          <a:bodyPr vert="horz" wrap="square" lIns="91440" tIns="45720" rIns="91440" bIns="45720" anchor="t" anchorCtr="0"/>
          <a:p>
            <a:pPr eaLnBrk="1" hangingPunct="1"/>
            <a:r>
              <a:rPr lang="en-US" altLang="zh-CN"/>
              <a:t>MFT</a:t>
            </a:r>
            <a:endParaRPr lang="en-US" altLang="zh-CN"/>
          </a:p>
        </p:txBody>
      </p:sp>
      <p:sp>
        <p:nvSpPr>
          <p:cNvPr id="96258" name="Rectangle 3"/>
          <p:cNvSpPr>
            <a:spLocks noGrp="1"/>
          </p:cNvSpPr>
          <p:nvPr>
            <p:ph idx="1"/>
          </p:nvPr>
        </p:nvSpPr>
        <p:spPr/>
        <p:txBody>
          <a:bodyPr vert="horz" wrap="square" lIns="91440" tIns="45720" rIns="91440" bIns="45720" anchor="t" anchorCtr="0"/>
          <a:p>
            <a:pPr eaLnBrk="1" hangingPunct="1"/>
            <a:r>
              <a:rPr lang="zh-CN" altLang="zh-CN"/>
              <a:t>MFT</a:t>
            </a:r>
            <a:r>
              <a:rPr lang="zh-CN" altLang="en-US"/>
              <a:t>的结构</a:t>
            </a:r>
            <a:endParaRPr lang="en-US" altLang="zh-CN"/>
          </a:p>
          <a:p>
            <a:pPr lvl="1" indent="-325120" eaLnBrk="1" hangingPunct="1"/>
            <a:r>
              <a:rPr lang="zh-CN" altLang="en-US"/>
              <a:t>如果一个属性（文件数据属性）太大不能放在只有</a:t>
            </a:r>
            <a:r>
              <a:rPr lang="zh-CN" altLang="zh-CN"/>
              <a:t>1KB</a:t>
            </a:r>
            <a:r>
              <a:rPr lang="zh-CN" altLang="en-US"/>
              <a:t>的</a:t>
            </a:r>
            <a:r>
              <a:rPr lang="zh-CN" altLang="zh-CN"/>
              <a:t>MFT</a:t>
            </a:r>
            <a:r>
              <a:rPr lang="zh-CN" altLang="en-US"/>
              <a:t>文件记录里，</a:t>
            </a:r>
            <a:r>
              <a:rPr lang="zh-CN" altLang="zh-CN"/>
              <a:t>NTFS</a:t>
            </a:r>
            <a:r>
              <a:rPr lang="zh-CN" altLang="en-US"/>
              <a:t>将从</a:t>
            </a:r>
            <a:r>
              <a:rPr lang="zh-CN" altLang="zh-CN"/>
              <a:t>MFT</a:t>
            </a:r>
            <a:r>
              <a:rPr lang="zh-CN" altLang="en-US"/>
              <a:t>之外分配区域，这些区域通常称为一个运行（</a:t>
            </a:r>
            <a:r>
              <a:rPr lang="zh-CN" altLang="zh-CN"/>
              <a:t>Run</a:t>
            </a:r>
            <a:r>
              <a:rPr lang="zh-CN" altLang="en-US"/>
              <a:t>）或一个盘区（</a:t>
            </a:r>
            <a:r>
              <a:rPr lang="zh-CN" altLang="zh-CN"/>
              <a:t>Extent</a:t>
            </a:r>
            <a:r>
              <a:rPr lang="zh-CN" altLang="en-US"/>
              <a:t>），它们用来存储属性值。这种属性称为非常驻属性。</a:t>
            </a:r>
            <a:endParaRPr lang="en-US" altLang="zh-CN"/>
          </a:p>
          <a:p>
            <a:pPr lvl="1" indent="-325120" eaLnBrk="1" hangingPunct="1"/>
            <a:r>
              <a:rPr lang="zh-CN" altLang="en-US"/>
              <a:t>当一个属性为非常驻时，其头部包含</a:t>
            </a:r>
            <a:r>
              <a:rPr lang="zh-CN" altLang="zh-CN"/>
              <a:t>NTFS</a:t>
            </a:r>
            <a:r>
              <a:rPr lang="zh-CN" altLang="en-US"/>
              <a:t>需要在磁盘上定位属性值的有关信息。</a:t>
            </a:r>
            <a:endParaRPr lang="zh-CN" altLang="en-US"/>
          </a:p>
        </p:txBody>
      </p:sp>
      <p:pic>
        <p:nvPicPr>
          <p:cNvPr id="2" name="图片 1"/>
          <p:cNvPicPr>
            <a:picLocks noChangeAspect="1"/>
          </p:cNvPicPr>
          <p:nvPr>
            <p:custDataLst>
              <p:tags r:id="rId1"/>
            </p:custDataLst>
          </p:nvPr>
        </p:nvPicPr>
        <p:blipFill>
          <a:blip r:embed="rId2"/>
          <a:stretch>
            <a:fillRect/>
          </a:stretch>
        </p:blipFill>
        <p:spPr>
          <a:xfrm>
            <a:off x="0" y="5085080"/>
            <a:ext cx="9188450" cy="131445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标题 1"/>
          <p:cNvSpPr>
            <a:spLocks noGrp="1"/>
          </p:cNvSpPr>
          <p:nvPr>
            <p:ph type="title"/>
          </p:nvPr>
        </p:nvSpPr>
        <p:spPr/>
        <p:txBody>
          <a:bodyPr anchor="t" anchorCtr="0"/>
          <a:p>
            <a:r>
              <a:rPr lang="zh-CN" altLang="en-US">
                <a:sym typeface="+mn-ea"/>
              </a:rPr>
              <a:t>常驻没有属性名的属性头结构</a:t>
            </a:r>
            <a:br>
              <a:rPr lang="en-US" altLang="zh-CN"/>
            </a:br>
            <a:endParaRPr lang="zh-CN" altLang="en-US"/>
          </a:p>
        </p:txBody>
      </p:sp>
      <p:graphicFrame>
        <p:nvGraphicFramePr>
          <p:cNvPr id="2" name="表格 1"/>
          <p:cNvGraphicFramePr/>
          <p:nvPr>
            <p:custDataLst>
              <p:tags r:id="rId1"/>
            </p:custDataLst>
          </p:nvPr>
        </p:nvGraphicFramePr>
        <p:xfrm>
          <a:off x="457200" y="1557020"/>
          <a:ext cx="8170545" cy="4588510"/>
        </p:xfrm>
        <a:graphic>
          <a:graphicData uri="http://schemas.openxmlformats.org/drawingml/2006/table">
            <a:tbl>
              <a:tblPr/>
              <a:tblGrid>
                <a:gridCol w="812800"/>
                <a:gridCol w="666750"/>
                <a:gridCol w="6690995"/>
              </a:tblGrid>
              <a:tr h="290830">
                <a:tc>
                  <a:txBody>
                    <a:bodyPr/>
                    <a:p>
                      <a:pPr indent="0">
                        <a:buNone/>
                      </a:pPr>
                      <a:r>
                        <a:rPr lang="en-US" sz="1800" b="0">
                          <a:latin typeface="宋体" charset="0"/>
                          <a:cs typeface="宋体" charset="0"/>
                        </a:rPr>
                        <a:t>偏移</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长度</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含义</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0840">
                <a:tc>
                  <a:txBody>
                    <a:bodyPr/>
                    <a:p>
                      <a:pPr indent="0" algn="ctr">
                        <a:buNone/>
                      </a:pPr>
                      <a:r>
                        <a:rPr lang="en-US" sz="1800" b="0">
                          <a:latin typeface="宋体" charset="0"/>
                          <a:cs typeface="宋体" charset="0"/>
                        </a:rPr>
                        <a:t>0x00</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4</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属性类型（如10H、30H等类型）</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01320">
                <a:tc>
                  <a:txBody>
                    <a:bodyPr/>
                    <a:p>
                      <a:pPr indent="0" algn="ctr">
                        <a:buNone/>
                      </a:pPr>
                      <a:r>
                        <a:rPr lang="en-US" sz="1800" b="0">
                          <a:latin typeface="宋体" charset="0"/>
                          <a:cs typeface="宋体" charset="0"/>
                        </a:rPr>
                        <a:t>0x04</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4</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包括属性头在内的本属性的长度（字节）</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7660">
                <a:tc>
                  <a:txBody>
                    <a:bodyPr/>
                    <a:p>
                      <a:pPr indent="0" algn="ctr">
                        <a:buNone/>
                      </a:pPr>
                      <a:r>
                        <a:rPr lang="en-US" sz="1800" b="0">
                          <a:latin typeface="宋体" charset="0"/>
                          <a:cs typeface="宋体" charset="0"/>
                        </a:rPr>
                        <a:t>0x08</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1</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是否为常驻属性（00表示常驻，01H表示非常驻）</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1160">
                <a:tc>
                  <a:txBody>
                    <a:bodyPr/>
                    <a:p>
                      <a:pPr indent="0" algn="ctr">
                        <a:buNone/>
                      </a:pPr>
                      <a:r>
                        <a:rPr lang="en-US" sz="1800" b="0">
                          <a:latin typeface="宋体" charset="0"/>
                          <a:cs typeface="宋体" charset="0"/>
                        </a:rPr>
                        <a:t>0x09</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1</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属性名长度（为0表示没有属性名）</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6395">
                <a:tc>
                  <a:txBody>
                    <a:bodyPr/>
                    <a:p>
                      <a:pPr indent="0" algn="ctr">
                        <a:buNone/>
                      </a:pPr>
                      <a:r>
                        <a:rPr lang="en-US" sz="1800" b="0">
                          <a:latin typeface="宋体" charset="0"/>
                          <a:cs typeface="宋体" charset="0"/>
                        </a:rPr>
                        <a:t>0x0A</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2</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属性名的开始偏移（没有属性名）</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93420">
                <a:tc>
                  <a:txBody>
                    <a:bodyPr/>
                    <a:p>
                      <a:pPr indent="0" algn="ctr">
                        <a:buNone/>
                      </a:pPr>
                      <a:r>
                        <a:rPr lang="en-US" sz="1800" b="0">
                          <a:latin typeface="宋体" charset="0"/>
                          <a:cs typeface="宋体" charset="0"/>
                        </a:rPr>
                        <a:t>0x0C</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2</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压缩、加密、稀疏标志：为0001H表示该属性是被压缩了的；为4000H表示该属性是被加密了的；为8000H表示该属性是稀疏的</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830">
                <a:tc>
                  <a:txBody>
                    <a:bodyPr/>
                    <a:p>
                      <a:pPr indent="0" algn="ctr">
                        <a:buNone/>
                      </a:pPr>
                      <a:r>
                        <a:rPr lang="en-US" sz="1800" b="0">
                          <a:latin typeface="宋体" charset="0"/>
                          <a:cs typeface="宋体" charset="0"/>
                        </a:rPr>
                        <a:t>0x0E</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2</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属性ID</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1465">
                <a:tc>
                  <a:txBody>
                    <a:bodyPr/>
                    <a:p>
                      <a:pPr indent="0" algn="ctr">
                        <a:buNone/>
                      </a:pPr>
                      <a:r>
                        <a:rPr lang="en-US" sz="1800" b="0">
                          <a:latin typeface="宋体" charset="0"/>
                          <a:cs typeface="宋体" charset="0"/>
                        </a:rPr>
                        <a:t>0x10</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4</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属性体的长度（L）</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830">
                <a:tc>
                  <a:txBody>
                    <a:bodyPr/>
                    <a:p>
                      <a:pPr indent="0" algn="ctr">
                        <a:buNone/>
                      </a:pPr>
                      <a:r>
                        <a:rPr lang="en-US" sz="1800" b="0">
                          <a:latin typeface="宋体" charset="0"/>
                          <a:cs typeface="宋体" charset="0"/>
                        </a:rPr>
                        <a:t>0x14</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2</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属性体的开始偏移</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1465">
                <a:tc>
                  <a:txBody>
                    <a:bodyPr/>
                    <a:p>
                      <a:pPr indent="0" algn="ctr">
                        <a:buNone/>
                      </a:pPr>
                      <a:r>
                        <a:rPr lang="en-US" sz="1800" b="0">
                          <a:latin typeface="宋体" charset="0"/>
                          <a:cs typeface="宋体" charset="0"/>
                        </a:rPr>
                        <a:t>0x16</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1</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索引标志</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1465">
                <a:tc>
                  <a:txBody>
                    <a:bodyPr/>
                    <a:p>
                      <a:pPr indent="0" algn="ctr">
                        <a:buNone/>
                      </a:pPr>
                      <a:r>
                        <a:rPr lang="en-US" sz="1800" b="0">
                          <a:latin typeface="宋体" charset="0"/>
                          <a:cs typeface="宋体" charset="0"/>
                        </a:rPr>
                        <a:t>0x17</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1</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无意义</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830">
                <a:tc>
                  <a:txBody>
                    <a:bodyPr/>
                    <a:p>
                      <a:pPr indent="0" algn="ctr">
                        <a:buNone/>
                      </a:pPr>
                      <a:r>
                        <a:rPr lang="en-US" sz="1800" b="0">
                          <a:latin typeface="宋体" charset="0"/>
                          <a:cs typeface="宋体" charset="0"/>
                        </a:rPr>
                        <a:t>0x18</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L</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该属性体的内容</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常驻有属性名的属性头结构</a:t>
            </a:r>
            <a:endParaRPr lang="zh-CN" altLang="en-US"/>
          </a:p>
        </p:txBody>
      </p:sp>
      <p:graphicFrame>
        <p:nvGraphicFramePr>
          <p:cNvPr id="4" name="表格 3"/>
          <p:cNvGraphicFramePr/>
          <p:nvPr>
            <p:custDataLst>
              <p:tags r:id="rId1"/>
            </p:custDataLst>
          </p:nvPr>
        </p:nvGraphicFramePr>
        <p:xfrm>
          <a:off x="420370" y="1419860"/>
          <a:ext cx="8110220" cy="4756150"/>
        </p:xfrm>
        <a:graphic>
          <a:graphicData uri="http://schemas.openxmlformats.org/drawingml/2006/table">
            <a:tbl>
              <a:tblPr/>
              <a:tblGrid>
                <a:gridCol w="1042035"/>
                <a:gridCol w="874395"/>
                <a:gridCol w="6193790"/>
              </a:tblGrid>
              <a:tr h="339725">
                <a:tc>
                  <a:txBody>
                    <a:bodyPr/>
                    <a:p>
                      <a:pPr indent="0" algn="ctr">
                        <a:buNone/>
                      </a:pPr>
                      <a:r>
                        <a:rPr lang="en-US" sz="1800" b="0">
                          <a:latin typeface="宋体" charset="0"/>
                          <a:cs typeface="宋体" charset="0"/>
                        </a:rPr>
                        <a:t>偏移</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长度</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含义</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9725">
                <a:tc>
                  <a:txBody>
                    <a:bodyPr/>
                    <a:p>
                      <a:pPr indent="0" algn="ctr">
                        <a:buNone/>
                      </a:pPr>
                      <a:r>
                        <a:rPr lang="en-US" sz="1800" b="0">
                          <a:latin typeface="宋体" charset="0"/>
                          <a:cs typeface="宋体" charset="0"/>
                        </a:rPr>
                        <a:t>0x00</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4</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属性类型（如90H、B0H等类型）</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9725">
                <a:tc>
                  <a:txBody>
                    <a:bodyPr/>
                    <a:p>
                      <a:pPr indent="0" algn="ctr">
                        <a:buNone/>
                      </a:pPr>
                      <a:r>
                        <a:rPr lang="en-US" sz="1800" b="0">
                          <a:latin typeface="宋体" charset="0"/>
                          <a:cs typeface="宋体" charset="0"/>
                        </a:rPr>
                        <a:t>0x04</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4</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包括属性头在内的本属性的长度（字节）</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9725">
                <a:tc>
                  <a:txBody>
                    <a:bodyPr/>
                    <a:p>
                      <a:pPr indent="0" algn="ctr">
                        <a:buNone/>
                      </a:pPr>
                      <a:r>
                        <a:rPr lang="en-US" sz="1800" b="0">
                          <a:latin typeface="宋体" charset="0"/>
                          <a:cs typeface="宋体" charset="0"/>
                        </a:rPr>
                        <a:t>0x08</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1</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是否为常驻属性（00表示常驻，01H表示非常驻）</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9725">
                <a:tc>
                  <a:txBody>
                    <a:bodyPr/>
                    <a:p>
                      <a:pPr indent="0" algn="ctr">
                        <a:buNone/>
                      </a:pPr>
                      <a:r>
                        <a:rPr lang="en-US" sz="1800" b="0">
                          <a:latin typeface="宋体" charset="0"/>
                          <a:cs typeface="宋体" charset="0"/>
                        </a:rPr>
                        <a:t>0x09</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1</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属性名长度（N）</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9725">
                <a:tc>
                  <a:txBody>
                    <a:bodyPr/>
                    <a:p>
                      <a:pPr indent="0" algn="ctr">
                        <a:buNone/>
                      </a:pPr>
                      <a:r>
                        <a:rPr lang="en-US" sz="1800" b="0">
                          <a:latin typeface="宋体" charset="0"/>
                          <a:cs typeface="宋体" charset="0"/>
                        </a:rPr>
                        <a:t>0x0A</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2</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属性名开始的偏移</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9725">
                <a:tc>
                  <a:txBody>
                    <a:bodyPr/>
                    <a:p>
                      <a:pPr indent="0" algn="ctr">
                        <a:buNone/>
                      </a:pPr>
                      <a:r>
                        <a:rPr lang="en-US" sz="1800" b="0">
                          <a:latin typeface="宋体" charset="0"/>
                          <a:cs typeface="宋体" charset="0"/>
                        </a:rPr>
                        <a:t>0x0C</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2</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压缩、加密、稀疏标志</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9725">
                <a:tc>
                  <a:txBody>
                    <a:bodyPr/>
                    <a:p>
                      <a:pPr indent="0" algn="ctr">
                        <a:buNone/>
                      </a:pPr>
                      <a:r>
                        <a:rPr lang="en-US" sz="1800" b="0">
                          <a:latin typeface="宋体" charset="0"/>
                          <a:cs typeface="宋体" charset="0"/>
                        </a:rPr>
                        <a:t>0x0E</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2</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属性ID</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9725">
                <a:tc>
                  <a:txBody>
                    <a:bodyPr/>
                    <a:p>
                      <a:pPr indent="0" algn="ctr">
                        <a:buNone/>
                      </a:pPr>
                      <a:r>
                        <a:rPr lang="en-US" sz="1800" b="0">
                          <a:latin typeface="宋体" charset="0"/>
                          <a:cs typeface="宋体" charset="0"/>
                        </a:rPr>
                        <a:t>0x10</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4</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属性体的长度（L）</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9725">
                <a:tc>
                  <a:txBody>
                    <a:bodyPr/>
                    <a:p>
                      <a:pPr indent="0" algn="ctr">
                        <a:buNone/>
                      </a:pPr>
                      <a:r>
                        <a:rPr lang="en-US" sz="1800" b="0">
                          <a:latin typeface="宋体" charset="0"/>
                          <a:cs typeface="宋体" charset="0"/>
                        </a:rPr>
                        <a:t>0x14</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2</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属性体的开始偏移</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9725">
                <a:tc>
                  <a:txBody>
                    <a:bodyPr/>
                    <a:p>
                      <a:pPr indent="0" algn="ctr">
                        <a:buNone/>
                      </a:pPr>
                      <a:r>
                        <a:rPr lang="en-US" sz="1800" b="0">
                          <a:latin typeface="宋体" charset="0"/>
                          <a:cs typeface="宋体" charset="0"/>
                        </a:rPr>
                        <a:t>0x16</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1</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索引标志</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9725">
                <a:tc>
                  <a:txBody>
                    <a:bodyPr/>
                    <a:p>
                      <a:pPr indent="0" algn="ctr">
                        <a:buNone/>
                      </a:pPr>
                      <a:r>
                        <a:rPr lang="en-US" sz="1800" b="0">
                          <a:latin typeface="宋体" charset="0"/>
                          <a:cs typeface="宋体" charset="0"/>
                        </a:rPr>
                        <a:t>0x17</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1</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无意义</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9725">
                <a:tc>
                  <a:txBody>
                    <a:bodyPr/>
                    <a:p>
                      <a:pPr indent="0" algn="ctr">
                        <a:buNone/>
                      </a:pPr>
                      <a:r>
                        <a:rPr lang="en-US" sz="1800" b="0">
                          <a:latin typeface="宋体" charset="0"/>
                          <a:cs typeface="宋体" charset="0"/>
                        </a:rPr>
                        <a:t>0x18</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2N</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属性的名字</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9725">
                <a:tc>
                  <a:txBody>
                    <a:bodyPr/>
                    <a:p>
                      <a:pPr indent="0" algn="ctr">
                        <a:buNone/>
                      </a:pPr>
                      <a:r>
                        <a:rPr lang="en-US" sz="1800" b="0">
                          <a:latin typeface="宋体" charset="0"/>
                          <a:cs typeface="宋体" charset="0"/>
                        </a:rPr>
                        <a:t>2N＋0x18</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charset="0"/>
                          <a:cs typeface="宋体" charset="0"/>
                        </a:rPr>
                        <a:t>L</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属性体的内容</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非常驻没有属性名的属性头结构</a:t>
            </a:r>
            <a:endParaRPr lang="zh-CN" altLang="en-US"/>
          </a:p>
        </p:txBody>
      </p:sp>
      <p:graphicFrame>
        <p:nvGraphicFramePr>
          <p:cNvPr id="4" name="表格 3"/>
          <p:cNvGraphicFramePr/>
          <p:nvPr>
            <p:custDataLst>
              <p:tags r:id="rId1"/>
            </p:custDataLst>
          </p:nvPr>
        </p:nvGraphicFramePr>
        <p:xfrm>
          <a:off x="394970" y="1484630"/>
          <a:ext cx="7861300" cy="4935220"/>
        </p:xfrm>
        <a:graphic>
          <a:graphicData uri="http://schemas.openxmlformats.org/drawingml/2006/table">
            <a:tbl>
              <a:tblPr/>
              <a:tblGrid>
                <a:gridCol w="824865"/>
                <a:gridCol w="917575"/>
                <a:gridCol w="6118860"/>
              </a:tblGrid>
              <a:tr h="259715">
                <a:tc>
                  <a:txBody>
                    <a:bodyPr/>
                    <a:p>
                      <a:pPr indent="0" algn="ctr">
                        <a:buNone/>
                      </a:pPr>
                      <a:r>
                        <a:rPr lang="en-US" sz="1700" b="0">
                          <a:latin typeface="宋体" charset="0"/>
                          <a:cs typeface="宋体" charset="0"/>
                        </a:rPr>
                        <a:t>偏移</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700" b="0">
                          <a:latin typeface="宋体" charset="0"/>
                          <a:cs typeface="宋体" charset="0"/>
                        </a:rPr>
                        <a:t>长度</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700" b="0">
                          <a:latin typeface="宋体" charset="0"/>
                          <a:cs typeface="宋体" charset="0"/>
                        </a:rPr>
                        <a:t>含义</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lgn="ctr">
                        <a:buNone/>
                      </a:pPr>
                      <a:r>
                        <a:rPr lang="en-US" sz="1700" b="0">
                          <a:latin typeface="宋体" charset="0"/>
                          <a:cs typeface="宋体" charset="0"/>
                        </a:rPr>
                        <a:t>0x00</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700" b="0">
                          <a:latin typeface="宋体" charset="0"/>
                          <a:cs typeface="宋体" charset="0"/>
                        </a:rPr>
                        <a:t>4</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700" b="0">
                          <a:latin typeface="宋体" charset="0"/>
                          <a:cs typeface="宋体" charset="0"/>
                        </a:rPr>
                        <a:t>属性类型（如20H、80H等类型）</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lgn="ctr">
                        <a:buNone/>
                      </a:pPr>
                      <a:r>
                        <a:rPr lang="en-US" sz="1700" b="0">
                          <a:latin typeface="宋体" charset="0"/>
                          <a:cs typeface="宋体" charset="0"/>
                        </a:rPr>
                        <a:t>0x04</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700" b="0">
                          <a:latin typeface="宋体" charset="0"/>
                          <a:cs typeface="宋体" charset="0"/>
                        </a:rPr>
                        <a:t>4</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700" b="0">
                          <a:latin typeface="宋体" charset="0"/>
                          <a:cs typeface="宋体" charset="0"/>
                        </a:rPr>
                        <a:t>包括属性头在内的本属性的长度（字节）</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lgn="ctr">
                        <a:buNone/>
                      </a:pPr>
                      <a:r>
                        <a:rPr lang="en-US" sz="1700" b="0">
                          <a:latin typeface="宋体" charset="0"/>
                          <a:cs typeface="宋体" charset="0"/>
                        </a:rPr>
                        <a:t>0x08</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700" b="0">
                          <a:latin typeface="宋体" charset="0"/>
                          <a:cs typeface="宋体" charset="0"/>
                        </a:rPr>
                        <a:t>1</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700" b="0">
                          <a:latin typeface="宋体" charset="0"/>
                          <a:cs typeface="宋体" charset="0"/>
                        </a:rPr>
                        <a:t>是否为常驻属性（为01表示该属性为非常驻属性）</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60350">
                <a:tc>
                  <a:txBody>
                    <a:bodyPr/>
                    <a:p>
                      <a:pPr indent="0" algn="ctr">
                        <a:buNone/>
                      </a:pPr>
                      <a:r>
                        <a:rPr lang="en-US" sz="1700" b="0">
                          <a:latin typeface="宋体" charset="0"/>
                          <a:cs typeface="宋体" charset="0"/>
                        </a:rPr>
                        <a:t>0x09</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700" b="0">
                          <a:latin typeface="宋体" charset="0"/>
                          <a:cs typeface="宋体" charset="0"/>
                        </a:rPr>
                        <a:t>1</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700" b="0">
                          <a:latin typeface="宋体" charset="0"/>
                          <a:cs typeface="宋体" charset="0"/>
                        </a:rPr>
                        <a:t>属性名长度（为0表示没有属性名）</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080">
                <a:tc>
                  <a:txBody>
                    <a:bodyPr/>
                    <a:p>
                      <a:pPr indent="0" algn="ctr">
                        <a:buNone/>
                      </a:pPr>
                      <a:r>
                        <a:rPr lang="en-US" sz="1700" b="0">
                          <a:latin typeface="宋体" charset="0"/>
                          <a:cs typeface="宋体" charset="0"/>
                        </a:rPr>
                        <a:t>0x0A</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700" b="0">
                          <a:latin typeface="宋体" charset="0"/>
                          <a:cs typeface="宋体" charset="0"/>
                        </a:rPr>
                        <a:t>2</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700" b="0">
                          <a:latin typeface="宋体" charset="0"/>
                          <a:cs typeface="宋体" charset="0"/>
                        </a:rPr>
                        <a:t>属性名开始的偏移（没有属性名）</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lgn="ctr">
                        <a:buNone/>
                      </a:pPr>
                      <a:r>
                        <a:rPr lang="en-US" sz="1700" b="0">
                          <a:latin typeface="宋体" charset="0"/>
                          <a:cs typeface="宋体" charset="0"/>
                        </a:rPr>
                        <a:t>0x0C</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700" b="0">
                          <a:latin typeface="宋体" charset="0"/>
                          <a:cs typeface="宋体" charset="0"/>
                        </a:rPr>
                        <a:t>2</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700" b="0">
                          <a:latin typeface="宋体" charset="0"/>
                          <a:cs typeface="宋体" charset="0"/>
                        </a:rPr>
                        <a:t>压缩、加密、稀疏标志</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60350">
                <a:tc>
                  <a:txBody>
                    <a:bodyPr/>
                    <a:p>
                      <a:pPr indent="0" algn="ctr">
                        <a:buNone/>
                      </a:pPr>
                      <a:r>
                        <a:rPr lang="en-US" sz="1700" b="0">
                          <a:latin typeface="宋体" charset="0"/>
                          <a:cs typeface="宋体" charset="0"/>
                        </a:rPr>
                        <a:t>0x0E</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700" b="0">
                          <a:latin typeface="宋体" charset="0"/>
                          <a:cs typeface="宋体" charset="0"/>
                        </a:rPr>
                        <a:t>2</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700" b="0">
                          <a:latin typeface="宋体" charset="0"/>
                          <a:cs typeface="宋体" charset="0"/>
                        </a:rPr>
                        <a:t>属性ID</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lgn="ctr">
                        <a:buNone/>
                      </a:pPr>
                      <a:r>
                        <a:rPr lang="en-US" sz="1700" b="0">
                          <a:latin typeface="宋体" charset="0"/>
                          <a:cs typeface="宋体" charset="0"/>
                        </a:rPr>
                        <a:t>0x10</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700" b="0">
                          <a:latin typeface="宋体" charset="0"/>
                          <a:cs typeface="宋体" charset="0"/>
                        </a:rPr>
                        <a:t>8</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700" b="0">
                          <a:latin typeface="宋体" charset="0"/>
                          <a:cs typeface="宋体" charset="0"/>
                        </a:rPr>
                        <a:t>属性体的起始虚拟簇号（VCN）</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080">
                <a:tc>
                  <a:txBody>
                    <a:bodyPr/>
                    <a:p>
                      <a:pPr indent="0" algn="ctr">
                        <a:buNone/>
                      </a:pPr>
                      <a:r>
                        <a:rPr lang="en-US" sz="1700" b="0">
                          <a:latin typeface="宋体" charset="0"/>
                          <a:cs typeface="宋体" charset="0"/>
                        </a:rPr>
                        <a:t>0x18</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700" b="0">
                          <a:latin typeface="宋体" charset="0"/>
                          <a:cs typeface="宋体" charset="0"/>
                        </a:rPr>
                        <a:t>8</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700" b="0">
                          <a:latin typeface="宋体" charset="0"/>
                          <a:cs typeface="宋体" charset="0"/>
                        </a:rPr>
                        <a:t>属性体的结束虚拟簇号</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20065">
                <a:tc>
                  <a:txBody>
                    <a:bodyPr/>
                    <a:p>
                      <a:pPr indent="0" algn="ctr">
                        <a:buNone/>
                      </a:pPr>
                      <a:r>
                        <a:rPr lang="en-US" sz="1700" b="0">
                          <a:latin typeface="宋体" charset="0"/>
                          <a:cs typeface="宋体" charset="0"/>
                        </a:rPr>
                        <a:t>0x20</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700" b="0">
                          <a:latin typeface="宋体" charset="0"/>
                          <a:cs typeface="宋体" charset="0"/>
                        </a:rPr>
                        <a:t>2</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700" b="0">
                          <a:latin typeface="宋体" charset="0"/>
                          <a:cs typeface="宋体" charset="0"/>
                        </a:rPr>
                        <a:t>Run List（Run即Data Run，是一个在逻辑簇号上连续的区域，它是不存储在MFT中的数据）信息的偏移地址</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lgn="ctr">
                        <a:buNone/>
                      </a:pPr>
                      <a:r>
                        <a:rPr lang="en-US" sz="1700" b="0">
                          <a:latin typeface="宋体" charset="0"/>
                          <a:cs typeface="宋体" charset="0"/>
                        </a:rPr>
                        <a:t>0x22</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700" b="0">
                          <a:latin typeface="宋体" charset="0"/>
                          <a:cs typeface="宋体" charset="0"/>
                        </a:rPr>
                        <a:t>2</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700" b="0">
                          <a:latin typeface="宋体" charset="0"/>
                          <a:cs typeface="宋体" charset="0"/>
                        </a:rPr>
                        <a:t>压缩单位大小（2x簇，如果为0表示未压缩）</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080">
                <a:tc>
                  <a:txBody>
                    <a:bodyPr/>
                    <a:p>
                      <a:pPr indent="0" algn="ctr">
                        <a:buNone/>
                      </a:pPr>
                      <a:r>
                        <a:rPr lang="en-US" sz="1700" b="0">
                          <a:latin typeface="宋体" charset="0"/>
                          <a:cs typeface="宋体" charset="0"/>
                        </a:rPr>
                        <a:t>0x24</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700" b="0">
                          <a:latin typeface="宋体" charset="0"/>
                          <a:cs typeface="宋体" charset="0"/>
                        </a:rPr>
                        <a:t>4</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700" b="0">
                          <a:latin typeface="宋体" charset="0"/>
                          <a:cs typeface="宋体" charset="0"/>
                        </a:rPr>
                        <a:t>无意义</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20065">
                <a:tc>
                  <a:txBody>
                    <a:bodyPr/>
                    <a:p>
                      <a:pPr indent="0" algn="ctr">
                        <a:buNone/>
                      </a:pPr>
                      <a:r>
                        <a:rPr lang="en-US" sz="1700" b="0">
                          <a:latin typeface="宋体" charset="0"/>
                          <a:cs typeface="宋体" charset="0"/>
                        </a:rPr>
                        <a:t>0x28</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700" b="0">
                          <a:latin typeface="宋体" charset="0"/>
                          <a:cs typeface="宋体" charset="0"/>
                        </a:rPr>
                        <a:t>8</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700" b="0">
                          <a:latin typeface="宋体" charset="0"/>
                          <a:cs typeface="宋体" charset="0"/>
                        </a:rPr>
                        <a:t>属性体的分配大小［该属性体占的大小，这个属性体大小是该属性体所有的簇所占的空间大小（字节）］</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lgn="ctr">
                        <a:buNone/>
                      </a:pPr>
                      <a:r>
                        <a:rPr lang="en-US" sz="1700" b="0">
                          <a:latin typeface="宋体" charset="0"/>
                          <a:cs typeface="宋体" charset="0"/>
                        </a:rPr>
                        <a:t>0x30</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700" b="0">
                          <a:latin typeface="宋体" charset="0"/>
                          <a:cs typeface="宋体" charset="0"/>
                        </a:rPr>
                        <a:t>8</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700" b="0">
                          <a:latin typeface="宋体" charset="0"/>
                          <a:cs typeface="宋体" charset="0"/>
                        </a:rPr>
                        <a:t>属性体的实际大小（因为属性体长度不一定正好占满所有簇）</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lgn="ctr">
                        <a:buNone/>
                      </a:pPr>
                      <a:r>
                        <a:rPr lang="en-US" sz="1700" b="0">
                          <a:latin typeface="宋体" charset="0"/>
                          <a:cs typeface="宋体" charset="0"/>
                        </a:rPr>
                        <a:t>0x38</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700" b="0">
                          <a:latin typeface="宋体" charset="0"/>
                          <a:cs typeface="宋体" charset="0"/>
                        </a:rPr>
                        <a:t>8</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700" b="0">
                          <a:latin typeface="宋体" charset="0"/>
                          <a:cs typeface="宋体" charset="0"/>
                        </a:rPr>
                        <a:t>属性体的初始大小</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p>
                      <a:pPr indent="0" algn="ctr">
                        <a:buNone/>
                      </a:pPr>
                      <a:r>
                        <a:rPr lang="en-US" sz="1700" b="0">
                          <a:latin typeface="宋体" charset="0"/>
                          <a:cs typeface="宋体" charset="0"/>
                        </a:rPr>
                        <a:t>0x40</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700" b="0">
                          <a:latin typeface="宋体" charset="0"/>
                          <a:cs typeface="宋体" charset="0"/>
                        </a:rPr>
                        <a:t> </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700" b="0">
                          <a:latin typeface="宋体" charset="0"/>
                          <a:cs typeface="宋体" charset="0"/>
                        </a:rPr>
                        <a:t>属性的Run List信息，它记录了属性体开始的簇号、簇数等信息</a:t>
                      </a:r>
                      <a:endParaRPr lang="en-US" altLang="en-US" sz="17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非常驻有属性名的属性头结构</a:t>
            </a:r>
            <a:endParaRPr lang="zh-CN" altLang="en-US"/>
          </a:p>
        </p:txBody>
      </p:sp>
      <p:graphicFrame>
        <p:nvGraphicFramePr>
          <p:cNvPr id="4" name="表格 3"/>
          <p:cNvGraphicFramePr/>
          <p:nvPr>
            <p:custDataLst>
              <p:tags r:id="rId1"/>
            </p:custDataLst>
          </p:nvPr>
        </p:nvGraphicFramePr>
        <p:xfrm>
          <a:off x="394970" y="1435100"/>
          <a:ext cx="7907655" cy="4999990"/>
        </p:xfrm>
        <a:graphic>
          <a:graphicData uri="http://schemas.openxmlformats.org/drawingml/2006/table">
            <a:tbl>
              <a:tblPr/>
              <a:tblGrid>
                <a:gridCol w="953770"/>
                <a:gridCol w="641985"/>
                <a:gridCol w="6311900"/>
              </a:tblGrid>
              <a:tr h="250190">
                <a:tc>
                  <a:txBody>
                    <a:bodyPr/>
                    <a:p>
                      <a:pPr indent="0" algn="ctr">
                        <a:buNone/>
                      </a:pPr>
                      <a:r>
                        <a:rPr lang="en-US" sz="1600" b="0">
                          <a:latin typeface="宋体" charset="0"/>
                          <a:cs typeface="宋体" charset="0"/>
                        </a:rPr>
                        <a:t>偏移</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charset="0"/>
                          <a:cs typeface="宋体" charset="0"/>
                        </a:rPr>
                        <a:t>长度</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charset="0"/>
                          <a:cs typeface="宋体" charset="0"/>
                        </a:rPr>
                        <a:t>含义</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9555">
                <a:tc>
                  <a:txBody>
                    <a:bodyPr/>
                    <a:p>
                      <a:pPr indent="0" algn="ctr">
                        <a:buNone/>
                      </a:pPr>
                      <a:r>
                        <a:rPr lang="en-US" sz="1600" b="0">
                          <a:latin typeface="宋体" charset="0"/>
                          <a:cs typeface="宋体" charset="0"/>
                        </a:rPr>
                        <a:t>0x00</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charset="0"/>
                          <a:cs typeface="宋体" charset="0"/>
                        </a:rPr>
                        <a:t>4</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charset="0"/>
                          <a:cs typeface="宋体" charset="0"/>
                        </a:rPr>
                        <a:t>属性类型（如80H、A0H等类型）</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0825">
                <a:tc>
                  <a:txBody>
                    <a:bodyPr/>
                    <a:p>
                      <a:pPr indent="0" algn="ctr">
                        <a:buNone/>
                      </a:pPr>
                      <a:r>
                        <a:rPr lang="en-US" sz="1600" b="0">
                          <a:latin typeface="宋体" charset="0"/>
                          <a:cs typeface="宋体" charset="0"/>
                        </a:rPr>
                        <a:t>0x04</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charset="0"/>
                          <a:cs typeface="宋体" charset="0"/>
                        </a:rPr>
                        <a:t>4</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charset="0"/>
                          <a:cs typeface="宋体" charset="0"/>
                        </a:rPr>
                        <a:t>包括属性头在内的本属性的长度（字节）</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9555">
                <a:tc>
                  <a:txBody>
                    <a:bodyPr/>
                    <a:p>
                      <a:pPr indent="0" algn="ctr">
                        <a:buNone/>
                      </a:pPr>
                      <a:r>
                        <a:rPr lang="en-US" sz="1600" b="0">
                          <a:latin typeface="宋体" charset="0"/>
                          <a:cs typeface="宋体" charset="0"/>
                        </a:rPr>
                        <a:t>0x08</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charset="0"/>
                          <a:cs typeface="宋体" charset="0"/>
                        </a:rPr>
                        <a:t>1</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charset="0"/>
                          <a:cs typeface="宋体" charset="0"/>
                        </a:rPr>
                        <a:t>是否为常驻属性（为01表示该属性为非常驻属性）</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0190">
                <a:tc>
                  <a:txBody>
                    <a:bodyPr/>
                    <a:p>
                      <a:pPr indent="0" algn="ctr">
                        <a:buNone/>
                      </a:pPr>
                      <a:r>
                        <a:rPr lang="en-US" sz="1600" b="0">
                          <a:latin typeface="宋体" charset="0"/>
                          <a:cs typeface="宋体" charset="0"/>
                        </a:rPr>
                        <a:t>0x09</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charset="0"/>
                          <a:cs typeface="宋体" charset="0"/>
                        </a:rPr>
                        <a:t>1</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charset="0"/>
                          <a:cs typeface="宋体" charset="0"/>
                        </a:rPr>
                        <a:t>属性名长度（N）</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9555">
                <a:tc>
                  <a:txBody>
                    <a:bodyPr/>
                    <a:p>
                      <a:pPr indent="0" algn="ctr">
                        <a:buNone/>
                      </a:pPr>
                      <a:r>
                        <a:rPr lang="en-US" sz="1600" b="0">
                          <a:latin typeface="宋体" charset="0"/>
                          <a:cs typeface="宋体" charset="0"/>
                        </a:rPr>
                        <a:t>0x0A</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charset="0"/>
                          <a:cs typeface="宋体" charset="0"/>
                        </a:rPr>
                        <a:t>2</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charset="0"/>
                          <a:cs typeface="宋体" charset="0"/>
                        </a:rPr>
                        <a:t>属性名开始的偏移</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9555">
                <a:tc>
                  <a:txBody>
                    <a:bodyPr/>
                    <a:p>
                      <a:pPr indent="0" algn="ctr">
                        <a:buNone/>
                      </a:pPr>
                      <a:r>
                        <a:rPr lang="en-US" sz="1600" b="0">
                          <a:latin typeface="宋体" charset="0"/>
                          <a:cs typeface="宋体" charset="0"/>
                        </a:rPr>
                        <a:t>0x0C</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charset="0"/>
                          <a:cs typeface="宋体" charset="0"/>
                        </a:rPr>
                        <a:t>2</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charset="0"/>
                          <a:cs typeface="宋体" charset="0"/>
                        </a:rPr>
                        <a:t>压缩、加密、稀疏标志</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0825">
                <a:tc>
                  <a:txBody>
                    <a:bodyPr/>
                    <a:p>
                      <a:pPr indent="0" algn="ctr">
                        <a:buNone/>
                      </a:pPr>
                      <a:r>
                        <a:rPr lang="en-US" sz="1600" b="0">
                          <a:latin typeface="宋体" charset="0"/>
                          <a:cs typeface="宋体" charset="0"/>
                        </a:rPr>
                        <a:t>0x0E</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charset="0"/>
                          <a:cs typeface="宋体" charset="0"/>
                        </a:rPr>
                        <a:t>2</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charset="0"/>
                          <a:cs typeface="宋体" charset="0"/>
                        </a:rPr>
                        <a:t>属性ID</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9555">
                <a:tc>
                  <a:txBody>
                    <a:bodyPr/>
                    <a:p>
                      <a:pPr indent="0" algn="ctr">
                        <a:buNone/>
                      </a:pPr>
                      <a:r>
                        <a:rPr lang="en-US" sz="1600" b="0">
                          <a:latin typeface="宋体" charset="0"/>
                          <a:cs typeface="宋体" charset="0"/>
                        </a:rPr>
                        <a:t>0x10</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charset="0"/>
                          <a:cs typeface="宋体" charset="0"/>
                        </a:rPr>
                        <a:t>8</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charset="0"/>
                          <a:cs typeface="宋体" charset="0"/>
                        </a:rPr>
                        <a:t>属性体的起始虚拟簇号（VCN）</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0190">
                <a:tc>
                  <a:txBody>
                    <a:bodyPr/>
                    <a:p>
                      <a:pPr indent="0" algn="ctr">
                        <a:buNone/>
                      </a:pPr>
                      <a:r>
                        <a:rPr lang="en-US" sz="1600" b="0">
                          <a:latin typeface="宋体" charset="0"/>
                          <a:cs typeface="宋体" charset="0"/>
                        </a:rPr>
                        <a:t>0x18</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charset="0"/>
                          <a:cs typeface="宋体" charset="0"/>
                        </a:rPr>
                        <a:t>8</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charset="0"/>
                          <a:cs typeface="宋体" charset="0"/>
                        </a:rPr>
                        <a:t>属性体的结束虚拟簇号</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99745">
                <a:tc>
                  <a:txBody>
                    <a:bodyPr/>
                    <a:p>
                      <a:pPr indent="0" algn="ctr">
                        <a:buNone/>
                      </a:pPr>
                      <a:r>
                        <a:rPr lang="en-US" sz="1600" b="0">
                          <a:latin typeface="宋体" charset="0"/>
                          <a:cs typeface="宋体" charset="0"/>
                        </a:rPr>
                        <a:t>0x20</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charset="0"/>
                          <a:cs typeface="宋体" charset="0"/>
                        </a:rPr>
                        <a:t>2</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charset="0"/>
                          <a:cs typeface="宋体" charset="0"/>
                        </a:rPr>
                        <a:t>Run List（Run即Data Run，是一个在逻辑簇号上连续的区域，它是不存储在MFT中的数据）信息的偏移地址</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0825">
                <a:tc>
                  <a:txBody>
                    <a:bodyPr/>
                    <a:p>
                      <a:pPr indent="0" algn="ctr">
                        <a:buNone/>
                      </a:pPr>
                      <a:r>
                        <a:rPr lang="en-US" sz="1600" b="0">
                          <a:latin typeface="宋体" charset="0"/>
                          <a:cs typeface="宋体" charset="0"/>
                        </a:rPr>
                        <a:t>0x22</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charset="0"/>
                          <a:cs typeface="宋体" charset="0"/>
                        </a:rPr>
                        <a:t>2</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charset="0"/>
                          <a:cs typeface="宋体" charset="0"/>
                        </a:rPr>
                        <a:t>压缩单位大小（2x簇，如果为0表示未压缩）</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9555">
                <a:tc>
                  <a:txBody>
                    <a:bodyPr/>
                    <a:p>
                      <a:pPr indent="0" algn="ctr">
                        <a:buNone/>
                      </a:pPr>
                      <a:r>
                        <a:rPr lang="en-US" sz="1600" b="0">
                          <a:latin typeface="宋体" charset="0"/>
                          <a:cs typeface="宋体" charset="0"/>
                        </a:rPr>
                        <a:t>0x24</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charset="0"/>
                          <a:cs typeface="宋体" charset="0"/>
                        </a:rPr>
                        <a:t>4</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charset="0"/>
                          <a:cs typeface="宋体" charset="0"/>
                        </a:rPr>
                        <a:t>无意义</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99745">
                <a:tc>
                  <a:txBody>
                    <a:bodyPr/>
                    <a:p>
                      <a:pPr indent="0" algn="ctr">
                        <a:buNone/>
                      </a:pPr>
                      <a:r>
                        <a:rPr lang="en-US" sz="1600" b="0">
                          <a:latin typeface="宋体" charset="0"/>
                          <a:cs typeface="宋体" charset="0"/>
                        </a:rPr>
                        <a:t>0x28</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charset="0"/>
                          <a:cs typeface="宋体" charset="0"/>
                        </a:rPr>
                        <a:t>8</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charset="0"/>
                          <a:cs typeface="宋体" charset="0"/>
                        </a:rPr>
                        <a:t>属性体的分配大小［该属性体占的大小，这个属性体大小是该属性体所有的簇所占的空间大小（字节）］</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9555">
                <a:tc>
                  <a:txBody>
                    <a:bodyPr/>
                    <a:p>
                      <a:pPr indent="0" algn="ctr">
                        <a:buNone/>
                      </a:pPr>
                      <a:r>
                        <a:rPr lang="en-US" sz="1600" b="0">
                          <a:latin typeface="宋体" charset="0"/>
                          <a:cs typeface="宋体" charset="0"/>
                        </a:rPr>
                        <a:t>0x30</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charset="0"/>
                          <a:cs typeface="宋体" charset="0"/>
                        </a:rPr>
                        <a:t>8</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charset="0"/>
                          <a:cs typeface="宋体" charset="0"/>
                        </a:rPr>
                        <a:t>属性体的实际大小（因为属性体长度不一定正好占满所有簇）</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0825">
                <a:tc>
                  <a:txBody>
                    <a:bodyPr/>
                    <a:p>
                      <a:pPr indent="0" algn="ctr">
                        <a:buNone/>
                      </a:pPr>
                      <a:r>
                        <a:rPr lang="en-US" sz="1600" b="0">
                          <a:latin typeface="宋体" charset="0"/>
                          <a:cs typeface="宋体" charset="0"/>
                        </a:rPr>
                        <a:t>0x38</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charset="0"/>
                          <a:cs typeface="宋体" charset="0"/>
                        </a:rPr>
                        <a:t>8</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charset="0"/>
                          <a:cs typeface="宋体" charset="0"/>
                        </a:rPr>
                        <a:t>属性体的初始大小</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9555">
                <a:tc>
                  <a:txBody>
                    <a:bodyPr/>
                    <a:p>
                      <a:pPr indent="0" algn="ctr">
                        <a:buNone/>
                      </a:pPr>
                      <a:r>
                        <a:rPr lang="en-US" sz="1600" b="0">
                          <a:latin typeface="宋体" charset="0"/>
                          <a:cs typeface="宋体" charset="0"/>
                        </a:rPr>
                        <a:t>0x40</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charset="0"/>
                          <a:cs typeface="宋体" charset="0"/>
                        </a:rPr>
                        <a:t>2N</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charset="0"/>
                          <a:cs typeface="宋体" charset="0"/>
                        </a:rPr>
                        <a:t>该属性的属性名</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0190">
                <a:tc>
                  <a:txBody>
                    <a:bodyPr/>
                    <a:p>
                      <a:pPr indent="0" algn="ctr">
                        <a:buNone/>
                      </a:pPr>
                      <a:r>
                        <a:rPr lang="en-US" sz="1600" b="0">
                          <a:latin typeface="宋体" charset="0"/>
                          <a:cs typeface="宋体" charset="0"/>
                        </a:rPr>
                        <a:t>2N＋0x40</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charset="0"/>
                          <a:cs typeface="宋体" charset="0"/>
                        </a:rPr>
                        <a:t> </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charset="0"/>
                          <a:cs typeface="宋体" charset="0"/>
                        </a:rPr>
                        <a:t>属性的Run List信息，它记录了属性体开始的簇号、簇数等信息</a:t>
                      </a:r>
                      <a:endParaRPr lang="en-US" altLang="en-US" sz="16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标题 1"/>
          <p:cNvSpPr>
            <a:spLocks noGrp="1"/>
          </p:cNvSpPr>
          <p:nvPr>
            <p:ph type="title"/>
          </p:nvPr>
        </p:nvSpPr>
        <p:spPr/>
        <p:txBody>
          <a:bodyPr anchor="t" anchorCtr="0"/>
          <a:p>
            <a:r>
              <a:rPr lang="zh-CN" altLang="en-US">
                <a:sym typeface="+mn-ea"/>
              </a:rPr>
              <a:t>10H</a:t>
            </a:r>
            <a:r>
              <a:rPr lang="zh-CN" altLang="en-US">
                <a:sym typeface="+mn-ea"/>
              </a:rPr>
              <a:t>属性分析</a:t>
            </a:r>
            <a:endParaRPr lang="en-US" altLang="zh-CN"/>
          </a:p>
        </p:txBody>
      </p:sp>
      <p:sp>
        <p:nvSpPr>
          <p:cNvPr id="99330" name="内容占位符 2"/>
          <p:cNvSpPr>
            <a:spLocks noGrp="1"/>
          </p:cNvSpPr>
          <p:nvPr>
            <p:ph idx="1"/>
          </p:nvPr>
        </p:nvSpPr>
        <p:spPr/>
        <p:txBody>
          <a:bodyPr anchor="t" anchorCtr="0"/>
          <a:p>
            <a:r>
              <a:rPr lang="zh-CN" altLang="en-US"/>
              <a:t>（$STANDARD_INFORMATION）</a:t>
            </a:r>
            <a:endParaRPr lang="zh-CN" altLang="en-US"/>
          </a:p>
          <a:p>
            <a:pPr lvl="1" indent="-325120"/>
            <a:r>
              <a:rPr lang="zh-CN" altLang="en-US"/>
              <a:t>它包含文件的一些基本信息，如文件的传统属性、文件的创建时间和最后修改时间、有多少目录指向该文件（即其硬连接数）等</a:t>
            </a:r>
            <a:endParaRPr lang="zh-CN" altLang="en-US"/>
          </a:p>
          <a:p>
            <a:pPr lvl="1" indent="-325120"/>
            <a:r>
              <a:t>文件时间用长达64位来表示文件的某种时间（含日期），而在FAT文件系统中只用了32位来表示文件的时间和日期</a:t>
            </a:r>
          </a:p>
          <a:p>
            <a:pPr lvl="1" indent="-325120"/>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10H属性分析</a:t>
            </a:r>
            <a:endParaRPr lang="en-US" altLang="zh-CN"/>
          </a:p>
        </p:txBody>
      </p:sp>
      <p:graphicFrame>
        <p:nvGraphicFramePr>
          <p:cNvPr id="5" name="表格 4"/>
          <p:cNvGraphicFramePr/>
          <p:nvPr>
            <p:custDataLst>
              <p:tags r:id="rId1"/>
            </p:custDataLst>
          </p:nvPr>
        </p:nvGraphicFramePr>
        <p:xfrm>
          <a:off x="394970" y="1484630"/>
          <a:ext cx="8007985" cy="4582795"/>
        </p:xfrm>
        <a:graphic>
          <a:graphicData uri="http://schemas.openxmlformats.org/drawingml/2006/table">
            <a:tbl>
              <a:tblPr/>
              <a:tblGrid>
                <a:gridCol w="836930"/>
                <a:gridCol w="848995"/>
                <a:gridCol w="6322060"/>
              </a:tblGrid>
              <a:tr h="269875">
                <a:tc>
                  <a:txBody>
                    <a:bodyPr/>
                    <a:p>
                      <a:pPr indent="0" algn="ctr">
                        <a:buNone/>
                      </a:pPr>
                      <a:r>
                        <a:rPr lang="en-US" sz="1600" b="0">
                          <a:latin typeface="宋体" pitchFamily="2" charset="-122"/>
                          <a:ea typeface="宋体" pitchFamily="2" charset="-122"/>
                          <a:cs typeface="宋体" pitchFamily="2" charset="-122"/>
                        </a:rPr>
                        <a:t>偏移</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itchFamily="2" charset="-122"/>
                          <a:ea typeface="宋体" pitchFamily="2" charset="-122"/>
                          <a:cs typeface="宋体" pitchFamily="2" charset="-122"/>
                        </a:rPr>
                        <a:t>长度</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pitchFamily="2" charset="-122"/>
                          <a:ea typeface="宋体" pitchFamily="2" charset="-122"/>
                          <a:cs typeface="宋体" pitchFamily="2" charset="-122"/>
                        </a:rPr>
                        <a:t>描述</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69240">
                <a:tc>
                  <a:txBody>
                    <a:bodyPr/>
                    <a:p>
                      <a:pPr indent="0" algn="ctr">
                        <a:buNone/>
                      </a:pPr>
                      <a:r>
                        <a:rPr lang="en-US" sz="1600" b="0">
                          <a:latin typeface="宋体" pitchFamily="2" charset="-122"/>
                          <a:ea typeface="宋体" pitchFamily="2" charset="-122"/>
                          <a:cs typeface="宋体" pitchFamily="2" charset="-122"/>
                        </a:rPr>
                        <a:t>0x00</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itchFamily="2" charset="-122"/>
                          <a:ea typeface="宋体" pitchFamily="2" charset="-122"/>
                          <a:cs typeface="宋体" pitchFamily="2" charset="-122"/>
                        </a:rPr>
                        <a:t>8</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pitchFamily="2" charset="-122"/>
                          <a:ea typeface="宋体" pitchFamily="2" charset="-122"/>
                          <a:cs typeface="宋体" pitchFamily="2" charset="-122"/>
                        </a:rPr>
                        <a:t>C TIME 文件创建时间</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69875">
                <a:tc>
                  <a:txBody>
                    <a:bodyPr/>
                    <a:p>
                      <a:pPr indent="0" algn="ctr">
                        <a:buNone/>
                      </a:pPr>
                      <a:r>
                        <a:rPr lang="en-US" sz="1600" b="0">
                          <a:latin typeface="宋体" pitchFamily="2" charset="-122"/>
                          <a:ea typeface="宋体" pitchFamily="2" charset="-122"/>
                          <a:cs typeface="宋体" pitchFamily="2" charset="-122"/>
                        </a:rPr>
                        <a:t>0x08</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itchFamily="2" charset="-122"/>
                          <a:ea typeface="宋体" pitchFamily="2" charset="-122"/>
                          <a:cs typeface="宋体" pitchFamily="2" charset="-122"/>
                        </a:rPr>
                        <a:t>8</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pitchFamily="2" charset="-122"/>
                          <a:ea typeface="宋体" pitchFamily="2" charset="-122"/>
                          <a:cs typeface="宋体" pitchFamily="2" charset="-122"/>
                        </a:rPr>
                        <a:t>A TIME 文件修改时间</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69240">
                <a:tc>
                  <a:txBody>
                    <a:bodyPr/>
                    <a:p>
                      <a:pPr indent="0" algn="ctr">
                        <a:buNone/>
                      </a:pPr>
                      <a:r>
                        <a:rPr lang="en-US" sz="1600" b="0">
                          <a:latin typeface="宋体" pitchFamily="2" charset="-122"/>
                          <a:ea typeface="宋体" pitchFamily="2" charset="-122"/>
                          <a:cs typeface="宋体" pitchFamily="2" charset="-122"/>
                        </a:rPr>
                        <a:t>0x10</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itchFamily="2" charset="-122"/>
                          <a:ea typeface="宋体" pitchFamily="2" charset="-122"/>
                          <a:cs typeface="宋体" pitchFamily="2" charset="-122"/>
                        </a:rPr>
                        <a:t>8</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pitchFamily="2" charset="-122"/>
                          <a:ea typeface="宋体" pitchFamily="2" charset="-122"/>
                          <a:cs typeface="宋体" pitchFamily="2" charset="-122"/>
                        </a:rPr>
                        <a:t>M TIME MFT变化时间</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69875">
                <a:tc>
                  <a:txBody>
                    <a:bodyPr/>
                    <a:p>
                      <a:pPr indent="0" algn="ctr">
                        <a:buNone/>
                      </a:pPr>
                      <a:r>
                        <a:rPr lang="en-US" sz="1600" b="0">
                          <a:latin typeface="宋体" pitchFamily="2" charset="-122"/>
                          <a:ea typeface="宋体" pitchFamily="2" charset="-122"/>
                          <a:cs typeface="宋体" pitchFamily="2" charset="-122"/>
                        </a:rPr>
                        <a:t>0x18</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itchFamily="2" charset="-122"/>
                          <a:ea typeface="宋体" pitchFamily="2" charset="-122"/>
                          <a:cs typeface="宋体" pitchFamily="2" charset="-122"/>
                        </a:rPr>
                        <a:t>8</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pitchFamily="2" charset="-122"/>
                          <a:ea typeface="宋体" pitchFamily="2" charset="-122"/>
                          <a:cs typeface="宋体" pitchFamily="2" charset="-122"/>
                        </a:rPr>
                        <a:t>R TIME 文件访问时间</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69240">
                <a:tc>
                  <a:txBody>
                    <a:bodyPr/>
                    <a:p>
                      <a:pPr indent="0" algn="ctr">
                        <a:buNone/>
                      </a:pPr>
                      <a:r>
                        <a:rPr lang="en-US" sz="1600" b="0">
                          <a:latin typeface="宋体" pitchFamily="2" charset="-122"/>
                          <a:ea typeface="宋体" pitchFamily="2" charset="-122"/>
                          <a:cs typeface="宋体" pitchFamily="2" charset="-122"/>
                        </a:rPr>
                        <a:t>0x20</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itchFamily="2" charset="-122"/>
                          <a:ea typeface="宋体" pitchFamily="2" charset="-122"/>
                          <a:cs typeface="宋体" pitchFamily="2" charset="-122"/>
                        </a:rPr>
                        <a:t>4</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pitchFamily="2" charset="-122"/>
                          <a:ea typeface="宋体" pitchFamily="2" charset="-122"/>
                          <a:cs typeface="宋体" pitchFamily="2" charset="-122"/>
                        </a:rPr>
                        <a:t>文件属性（按照DOS术语来称呼，都是文件属性）</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69875">
                <a:tc>
                  <a:txBody>
                    <a:bodyPr/>
                    <a:p>
                      <a:pPr indent="0" algn="ctr">
                        <a:buNone/>
                      </a:pPr>
                      <a:r>
                        <a:rPr lang="en-US" sz="1600" b="0">
                          <a:latin typeface="宋体" pitchFamily="2" charset="-122"/>
                          <a:ea typeface="宋体" pitchFamily="2" charset="-122"/>
                          <a:cs typeface="宋体" pitchFamily="2" charset="-122"/>
                        </a:rPr>
                        <a:t>0x24</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itchFamily="2" charset="-122"/>
                          <a:ea typeface="宋体" pitchFamily="2" charset="-122"/>
                          <a:cs typeface="宋体" pitchFamily="2" charset="-122"/>
                        </a:rPr>
                        <a:t>4</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pitchFamily="2" charset="-122"/>
                          <a:ea typeface="宋体" pitchFamily="2" charset="-122"/>
                          <a:cs typeface="宋体" pitchFamily="2" charset="-122"/>
                        </a:rPr>
                        <a:t>文件所允许的最大版本号（0表示未使用）</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69240">
                <a:tc>
                  <a:txBody>
                    <a:bodyPr/>
                    <a:p>
                      <a:pPr indent="0" algn="ctr">
                        <a:buNone/>
                      </a:pPr>
                      <a:r>
                        <a:rPr lang="en-US" sz="1600" b="0">
                          <a:latin typeface="宋体" pitchFamily="2" charset="-122"/>
                          <a:ea typeface="宋体" pitchFamily="2" charset="-122"/>
                          <a:cs typeface="宋体" pitchFamily="2" charset="-122"/>
                        </a:rPr>
                        <a:t>0x28</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itchFamily="2" charset="-122"/>
                          <a:ea typeface="宋体" pitchFamily="2" charset="-122"/>
                          <a:cs typeface="宋体" pitchFamily="2" charset="-122"/>
                        </a:rPr>
                        <a:t>4</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pitchFamily="2" charset="-122"/>
                          <a:ea typeface="宋体" pitchFamily="2" charset="-122"/>
                          <a:cs typeface="宋体" pitchFamily="2" charset="-122"/>
                        </a:rPr>
                        <a:t>文件的版本号（最在版本号为0，则他为0）</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69875">
                <a:tc>
                  <a:txBody>
                    <a:bodyPr/>
                    <a:p>
                      <a:pPr indent="0" algn="ctr">
                        <a:buNone/>
                      </a:pPr>
                      <a:r>
                        <a:rPr lang="en-US" sz="1600" b="0">
                          <a:latin typeface="宋体" pitchFamily="2" charset="-122"/>
                          <a:ea typeface="宋体" pitchFamily="2" charset="-122"/>
                          <a:cs typeface="宋体" pitchFamily="2" charset="-122"/>
                        </a:rPr>
                        <a:t>0x2C</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itchFamily="2" charset="-122"/>
                          <a:ea typeface="宋体" pitchFamily="2" charset="-122"/>
                          <a:cs typeface="宋体" pitchFamily="2" charset="-122"/>
                        </a:rPr>
                        <a:t>4</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pitchFamily="2" charset="-122"/>
                          <a:ea typeface="宋体" pitchFamily="2" charset="-122"/>
                          <a:cs typeface="宋体" pitchFamily="2" charset="-122"/>
                        </a:rPr>
                        <a:t>类ID（一个双向的类索引）</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39115">
                <a:tc>
                  <a:txBody>
                    <a:bodyPr/>
                    <a:p>
                      <a:pPr indent="0" algn="ctr">
                        <a:buNone/>
                      </a:pPr>
                      <a:r>
                        <a:rPr lang="en-US" sz="1600" b="0">
                          <a:latin typeface="宋体" pitchFamily="2" charset="-122"/>
                          <a:ea typeface="宋体" pitchFamily="2" charset="-122"/>
                          <a:cs typeface="宋体" pitchFamily="2" charset="-122"/>
                        </a:rPr>
                        <a:t>0x30</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itchFamily="2" charset="-122"/>
                          <a:ea typeface="宋体" pitchFamily="2" charset="-122"/>
                          <a:cs typeface="宋体" pitchFamily="2" charset="-122"/>
                        </a:rPr>
                        <a:t>4</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pitchFamily="2" charset="-122"/>
                          <a:ea typeface="宋体" pitchFamily="2" charset="-122"/>
                          <a:cs typeface="宋体" pitchFamily="2" charset="-122"/>
                        </a:rPr>
                        <a:t>所有者ID（表示文件的所有者，是文件配额$QUOTA中$O和$Q索引的关键字，为0表示未使用磁盘配额）</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39115">
                <a:tc>
                  <a:txBody>
                    <a:bodyPr/>
                    <a:p>
                      <a:pPr indent="0" algn="ctr">
                        <a:buNone/>
                      </a:pPr>
                      <a:r>
                        <a:rPr lang="en-US" sz="1600" b="0">
                          <a:latin typeface="宋体" pitchFamily="2" charset="-122"/>
                          <a:ea typeface="宋体" pitchFamily="2" charset="-122"/>
                          <a:cs typeface="宋体" pitchFamily="2" charset="-122"/>
                        </a:rPr>
                        <a:t>0x34</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itchFamily="2" charset="-122"/>
                          <a:ea typeface="宋体" pitchFamily="2" charset="-122"/>
                          <a:cs typeface="宋体" pitchFamily="2" charset="-122"/>
                        </a:rPr>
                        <a:t>4</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pitchFamily="2" charset="-122"/>
                          <a:ea typeface="宋体" pitchFamily="2" charset="-122"/>
                          <a:cs typeface="宋体" pitchFamily="2" charset="-122"/>
                        </a:rPr>
                        <a:t>安全ID是文件$SECURE中$SII和$SDS数据流的关键字，注意不要与安全标识相混淆</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39115">
                <a:tc>
                  <a:txBody>
                    <a:bodyPr/>
                    <a:p>
                      <a:pPr indent="0" algn="ctr">
                        <a:buNone/>
                      </a:pPr>
                      <a:r>
                        <a:rPr lang="en-US" sz="1600" b="0">
                          <a:latin typeface="宋体" pitchFamily="2" charset="-122"/>
                          <a:ea typeface="宋体" pitchFamily="2" charset="-122"/>
                          <a:cs typeface="宋体" pitchFamily="2" charset="-122"/>
                        </a:rPr>
                        <a:t>0x38</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itchFamily="2" charset="-122"/>
                          <a:ea typeface="宋体" pitchFamily="2" charset="-122"/>
                          <a:cs typeface="宋体" pitchFamily="2" charset="-122"/>
                        </a:rPr>
                        <a:t>8</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pitchFamily="2" charset="-122"/>
                          <a:ea typeface="宋体" pitchFamily="2" charset="-122"/>
                          <a:cs typeface="宋体" pitchFamily="2" charset="-122"/>
                        </a:rPr>
                        <a:t>本文件所占用的字节数，它是文件所有流占用的总字节数，为0表示未使用磁盘配额</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39115">
                <a:tc>
                  <a:txBody>
                    <a:bodyPr/>
                    <a:p>
                      <a:pPr indent="0" algn="ctr">
                        <a:buNone/>
                      </a:pPr>
                      <a:r>
                        <a:rPr lang="en-US" sz="1600" b="0">
                          <a:latin typeface="宋体" pitchFamily="2" charset="-122"/>
                          <a:ea typeface="宋体" pitchFamily="2" charset="-122"/>
                          <a:cs typeface="宋体" pitchFamily="2" charset="-122"/>
                        </a:rPr>
                        <a:t>0x40</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itchFamily="2" charset="-122"/>
                          <a:ea typeface="宋体" pitchFamily="2" charset="-122"/>
                          <a:cs typeface="宋体" pitchFamily="2" charset="-122"/>
                        </a:rPr>
                        <a:t>8</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pitchFamily="2" charset="-122"/>
                          <a:ea typeface="宋体" pitchFamily="2" charset="-122"/>
                          <a:cs typeface="宋体" pitchFamily="2" charset="-122"/>
                        </a:rPr>
                        <a:t>更新系列号（USN），是到文件$USNJRNL的一个直接的索引，为0表示USN日志未使用</a:t>
                      </a:r>
                      <a:endParaRPr lang="en-US" altLang="en-US" sz="1600" b="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10H属性分析</a:t>
            </a:r>
            <a:endParaRPr lang="en-US" altLang="zh-CN"/>
          </a:p>
        </p:txBody>
      </p:sp>
      <p:sp>
        <p:nvSpPr>
          <p:cNvPr id="3" name="内容占位符 2"/>
          <p:cNvSpPr>
            <a:spLocks noGrp="1"/>
          </p:cNvSpPr>
          <p:nvPr>
            <p:ph idx="1"/>
          </p:nvPr>
        </p:nvSpPr>
        <p:spPr/>
        <p:txBody>
          <a:bodyPr/>
          <a:p>
            <a:r>
              <a:rPr lang="zh-CN" altLang="en-US">
                <a:sym typeface="+mn-ea"/>
              </a:rPr>
              <a:t>传统文件属性</a:t>
            </a:r>
            <a:endParaRPr lang="zh-CN" altLang="en-US"/>
          </a:p>
        </p:txBody>
      </p:sp>
      <p:graphicFrame>
        <p:nvGraphicFramePr>
          <p:cNvPr id="6" name="表格 5"/>
          <p:cNvGraphicFramePr/>
          <p:nvPr>
            <p:custDataLst>
              <p:tags r:id="rId1"/>
            </p:custDataLst>
          </p:nvPr>
        </p:nvGraphicFramePr>
        <p:xfrm>
          <a:off x="467360" y="2205355"/>
          <a:ext cx="8067040" cy="3916045"/>
        </p:xfrm>
        <a:graphic>
          <a:graphicData uri="http://schemas.openxmlformats.org/drawingml/2006/table">
            <a:tbl>
              <a:tblPr/>
              <a:tblGrid>
                <a:gridCol w="2016760"/>
                <a:gridCol w="2016760"/>
                <a:gridCol w="2016760"/>
                <a:gridCol w="2016760"/>
              </a:tblGrid>
              <a:tr h="573405">
                <a:tc>
                  <a:txBody>
                    <a:bodyPr/>
                    <a:p>
                      <a:pPr indent="0" algn="ctr">
                        <a:buNone/>
                      </a:pPr>
                      <a:r>
                        <a:rPr lang="en-US" sz="1800" b="1">
                          <a:solidFill>
                            <a:srgbClr val="4F4F4F"/>
                          </a:solidFill>
                          <a:latin typeface="宋体" pitchFamily="2" charset="-122"/>
                          <a:ea typeface="宋体" pitchFamily="2" charset="-122"/>
                          <a:cs typeface="Arial" panose="020B0604020202090204" pitchFamily="34" charset="0"/>
                        </a:rPr>
                        <a:t>标志</a:t>
                      </a:r>
                      <a:endParaRPr lang="en-US" altLang="en-US" sz="1800" b="1">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a:noFill/>
                    </a:lnR>
                    <a:lnT cap="flat">
                      <a:noFill/>
                    </a:lnT>
                    <a:lnB cap="flat">
                      <a:noFill/>
                    </a:lnB>
                    <a:lnTlToBr>
                      <a:noFill/>
                    </a:lnTlToBr>
                    <a:lnBlToTr>
                      <a:noFill/>
                    </a:lnBlToTr>
                    <a:solidFill>
                      <a:srgbClr val="EFF3F5"/>
                    </a:solidFill>
                  </a:tcPr>
                </a:tc>
                <a:tc>
                  <a:txBody>
                    <a:bodyPr/>
                    <a:p>
                      <a:pPr indent="0" algn="ctr">
                        <a:buNone/>
                      </a:pPr>
                      <a:r>
                        <a:rPr lang="en-US" sz="1800" b="1">
                          <a:solidFill>
                            <a:srgbClr val="4F4F4F"/>
                          </a:solidFill>
                          <a:latin typeface="宋体" pitchFamily="2" charset="-122"/>
                          <a:ea typeface="宋体" pitchFamily="2" charset="-122"/>
                          <a:cs typeface="Arial" panose="020B0604020202090204" pitchFamily="34" charset="0"/>
                        </a:rPr>
                        <a:t>描述</a:t>
                      </a:r>
                      <a:endParaRPr lang="en-US" altLang="en-US" sz="1800" b="1">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a:noFill/>
                    </a:lnR>
                    <a:lnT cap="flat">
                      <a:noFill/>
                    </a:lnT>
                    <a:lnB cap="flat">
                      <a:noFill/>
                    </a:lnB>
                    <a:lnTlToBr>
                      <a:noFill/>
                    </a:lnTlToBr>
                    <a:lnBlToTr>
                      <a:noFill/>
                    </a:lnBlToTr>
                    <a:solidFill>
                      <a:srgbClr val="EFF3F5"/>
                    </a:solidFill>
                  </a:tcPr>
                </a:tc>
                <a:tc>
                  <a:txBody>
                    <a:bodyPr/>
                    <a:p>
                      <a:pPr indent="0" algn="ctr">
                        <a:buNone/>
                      </a:pPr>
                      <a:r>
                        <a:rPr lang="en-US" sz="1800" b="1">
                          <a:solidFill>
                            <a:srgbClr val="4F4F4F"/>
                          </a:solidFill>
                          <a:latin typeface="宋体" pitchFamily="2" charset="-122"/>
                          <a:ea typeface="宋体" pitchFamily="2" charset="-122"/>
                          <a:cs typeface="Arial" panose="020B0604020202090204" pitchFamily="34" charset="0"/>
                        </a:rPr>
                        <a:t>标志</a:t>
                      </a:r>
                      <a:endParaRPr lang="en-US" altLang="en-US" sz="1800" b="1">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a:noFill/>
                    </a:lnR>
                    <a:lnT cap="flat">
                      <a:noFill/>
                    </a:lnT>
                    <a:lnB cap="flat">
                      <a:noFill/>
                    </a:lnB>
                    <a:lnTlToBr>
                      <a:noFill/>
                    </a:lnTlToBr>
                    <a:lnBlToTr>
                      <a:noFill/>
                    </a:lnBlToTr>
                    <a:solidFill>
                      <a:srgbClr val="EFF3F5"/>
                    </a:solidFill>
                  </a:tcPr>
                </a:tc>
                <a:tc>
                  <a:txBody>
                    <a:bodyPr/>
                    <a:p>
                      <a:pPr indent="0" algn="ctr">
                        <a:buNone/>
                      </a:pPr>
                      <a:r>
                        <a:rPr lang="en-US" sz="1800" b="1">
                          <a:solidFill>
                            <a:srgbClr val="4F4F4F"/>
                          </a:solidFill>
                          <a:latin typeface="宋体" pitchFamily="2" charset="-122"/>
                          <a:ea typeface="宋体" pitchFamily="2" charset="-122"/>
                          <a:cs typeface="Arial" panose="020B0604020202090204" pitchFamily="34" charset="0"/>
                        </a:rPr>
                        <a:t>描述</a:t>
                      </a:r>
                      <a:endParaRPr lang="en-US" altLang="en-US" sz="1800" b="1">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cap="flat">
                      <a:noFill/>
                    </a:lnR>
                    <a:lnT cap="flat">
                      <a:noFill/>
                    </a:lnT>
                    <a:lnB cap="flat">
                      <a:noFill/>
                    </a:lnB>
                    <a:lnTlToBr>
                      <a:noFill/>
                    </a:lnTlToBr>
                    <a:lnBlToTr>
                      <a:noFill/>
                    </a:lnBlToTr>
                    <a:solidFill>
                      <a:srgbClr val="EFF3F5"/>
                    </a:solidFill>
                  </a:tcPr>
                </a:tc>
              </a:tr>
              <a:tr h="636905">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0001H</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a:noFill/>
                    </a:lnR>
                    <a:lnT cap="flat">
                      <a:noFill/>
                    </a:lnT>
                    <a:lnB cap="flat">
                      <a:noFill/>
                    </a:lnB>
                    <a:lnTlToBr>
                      <a:noFill/>
                    </a:lnTlToBr>
                    <a:lnBlToTr>
                      <a:noFill/>
                    </a:lnBlToTr>
                    <a:solidFill>
                      <a:srgbClr val="FFFFFF"/>
                    </a:solidFill>
                  </a:tcPr>
                </a:tc>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只读文件</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a:noFill/>
                    </a:lnR>
                    <a:lnT cap="flat">
                      <a:noFill/>
                    </a:lnT>
                    <a:lnB cap="flat">
                      <a:noFill/>
                    </a:lnB>
                    <a:lnTlToBr>
                      <a:noFill/>
                    </a:lnTlToBr>
                    <a:lnBlToTr>
                      <a:noFill/>
                    </a:lnBlToTr>
                    <a:solidFill>
                      <a:srgbClr val="FFFFFF"/>
                    </a:solidFill>
                  </a:tcPr>
                </a:tc>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0200H</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a:noFill/>
                    </a:lnR>
                    <a:lnT cap="flat">
                      <a:noFill/>
                    </a:lnT>
                    <a:lnB cap="flat">
                      <a:noFill/>
                    </a:lnB>
                    <a:lnTlToBr>
                      <a:noFill/>
                    </a:lnTlToBr>
                    <a:lnBlToTr>
                      <a:noFill/>
                    </a:lnBlToTr>
                    <a:solidFill>
                      <a:srgbClr val="FFFFFF"/>
                    </a:solidFill>
                  </a:tcPr>
                </a:tc>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稀疏文件</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cap="flat">
                      <a:noFill/>
                    </a:lnR>
                    <a:lnT cap="flat">
                      <a:noFill/>
                    </a:lnT>
                    <a:lnB cap="flat">
                      <a:noFill/>
                    </a:lnB>
                    <a:lnTlToBr>
                      <a:noFill/>
                    </a:lnTlToBr>
                    <a:lnBlToTr>
                      <a:noFill/>
                    </a:lnBlToTr>
                    <a:solidFill>
                      <a:srgbClr val="FFFFFF"/>
                    </a:solidFill>
                  </a:tcPr>
                </a:tc>
              </a:tr>
              <a:tr h="742950">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0002H</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a:noFill/>
                    </a:lnR>
                    <a:lnT cap="flat">
                      <a:noFill/>
                    </a:lnT>
                    <a:lnB cap="flat">
                      <a:noFill/>
                    </a:lnB>
                    <a:lnTlToBr>
                      <a:noFill/>
                    </a:lnTlToBr>
                    <a:lnBlToTr>
                      <a:noFill/>
                    </a:lnBlToTr>
                    <a:solidFill>
                      <a:srgbClr val="F7F7F7"/>
                    </a:solidFill>
                  </a:tcPr>
                </a:tc>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隐含文件</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a:noFill/>
                    </a:lnR>
                    <a:lnT cap="flat">
                      <a:noFill/>
                    </a:lnT>
                    <a:lnB cap="flat">
                      <a:noFill/>
                    </a:lnB>
                    <a:lnTlToBr>
                      <a:noFill/>
                    </a:lnTlToBr>
                    <a:lnBlToTr>
                      <a:noFill/>
                    </a:lnBlToTr>
                    <a:solidFill>
                      <a:srgbClr val="F7F7F7"/>
                    </a:solidFill>
                  </a:tcPr>
                </a:tc>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0400H</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a:noFill/>
                    </a:lnR>
                    <a:lnT cap="flat">
                      <a:noFill/>
                    </a:lnT>
                    <a:lnB cap="flat">
                      <a:noFill/>
                    </a:lnB>
                    <a:lnTlToBr>
                      <a:noFill/>
                    </a:lnTlToBr>
                    <a:lnBlToTr>
                      <a:noFill/>
                    </a:lnBlToTr>
                    <a:solidFill>
                      <a:srgbClr val="F7F7F7"/>
                    </a:solidFill>
                  </a:tcPr>
                </a:tc>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重点解析文件</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cap="flat">
                      <a:noFill/>
                    </a:lnR>
                    <a:lnT cap="flat">
                      <a:noFill/>
                    </a:lnT>
                    <a:lnB cap="flat">
                      <a:noFill/>
                    </a:lnB>
                    <a:lnTlToBr>
                      <a:noFill/>
                    </a:lnTlToBr>
                    <a:lnBlToTr>
                      <a:noFill/>
                    </a:lnBlToTr>
                    <a:solidFill>
                      <a:srgbClr val="F7F7F7"/>
                    </a:solidFill>
                  </a:tcPr>
                </a:tc>
              </a:tr>
              <a:tr h="439420">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0004H</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a:noFill/>
                    </a:lnR>
                    <a:lnT cap="flat">
                      <a:noFill/>
                    </a:lnT>
                    <a:lnB cap="flat">
                      <a:noFill/>
                    </a:lnB>
                    <a:lnTlToBr>
                      <a:noFill/>
                    </a:lnTlToBr>
                    <a:lnBlToTr>
                      <a:noFill/>
                    </a:lnBlToTr>
                    <a:solidFill>
                      <a:srgbClr val="FFFFFF"/>
                    </a:solidFill>
                  </a:tcPr>
                </a:tc>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系统文件</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a:noFill/>
                    </a:lnR>
                    <a:lnT cap="flat">
                      <a:noFill/>
                    </a:lnT>
                    <a:lnB cap="flat">
                      <a:noFill/>
                    </a:lnB>
                    <a:lnTlToBr>
                      <a:noFill/>
                    </a:lnTlToBr>
                    <a:lnBlToTr>
                      <a:noFill/>
                    </a:lnBlToTr>
                    <a:solidFill>
                      <a:srgbClr val="FFFFFF"/>
                    </a:solidFill>
                  </a:tcPr>
                </a:tc>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0800H</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a:noFill/>
                    </a:lnR>
                    <a:lnT cap="flat">
                      <a:noFill/>
                    </a:lnT>
                    <a:lnB cap="flat">
                      <a:noFill/>
                    </a:lnB>
                    <a:lnTlToBr>
                      <a:noFill/>
                    </a:lnTlToBr>
                    <a:lnBlToTr>
                      <a:noFill/>
                    </a:lnBlToTr>
                    <a:solidFill>
                      <a:srgbClr val="FFFFFF"/>
                    </a:solidFill>
                  </a:tcPr>
                </a:tc>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压缩文件</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cap="flat">
                      <a:noFill/>
                    </a:lnR>
                    <a:lnT cap="flat">
                      <a:noFill/>
                    </a:lnT>
                    <a:lnB cap="flat">
                      <a:noFill/>
                    </a:lnB>
                    <a:lnTlToBr>
                      <a:noFill/>
                    </a:lnTlToBr>
                    <a:lnBlToTr>
                      <a:noFill/>
                    </a:lnBlToTr>
                    <a:solidFill>
                      <a:srgbClr val="FFFFFF"/>
                    </a:solidFill>
                  </a:tcPr>
                </a:tc>
              </a:tr>
              <a:tr h="438785">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0020H</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a:noFill/>
                    </a:lnR>
                    <a:lnT cap="flat">
                      <a:noFill/>
                    </a:lnT>
                    <a:lnB cap="flat">
                      <a:noFill/>
                    </a:lnB>
                    <a:lnTlToBr>
                      <a:noFill/>
                    </a:lnTlToBr>
                    <a:lnBlToTr>
                      <a:noFill/>
                    </a:lnBlToTr>
                    <a:solidFill>
                      <a:srgbClr val="F7F7F7"/>
                    </a:solidFill>
                  </a:tcPr>
                </a:tc>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存档文件</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a:noFill/>
                    </a:lnR>
                    <a:lnT cap="flat">
                      <a:noFill/>
                    </a:lnT>
                    <a:lnB cap="flat">
                      <a:noFill/>
                    </a:lnB>
                    <a:lnTlToBr>
                      <a:noFill/>
                    </a:lnTlToBr>
                    <a:lnBlToTr>
                      <a:noFill/>
                    </a:lnBlToTr>
                    <a:solidFill>
                      <a:srgbClr val="F7F7F7"/>
                    </a:solidFill>
                  </a:tcPr>
                </a:tc>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1000H</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a:noFill/>
                    </a:lnR>
                    <a:lnT cap="flat">
                      <a:noFill/>
                    </a:lnT>
                    <a:lnB cap="flat">
                      <a:noFill/>
                    </a:lnB>
                    <a:lnTlToBr>
                      <a:noFill/>
                    </a:lnTlToBr>
                    <a:lnBlToTr>
                      <a:noFill/>
                    </a:lnBlToTr>
                    <a:solidFill>
                      <a:srgbClr val="F7F7F7"/>
                    </a:solidFill>
                  </a:tcPr>
                </a:tc>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脱机文件</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cap="flat">
                      <a:noFill/>
                    </a:lnR>
                    <a:lnT cap="flat">
                      <a:noFill/>
                    </a:lnT>
                    <a:lnB cap="flat">
                      <a:noFill/>
                    </a:lnB>
                    <a:lnTlToBr>
                      <a:noFill/>
                    </a:lnTlToBr>
                    <a:lnBlToTr>
                      <a:noFill/>
                    </a:lnBlToTr>
                    <a:solidFill>
                      <a:srgbClr val="F7F7F7"/>
                    </a:solidFill>
                  </a:tcPr>
                </a:tc>
              </a:tr>
              <a:tr h="447675">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0040H</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a:noFill/>
                    </a:lnR>
                    <a:lnT cap="flat">
                      <a:noFill/>
                    </a:lnT>
                    <a:lnB cap="flat">
                      <a:noFill/>
                    </a:lnB>
                    <a:lnTlToBr>
                      <a:noFill/>
                    </a:lnTlToBr>
                    <a:lnBlToTr>
                      <a:noFill/>
                    </a:lnBlToTr>
                    <a:solidFill>
                      <a:srgbClr val="FFFFFF"/>
                    </a:solidFill>
                  </a:tcPr>
                </a:tc>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设备文件</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a:noFill/>
                    </a:lnR>
                    <a:lnT cap="flat">
                      <a:noFill/>
                    </a:lnT>
                    <a:lnB cap="flat">
                      <a:noFill/>
                    </a:lnB>
                    <a:lnTlToBr>
                      <a:noFill/>
                    </a:lnTlToBr>
                    <a:lnBlToTr>
                      <a:noFill/>
                    </a:lnBlToTr>
                    <a:solidFill>
                      <a:srgbClr val="FFFFFF"/>
                    </a:solidFill>
                  </a:tcPr>
                </a:tc>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2000H</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a:noFill/>
                    </a:lnR>
                    <a:lnT cap="flat">
                      <a:noFill/>
                    </a:lnT>
                    <a:lnB cap="flat">
                      <a:noFill/>
                    </a:lnB>
                    <a:lnTlToBr>
                      <a:noFill/>
                    </a:lnTlToBr>
                    <a:lnBlToTr>
                      <a:noFill/>
                    </a:lnBlToTr>
                    <a:solidFill>
                      <a:srgbClr val="FFFFFF"/>
                    </a:solidFill>
                  </a:tcPr>
                </a:tc>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未编入文件</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cap="flat">
                      <a:noFill/>
                    </a:lnR>
                    <a:lnT cap="flat">
                      <a:noFill/>
                    </a:lnT>
                    <a:lnB cap="flat">
                      <a:noFill/>
                    </a:lnB>
                    <a:lnTlToBr>
                      <a:noFill/>
                    </a:lnTlToBr>
                    <a:lnBlToTr>
                      <a:noFill/>
                    </a:lnBlToTr>
                    <a:solidFill>
                      <a:srgbClr val="FFFFFF"/>
                    </a:solidFill>
                  </a:tcPr>
                </a:tc>
              </a:tr>
              <a:tr h="636905">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0080H</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a:noFill/>
                    </a:lnR>
                    <a:lnT cap="flat">
                      <a:noFill/>
                    </a:lnT>
                    <a:lnB cap="flat">
                      <a:noFill/>
                    </a:lnB>
                    <a:lnTlToBr>
                      <a:noFill/>
                    </a:lnTlToBr>
                    <a:lnBlToTr>
                      <a:noFill/>
                    </a:lnBlToTr>
                    <a:solidFill>
                      <a:srgbClr val="F7F7F7"/>
                    </a:solidFill>
                  </a:tcPr>
                </a:tc>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常规文件</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a:noFill/>
                    </a:lnR>
                    <a:lnT cap="flat">
                      <a:noFill/>
                    </a:lnT>
                    <a:lnB cap="flat">
                      <a:noFill/>
                    </a:lnB>
                    <a:lnTlToBr>
                      <a:noFill/>
                    </a:lnTlToBr>
                    <a:lnBlToTr>
                      <a:noFill/>
                    </a:lnBlToTr>
                    <a:solidFill>
                      <a:srgbClr val="F7F7F7"/>
                    </a:solidFill>
                  </a:tcPr>
                </a:tc>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4000H</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a:noFill/>
                    </a:lnR>
                    <a:lnT cap="flat">
                      <a:noFill/>
                    </a:lnT>
                    <a:lnB cap="flat">
                      <a:noFill/>
                    </a:lnB>
                    <a:lnTlToBr>
                      <a:noFill/>
                    </a:lnTlToBr>
                    <a:lnBlToTr>
                      <a:noFill/>
                    </a:lnBlToTr>
                    <a:solidFill>
                      <a:srgbClr val="F7F7F7"/>
                    </a:solidFill>
                  </a:tcPr>
                </a:tc>
                <a:tc>
                  <a:txBody>
                    <a:bodyPr/>
                    <a:p>
                      <a:pPr indent="0" algn="ctr">
                        <a:buNone/>
                      </a:pPr>
                      <a:r>
                        <a:rPr lang="en-US" sz="1800" b="0">
                          <a:solidFill>
                            <a:srgbClr val="4F4F4F"/>
                          </a:solidFill>
                          <a:latin typeface="宋体" pitchFamily="2" charset="-122"/>
                          <a:ea typeface="宋体" pitchFamily="2" charset="-122"/>
                          <a:cs typeface="Arial" panose="020B0604020202090204" pitchFamily="34" charset="0"/>
                        </a:rPr>
                        <a:t>加密文件</a:t>
                      </a:r>
                      <a:endParaRPr lang="en-US" altLang="en-US" sz="1800" b="0">
                        <a:solidFill>
                          <a:srgbClr val="4F4F4F"/>
                        </a:solidFill>
                        <a:latin typeface="宋体" pitchFamily="2" charset="-122"/>
                        <a:ea typeface="宋体" pitchFamily="2" charset="-122"/>
                        <a:cs typeface="Arial" panose="020B0604020202090204" pitchFamily="34" charset="0"/>
                      </a:endParaRPr>
                    </a:p>
                  </a:txBody>
                  <a:tcPr marL="50800" marR="50800" marT="50800" marB="50800" vert="horz" anchor="ctr" anchorCtr="0">
                    <a:lnL>
                      <a:noFill/>
                    </a:lnL>
                    <a:lnR cap="flat">
                      <a:noFill/>
                    </a:lnR>
                    <a:lnT cap="flat">
                      <a:noFill/>
                    </a:lnT>
                    <a:lnB cap="flat">
                      <a:noFill/>
                    </a:lnB>
                    <a:lnTlToBr>
                      <a:noFill/>
                    </a:lnTlToBr>
                    <a:lnBlToTr>
                      <a:noFill/>
                    </a:lnBlToTr>
                    <a:solidFill>
                      <a:srgbClr val="F7F7F7"/>
                    </a:solidFill>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10H属性分析</a:t>
            </a:r>
            <a:endParaRPr lang="zh-CN" altLang="en-US"/>
          </a:p>
        </p:txBody>
      </p:sp>
      <p:pic>
        <p:nvPicPr>
          <p:cNvPr id="4" name="内容占位符 3"/>
          <p:cNvPicPr>
            <a:picLocks noChangeAspect="1"/>
          </p:cNvPicPr>
          <p:nvPr>
            <p:ph idx="1"/>
          </p:nvPr>
        </p:nvPicPr>
        <p:blipFill>
          <a:blip r:embed="rId1"/>
          <a:stretch>
            <a:fillRect/>
          </a:stretch>
        </p:blipFill>
        <p:spPr>
          <a:xfrm>
            <a:off x="251460" y="1701165"/>
            <a:ext cx="8696325" cy="407860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标题 1"/>
          <p:cNvSpPr>
            <a:spLocks noGrp="1"/>
          </p:cNvSpPr>
          <p:nvPr>
            <p:ph type="title"/>
          </p:nvPr>
        </p:nvSpPr>
        <p:spPr/>
        <p:txBody>
          <a:bodyPr anchor="t" anchorCtr="0"/>
          <a:p>
            <a:r>
              <a:rPr lang="zh-CN" altLang="en-US">
                <a:sym typeface="+mn-ea"/>
              </a:rPr>
              <a:t>20H属性分析</a:t>
            </a:r>
            <a:endParaRPr lang="en-US" altLang="zh-CN"/>
          </a:p>
        </p:txBody>
      </p:sp>
      <p:sp>
        <p:nvSpPr>
          <p:cNvPr id="100354" name="内容占位符 2"/>
          <p:cNvSpPr>
            <a:spLocks noGrp="1"/>
          </p:cNvSpPr>
          <p:nvPr>
            <p:ph idx="1"/>
          </p:nvPr>
        </p:nvSpPr>
        <p:spPr/>
        <p:txBody>
          <a:bodyPr anchor="t" anchorCtr="0"/>
          <a:p>
            <a:pPr>
              <a:lnSpc>
                <a:spcPct val="150000"/>
              </a:lnSpc>
            </a:pPr>
            <a:r>
              <a:rPr lang="zh-CN" altLang="en-US" sz="2300"/>
              <a:t>20H类型属性是$ATTRIBUTE_LIST属性，即属性列表，当一个文件需要多个文件记录时，用来描述文件的属性列表。</a:t>
            </a:r>
            <a:endParaRPr lang="zh-CN" altLang="en-US" sz="2300"/>
          </a:p>
          <a:p>
            <a:pPr>
              <a:lnSpc>
                <a:spcPct val="150000"/>
              </a:lnSpc>
            </a:pPr>
            <a:r>
              <a:rPr lang="zh-CN" altLang="zh-CN" sz="2300"/>
              <a:t>如果文件记录里的某个属性大到该文件记录不能把该属性完全存储时，系统会采取用Run List来存储这些属性的属性体，这种属性被称为非常驻属性。</a:t>
            </a:r>
            <a:endParaRPr lang="zh-CN" altLang="zh-CN" sz="2300"/>
          </a:p>
          <a:p>
            <a:pPr>
              <a:lnSpc>
                <a:spcPct val="150000"/>
              </a:lnSpc>
            </a:pPr>
            <a:r>
              <a:rPr lang="zh-CN" altLang="en-US" sz="2300">
                <a:sym typeface="+mn-ea"/>
              </a:rPr>
              <a:t>不能完全放进该文件记录中的属性会被放置在一个新的文件记录中，而属性列表属性描述了应该如何找到这个新的文件记录。</a:t>
            </a:r>
            <a:endParaRPr lang="zh-CN" altLang="en-US" sz="2300"/>
          </a:p>
          <a:p>
            <a:pPr>
              <a:lnSpc>
                <a:spcPct val="150000"/>
              </a:lnSpc>
            </a:pPr>
            <a:endParaRPr lang="zh-CN" altLang="zh-CN" sz="2300"/>
          </a:p>
          <a:p>
            <a:pPr lvl="0" indent="-325120"/>
            <a:endParaRPr lang="zh-CN" altLang="en-US" sz="23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标题 1"/>
          <p:cNvSpPr>
            <a:spLocks noGrp="1"/>
          </p:cNvSpPr>
          <p:nvPr>
            <p:ph type="title"/>
          </p:nvPr>
        </p:nvSpPr>
        <p:spPr/>
        <p:txBody>
          <a:bodyPr anchor="t" anchorCtr="0"/>
          <a:p>
            <a:r>
              <a:rPr lang="zh-CN" altLang="en-US">
                <a:sym typeface="+mn-ea"/>
              </a:rPr>
              <a:t>20H属性分析</a:t>
            </a:r>
            <a:endParaRPr lang="en-US" altLang="zh-CN"/>
          </a:p>
        </p:txBody>
      </p:sp>
      <p:sp>
        <p:nvSpPr>
          <p:cNvPr id="100354" name="内容占位符 2"/>
          <p:cNvSpPr>
            <a:spLocks noGrp="1"/>
          </p:cNvSpPr>
          <p:nvPr>
            <p:ph idx="1"/>
          </p:nvPr>
        </p:nvSpPr>
        <p:spPr/>
        <p:txBody>
          <a:bodyPr anchor="t" anchorCtr="0"/>
          <a:p>
            <a:pPr lvl="0" indent="-325120">
              <a:lnSpc>
                <a:spcPct val="130000"/>
              </a:lnSpc>
            </a:pPr>
            <a:r>
              <a:rPr lang="zh-CN" altLang="en-US" sz="2300"/>
              <a:t>在标准属性头之后，20H类型属性包括一系列不同长度的记录，用于描述该文件其他属性的类型和位置。它可能是常驻属性，也可能是非常驻属性，没有最大最小尺寸限制。</a:t>
            </a:r>
            <a:endParaRPr lang="zh-CN" altLang="en-US" sz="2300"/>
          </a:p>
          <a:p>
            <a:pPr lvl="0" indent="-325120">
              <a:lnSpc>
                <a:spcPct val="130000"/>
              </a:lnSpc>
            </a:pPr>
            <a:r>
              <a:rPr lang="zh-CN" altLang="en-US" sz="2300"/>
              <a:t>20H类型的属性很少见，但有四种情况让系统可能需要20H类型的属性，这四种情况是：</a:t>
            </a:r>
            <a:endParaRPr lang="zh-CN" altLang="en-US" sz="2300"/>
          </a:p>
          <a:p>
            <a:pPr lvl="1" indent="-325120">
              <a:lnSpc>
                <a:spcPct val="130000"/>
              </a:lnSpc>
            </a:pPr>
            <a:r>
              <a:rPr lang="zh-CN" altLang="en-US" sz="1990"/>
              <a:t>文件有很多的硬连接（即有很多的文件名属性存在）；</a:t>
            </a:r>
            <a:endParaRPr lang="zh-CN" altLang="en-US" sz="1990"/>
          </a:p>
          <a:p>
            <a:pPr lvl="1" indent="-325120">
              <a:lnSpc>
                <a:spcPct val="130000"/>
              </a:lnSpc>
            </a:pPr>
            <a:r>
              <a:rPr lang="zh-CN" altLang="en-US" sz="1990"/>
              <a:t>文件有很多碎片，以至文件记录中记录不了这么多的Data Run（数据流）；</a:t>
            </a:r>
            <a:endParaRPr lang="zh-CN" altLang="en-US" sz="1990"/>
          </a:p>
          <a:p>
            <a:pPr lvl="1" indent="-325120">
              <a:lnSpc>
                <a:spcPct val="130000"/>
              </a:lnSpc>
            </a:pPr>
            <a:r>
              <a:rPr lang="zh-CN" altLang="en-US" sz="1990"/>
              <a:t>属性中有很复杂的安全描述（不适用于NTFS v4.0以上版本）；</a:t>
            </a:r>
            <a:endParaRPr lang="zh-CN" altLang="en-US" sz="1990"/>
          </a:p>
          <a:p>
            <a:pPr lvl="1" indent="-325120">
              <a:lnSpc>
                <a:spcPct val="130000"/>
              </a:lnSpc>
            </a:pPr>
            <a:r>
              <a:rPr lang="zh-CN" altLang="en-US" sz="1990"/>
              <a:t>属性中有很多的命名流，如数据流。</a:t>
            </a:r>
            <a:endParaRPr lang="zh-CN" altLang="en-US" sz="1990"/>
          </a:p>
          <a:p>
            <a:pPr lvl="0" indent="-325120">
              <a:lnSpc>
                <a:spcPct val="130000"/>
              </a:lnSpc>
            </a:pPr>
            <a:endParaRPr lang="zh-CN" altLang="en-US" sz="23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20H属性分析</a:t>
            </a:r>
            <a:endParaRPr lang="zh-CN" altLang="en-US"/>
          </a:p>
        </p:txBody>
      </p:sp>
      <p:graphicFrame>
        <p:nvGraphicFramePr>
          <p:cNvPr id="4" name="表格 3"/>
          <p:cNvGraphicFramePr/>
          <p:nvPr>
            <p:custDataLst>
              <p:tags r:id="rId1"/>
            </p:custDataLst>
          </p:nvPr>
        </p:nvGraphicFramePr>
        <p:xfrm>
          <a:off x="603885" y="1468755"/>
          <a:ext cx="7936230" cy="4704080"/>
        </p:xfrm>
        <a:graphic>
          <a:graphicData uri="http://schemas.openxmlformats.org/drawingml/2006/table">
            <a:tbl>
              <a:tblPr/>
              <a:tblGrid>
                <a:gridCol w="1135380"/>
                <a:gridCol w="1195070"/>
                <a:gridCol w="5605780"/>
              </a:tblGrid>
              <a:tr h="391795">
                <a:tc>
                  <a:txBody>
                    <a:bodyPr/>
                    <a:p>
                      <a:pPr indent="0" algn="ctr">
                        <a:buNone/>
                      </a:pPr>
                      <a:r>
                        <a:rPr lang="en-US" sz="1800" b="0">
                          <a:latin typeface="Arial" panose="020B0604020202090204" pitchFamily="34" charset="0"/>
                          <a:cs typeface="Arial" panose="020B0604020202090204" pitchFamily="34" charset="0"/>
                        </a:rPr>
                        <a:t>字节</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Arial" panose="020B0604020202090204" pitchFamily="34" charset="0"/>
                          <a:cs typeface="Arial" panose="020B0604020202090204" pitchFamily="34" charset="0"/>
                        </a:rPr>
                        <a:t>长度</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Arial" panose="020B0604020202090204" pitchFamily="34" charset="0"/>
                          <a:cs typeface="Arial" panose="020B0604020202090204" pitchFamily="34" charset="0"/>
                        </a:rPr>
                        <a:t>含义</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2430">
                <a:tc>
                  <a:txBody>
                    <a:bodyPr/>
                    <a:p>
                      <a:pPr indent="0" algn="ctr">
                        <a:buNone/>
                      </a:pPr>
                      <a:r>
                        <a:rPr lang="en-US" sz="1800" b="0">
                          <a:latin typeface="Arial" panose="020B0604020202090204" pitchFamily="34" charset="0"/>
                          <a:cs typeface="Arial" panose="020B0604020202090204" pitchFamily="34" charset="0"/>
                        </a:rPr>
                        <a:t>～</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Arial" panose="020B0604020202090204" pitchFamily="34" charset="0"/>
                          <a:cs typeface="Arial" panose="020B0604020202090204" pitchFamily="34" charset="0"/>
                        </a:rPr>
                        <a:t>～</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Arial" panose="020B0604020202090204" pitchFamily="34" charset="0"/>
                          <a:cs typeface="Arial" panose="020B0604020202090204" pitchFamily="34" charset="0"/>
                        </a:rPr>
                        <a:t>标准属性头</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1795">
                <a:tc>
                  <a:txBody>
                    <a:bodyPr/>
                    <a:p>
                      <a:pPr indent="0" algn="ctr">
                        <a:buNone/>
                      </a:pPr>
                      <a:r>
                        <a:rPr lang="en-US" sz="1800" b="0">
                          <a:latin typeface="Arial" panose="020B0604020202090204" pitchFamily="34" charset="0"/>
                          <a:cs typeface="Arial" panose="020B0604020202090204" pitchFamily="34" charset="0"/>
                        </a:rPr>
                        <a:t>0x00</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Arial" panose="020B0604020202090204" pitchFamily="34" charset="0"/>
                          <a:cs typeface="Arial" panose="020B0604020202090204" pitchFamily="34" charset="0"/>
                        </a:rPr>
                        <a:t>4</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Arial" panose="020B0604020202090204" pitchFamily="34" charset="0"/>
                          <a:cs typeface="Arial" panose="020B0604020202090204" pitchFamily="34" charset="0"/>
                        </a:rPr>
                        <a:t>类型</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1795">
                <a:tc>
                  <a:txBody>
                    <a:bodyPr/>
                    <a:p>
                      <a:pPr indent="0" algn="ctr">
                        <a:buNone/>
                      </a:pPr>
                      <a:r>
                        <a:rPr lang="en-US" sz="1800" b="0">
                          <a:latin typeface="Arial" panose="020B0604020202090204" pitchFamily="34" charset="0"/>
                          <a:cs typeface="Arial" panose="020B0604020202090204" pitchFamily="34" charset="0"/>
                        </a:rPr>
                        <a:t>0x04</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Arial" panose="020B0604020202090204" pitchFamily="34" charset="0"/>
                          <a:cs typeface="Arial" panose="020B0604020202090204" pitchFamily="34" charset="0"/>
                        </a:rPr>
                        <a:t>2</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Arial" panose="020B0604020202090204" pitchFamily="34" charset="0"/>
                          <a:cs typeface="Arial" panose="020B0604020202090204" pitchFamily="34" charset="0"/>
                        </a:rPr>
                        <a:t>记录长度</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1795">
                <a:tc>
                  <a:txBody>
                    <a:bodyPr/>
                    <a:p>
                      <a:pPr indent="0" algn="ctr">
                        <a:buNone/>
                      </a:pPr>
                      <a:r>
                        <a:rPr lang="en-US" sz="1800" b="0">
                          <a:latin typeface="Arial" panose="020B0604020202090204" pitchFamily="34" charset="0"/>
                          <a:cs typeface="Arial" panose="020B0604020202090204" pitchFamily="34" charset="0"/>
                        </a:rPr>
                        <a:t>0x06</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Arial" panose="020B0604020202090204" pitchFamily="34" charset="0"/>
                          <a:cs typeface="Arial" panose="020B0604020202090204" pitchFamily="34" charset="0"/>
                        </a:rPr>
                        <a:t>1</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Arial" panose="020B0604020202090204" pitchFamily="34" charset="0"/>
                          <a:cs typeface="Arial" panose="020B0604020202090204" pitchFamily="34" charset="0"/>
                        </a:rPr>
                        <a:t>属性名长度（N，为0表示没有属性名）</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3065">
                <a:tc>
                  <a:txBody>
                    <a:bodyPr/>
                    <a:p>
                      <a:pPr indent="0" algn="ctr">
                        <a:buNone/>
                      </a:pPr>
                      <a:r>
                        <a:rPr lang="en-US" sz="1800" b="0">
                          <a:latin typeface="Arial" panose="020B0604020202090204" pitchFamily="34" charset="0"/>
                          <a:cs typeface="Arial" panose="020B0604020202090204" pitchFamily="34" charset="0"/>
                        </a:rPr>
                        <a:t>0x07</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Arial" panose="020B0604020202090204" pitchFamily="34" charset="0"/>
                          <a:cs typeface="Arial" panose="020B0604020202090204" pitchFamily="34" charset="0"/>
                        </a:rPr>
                        <a:t>1</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Arial" panose="020B0604020202090204" pitchFamily="34" charset="0"/>
                          <a:cs typeface="Arial" panose="020B0604020202090204" pitchFamily="34" charset="0"/>
                        </a:rPr>
                        <a:t>属性名偏移（如果没有属性名，则指向属性内容）</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1795">
                <a:tc>
                  <a:txBody>
                    <a:bodyPr/>
                    <a:p>
                      <a:pPr indent="0" algn="ctr">
                        <a:buNone/>
                      </a:pPr>
                      <a:r>
                        <a:rPr lang="en-US" sz="1800" b="0">
                          <a:latin typeface="Arial" panose="020B0604020202090204" pitchFamily="34" charset="0"/>
                          <a:cs typeface="Arial" panose="020B0604020202090204" pitchFamily="34" charset="0"/>
                        </a:rPr>
                        <a:t>0x08</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Arial" panose="020B0604020202090204" pitchFamily="34" charset="0"/>
                          <a:cs typeface="Arial" panose="020B0604020202090204" pitchFamily="34" charset="0"/>
                        </a:rPr>
                        <a:t>8</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Arial" panose="020B0604020202090204" pitchFamily="34" charset="0"/>
                          <a:cs typeface="Arial" panose="020B0604020202090204" pitchFamily="34" charset="0"/>
                        </a:rPr>
                        <a:t>起始VCN（属性常驻时为0）</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176020">
                <a:tc>
                  <a:txBody>
                    <a:bodyPr/>
                    <a:p>
                      <a:pPr indent="0" algn="ctr">
                        <a:buNone/>
                      </a:pPr>
                      <a:r>
                        <a:rPr lang="en-US" sz="1800" b="0">
                          <a:latin typeface="Arial" panose="020B0604020202090204" pitchFamily="34" charset="0"/>
                          <a:cs typeface="Arial" panose="020B0604020202090204" pitchFamily="34" charset="0"/>
                        </a:rPr>
                        <a:t>0x10</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Arial" panose="020B0604020202090204" pitchFamily="34" charset="0"/>
                          <a:cs typeface="Arial" panose="020B0604020202090204" pitchFamily="34" charset="0"/>
                        </a:rPr>
                        <a:t>8</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Arial" panose="020B0604020202090204" pitchFamily="34" charset="0"/>
                          <a:cs typeface="Arial" panose="020B0604020202090204" pitchFamily="34" charset="0"/>
                        </a:rPr>
                        <a:t>属性的基本文件记录中的文件参考号（所有MFT的文件都有一个文件索引号，引用到这个文件参考号，等价于引用这个文件记录，这个参考号在文件记录头中有定义）</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1795">
                <a:tc>
                  <a:txBody>
                    <a:bodyPr/>
                    <a:p>
                      <a:pPr indent="0" algn="ctr">
                        <a:buNone/>
                      </a:pPr>
                      <a:r>
                        <a:rPr lang="en-US" sz="1800" b="0">
                          <a:latin typeface="Arial" panose="020B0604020202090204" pitchFamily="34" charset="0"/>
                          <a:cs typeface="Arial" panose="020B0604020202090204" pitchFamily="34" charset="0"/>
                        </a:rPr>
                        <a:t>0x18</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Arial" panose="020B0604020202090204" pitchFamily="34" charset="0"/>
                          <a:cs typeface="Arial" panose="020B0604020202090204" pitchFamily="34" charset="0"/>
                        </a:rPr>
                        <a:t>2</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Arial" panose="020B0604020202090204" pitchFamily="34" charset="0"/>
                          <a:cs typeface="Arial" panose="020B0604020202090204" pitchFamily="34" charset="0"/>
                        </a:rPr>
                        <a:t>属性ID（每个属性都有一个唯一的ID号）</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1795">
                <a:tc>
                  <a:txBody>
                    <a:bodyPr/>
                    <a:p>
                      <a:pPr indent="0" algn="ctr">
                        <a:buNone/>
                      </a:pPr>
                      <a:r>
                        <a:rPr lang="en-US" sz="1800" b="0">
                          <a:latin typeface="Arial" panose="020B0604020202090204" pitchFamily="34" charset="0"/>
                          <a:cs typeface="Arial" panose="020B0604020202090204" pitchFamily="34" charset="0"/>
                        </a:rPr>
                        <a:t>0x1A</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Arial" panose="020B0604020202090204" pitchFamily="34" charset="0"/>
                          <a:cs typeface="Arial" panose="020B0604020202090204" pitchFamily="34" charset="0"/>
                        </a:rPr>
                        <a:t>2N</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Arial" panose="020B0604020202090204" pitchFamily="34" charset="0"/>
                          <a:cs typeface="Arial" panose="020B0604020202090204" pitchFamily="34" charset="0"/>
                        </a:rPr>
                        <a:t>Unicode属性名（如果有属性名）</a:t>
                      </a:r>
                      <a:endParaRPr lang="en-US" altLang="en-US" sz="1800" b="0">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20H属性分析</a:t>
            </a:r>
            <a:endParaRPr lang="zh-CN" altLang="en-US"/>
          </a:p>
        </p:txBody>
      </p:sp>
      <p:pic>
        <p:nvPicPr>
          <p:cNvPr id="4" name="图片 3"/>
          <p:cNvPicPr>
            <a:picLocks noChangeAspect="1"/>
          </p:cNvPicPr>
          <p:nvPr/>
        </p:nvPicPr>
        <p:blipFill>
          <a:blip r:embed="rId1"/>
          <a:stretch>
            <a:fillRect/>
          </a:stretch>
        </p:blipFill>
        <p:spPr>
          <a:xfrm>
            <a:off x="755015" y="1412875"/>
            <a:ext cx="7106285" cy="522605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30H属性分析</a:t>
            </a:r>
            <a:endParaRPr lang="zh-CN" altLang="en-US"/>
          </a:p>
        </p:txBody>
      </p:sp>
      <p:sp>
        <p:nvSpPr>
          <p:cNvPr id="3" name="内容占位符 2"/>
          <p:cNvSpPr>
            <a:spLocks noGrp="1"/>
          </p:cNvSpPr>
          <p:nvPr>
            <p:ph idx="1"/>
          </p:nvPr>
        </p:nvSpPr>
        <p:spPr/>
        <p:txBody>
          <a:bodyPr/>
          <a:p>
            <a:r>
              <a:rPr lang="zh-CN" altLang="en-US" sz="2400"/>
              <a:t>30H类型属性，即$FILE_NAME属性，该属性用于存储文件名，它总是常驻属性。它最少68字节，最大578字节，可容纳最大255个Unicode字符的文件名长度。</a:t>
            </a:r>
            <a:endParaRPr lang="zh-CN" altLang="en-US" sz="2400"/>
          </a:p>
          <a:p>
            <a:r>
              <a:rPr lang="zh-CN" altLang="en-US" sz="2400"/>
              <a:t>为了兼容旧的文件系统，NTFS系统给文件名分配了一个短的DOS兼容文件名给每个具有非DOS兼容文件名的文件。</a:t>
            </a:r>
            <a:endParaRPr lang="zh-CN" altLang="en-US" sz="2400"/>
          </a:p>
          <a:p>
            <a:r>
              <a:rPr lang="zh-CN" altLang="en-US" sz="2400"/>
              <a:t>NTFS通过为一个文件创建多个文件名属性的方式实现了硬连接，每个文件名属性都有它自己的详细资料和父目录参考号。当一个硬连接文件删除时，就从文件记录中删除掉这个文件名，当最后一个连接也删除时，文件就真正的删除了。</a:t>
            </a:r>
            <a:endParaRPr lang="zh-CN" altLang="en-US" sz="24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标题 1"/>
          <p:cNvSpPr>
            <a:spLocks noGrp="1"/>
          </p:cNvSpPr>
          <p:nvPr>
            <p:ph type="title"/>
          </p:nvPr>
        </p:nvSpPr>
        <p:spPr/>
        <p:txBody>
          <a:bodyPr anchor="t" anchorCtr="0"/>
          <a:p>
            <a:r>
              <a:rPr lang="zh-CN" altLang="en-US">
                <a:sym typeface="+mn-ea"/>
              </a:rPr>
              <a:t>30H属性分析</a:t>
            </a:r>
            <a:br>
              <a:rPr lang="zh-CN" altLang="en-US"/>
            </a:br>
            <a:endParaRPr lang="zh-CN" altLang="en-US"/>
          </a:p>
        </p:txBody>
      </p:sp>
      <p:pic>
        <p:nvPicPr>
          <p:cNvPr id="102403" name="图片 4"/>
          <p:cNvPicPr>
            <a:picLocks noChangeAspect="1"/>
          </p:cNvPicPr>
          <p:nvPr/>
        </p:nvPicPr>
        <p:blipFill>
          <a:blip r:embed="rId1"/>
          <a:srcRect r="19337" b="4315"/>
          <a:stretch>
            <a:fillRect/>
          </a:stretch>
        </p:blipFill>
        <p:spPr>
          <a:xfrm>
            <a:off x="539115" y="1557020"/>
            <a:ext cx="8136255" cy="4685030"/>
          </a:xfrm>
          <a:prstGeom prst="rect">
            <a:avLst/>
          </a:prstGeom>
          <a:noFill/>
          <a:ln w="9525">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30H属性分析</a:t>
            </a:r>
            <a:endParaRPr lang="zh-CN" altLang="en-US"/>
          </a:p>
        </p:txBody>
      </p:sp>
      <p:pic>
        <p:nvPicPr>
          <p:cNvPr id="4" name="内容占位符 3"/>
          <p:cNvPicPr>
            <a:picLocks noChangeAspect="1"/>
          </p:cNvPicPr>
          <p:nvPr>
            <p:ph idx="1"/>
          </p:nvPr>
        </p:nvPicPr>
        <p:blipFill>
          <a:blip r:embed="rId1"/>
          <a:stretch>
            <a:fillRect/>
          </a:stretch>
        </p:blipFill>
        <p:spPr>
          <a:xfrm>
            <a:off x="320040" y="2348865"/>
            <a:ext cx="8503920" cy="285496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标题 1"/>
          <p:cNvSpPr>
            <a:spLocks noGrp="1"/>
          </p:cNvSpPr>
          <p:nvPr>
            <p:ph type="title"/>
          </p:nvPr>
        </p:nvSpPr>
        <p:spPr/>
        <p:txBody>
          <a:bodyPr anchor="t" anchorCtr="0"/>
          <a:p>
            <a:r>
              <a:rPr lang="zh-CN" altLang="en-US">
                <a:sym typeface="+mn-ea"/>
              </a:rPr>
              <a:t>80H属性分析</a:t>
            </a:r>
            <a:br>
              <a:rPr lang="zh-CN" altLang="en-US"/>
            </a:br>
            <a:endParaRPr lang="zh-CN" altLang="en-US"/>
          </a:p>
        </p:txBody>
      </p:sp>
      <p:sp>
        <p:nvSpPr>
          <p:cNvPr id="103426" name="内容占位符 2"/>
          <p:cNvSpPr>
            <a:spLocks noGrp="1"/>
          </p:cNvSpPr>
          <p:nvPr>
            <p:ph idx="1"/>
          </p:nvPr>
        </p:nvSpPr>
        <p:spPr/>
        <p:txBody>
          <a:bodyPr anchor="t" anchorCtr="0"/>
          <a:p>
            <a:pPr lvl="0" indent="-325120"/>
            <a:r>
              <a:rPr lang="zh-CN" altLang="en-US" sz="2400"/>
              <a:t>80H类型属性即$DATA属性，该属性容纳着文件的内容，没有最大最小限制，最小情况是该属性为常驻属性，可以不占用除MFT以外的空间。</a:t>
            </a:r>
            <a:endParaRPr lang="zh-CN" altLang="en-US" sz="2400"/>
          </a:p>
          <a:p>
            <a:pPr lvl="0" indent="-325120"/>
            <a:endParaRPr lang="zh-CN" altLang="en-US" sz="2400"/>
          </a:p>
          <a:p>
            <a:pPr lvl="0" indent="-325120"/>
            <a:endParaRPr lang="zh-CN" altLang="en-US" sz="2400"/>
          </a:p>
          <a:p>
            <a:pPr lvl="0" indent="-325120"/>
            <a:endParaRPr lang="zh-CN" altLang="en-US" sz="2400"/>
          </a:p>
          <a:p>
            <a:pPr lvl="0" indent="-325120"/>
            <a:endParaRPr lang="zh-CN" altLang="en-US" sz="2400"/>
          </a:p>
          <a:p>
            <a:pPr lvl="0" indent="-325120"/>
            <a:r>
              <a:rPr lang="zh-CN" altLang="en-US" sz="2400"/>
              <a:t>当文件属性能够在文件记录中完全存储下来而不需要存储到其他的Data Run（数据流）中时，这种属性就是</a:t>
            </a:r>
            <a:r>
              <a:rPr lang="zh-CN" altLang="en-US" sz="2400"/>
              <a:t>非常驻属性。</a:t>
            </a:r>
            <a:endParaRPr lang="zh-CN" altLang="en-US" sz="2400"/>
          </a:p>
        </p:txBody>
      </p:sp>
      <p:pic>
        <p:nvPicPr>
          <p:cNvPr id="4" name="内容占位符 3"/>
          <p:cNvPicPr>
            <a:picLocks noChangeAspect="1"/>
          </p:cNvPicPr>
          <p:nvPr>
            <p:custDataLst>
              <p:tags r:id="rId1"/>
            </p:custDataLst>
          </p:nvPr>
        </p:nvPicPr>
        <p:blipFill>
          <a:blip r:embed="rId2"/>
          <a:stretch>
            <a:fillRect/>
          </a:stretch>
        </p:blipFill>
        <p:spPr>
          <a:xfrm>
            <a:off x="539115" y="3068955"/>
            <a:ext cx="8229600" cy="1183005"/>
          </a:xfrm>
          <a:prstGeom prst="rect">
            <a:avLst/>
          </a:prstGeom>
          <a:noFill/>
          <a:ln w="9525">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80H属性分析</a:t>
            </a:r>
            <a:endParaRPr lang="zh-CN" altLang="en-US"/>
          </a:p>
        </p:txBody>
      </p:sp>
      <p:sp>
        <p:nvSpPr>
          <p:cNvPr id="3" name="内容占位符 2"/>
          <p:cNvSpPr>
            <a:spLocks noGrp="1"/>
          </p:cNvSpPr>
          <p:nvPr>
            <p:ph idx="1"/>
          </p:nvPr>
        </p:nvSpPr>
        <p:spPr/>
        <p:txBody>
          <a:bodyPr/>
          <a:p>
            <a:r>
              <a:rPr lang="zh-CN" altLang="en-US"/>
              <a:t>在NTFS文件系统中常用数据流有</a:t>
            </a:r>
            <a:endParaRPr lang="zh-CN" altLang="en-US"/>
          </a:p>
          <a:p>
            <a:pPr lvl="1"/>
            <a:r>
              <a:rPr lang="zh-CN" altLang="en-US" sz="2400"/>
              <a:t>［未命名］（［Unnamed］）</a:t>
            </a:r>
            <a:endParaRPr lang="zh-CN" altLang="en-US" sz="2400"/>
          </a:p>
          <a:p>
            <a:pPr lvl="1"/>
            <a:r>
              <a:rPr lang="zh-CN" altLang="en-US" sz="2400"/>
              <a:t>{4c8cc155-6c1e-11d1-8e41-00c04fb9386d}</a:t>
            </a:r>
            <a:endParaRPr lang="zh-CN" altLang="en-US" sz="2400"/>
          </a:p>
          <a:p>
            <a:pPr lvl="1"/>
            <a:r>
              <a:rPr lang="zh-CN" altLang="en-US" sz="2400"/>
              <a:t>^EDocumentSummaryInformation</a:t>
            </a:r>
            <a:endParaRPr lang="zh-CN" altLang="en-US" sz="2400"/>
          </a:p>
          <a:p>
            <a:pPr lvl="1"/>
            <a:r>
              <a:rPr lang="zh-CN" altLang="en-US" sz="2400"/>
              <a:t>^ESebiesnrMkudrfcoIaamtykdDa</a:t>
            </a:r>
            <a:endParaRPr lang="zh-CN" altLang="en-US" sz="2400"/>
          </a:p>
          <a:p>
            <a:pPr lvl="1"/>
            <a:r>
              <a:rPr lang="zh-CN" altLang="en-US" sz="2400"/>
              <a:t>^ESummaryInformation</a:t>
            </a:r>
            <a:endParaRPr lang="zh-CN" altLang="en-US" sz="2400"/>
          </a:p>
          <a:p>
            <a:pPr lvl="1"/>
            <a:r>
              <a:rPr lang="zh-CN" altLang="en-US" sz="2400"/>
              <a:t>$MountMgrDatabase</a:t>
            </a:r>
            <a:endParaRPr lang="zh-CN" altLang="en-US" sz="2400"/>
          </a:p>
          <a:p>
            <a:pPr lvl="1"/>
            <a:r>
              <a:rPr lang="zh-CN" altLang="en-US" sz="2400"/>
              <a:t>$Bad</a:t>
            </a:r>
            <a:endParaRPr lang="zh-CN" altLang="en-US" sz="2400"/>
          </a:p>
          <a:p>
            <a:pPr lvl="1"/>
            <a:r>
              <a:rPr lang="zh-CN" altLang="en-US" sz="2400"/>
              <a:t>$SDS</a:t>
            </a:r>
            <a:endParaRPr lang="zh-CN" altLang="en-US" sz="2400"/>
          </a:p>
          <a:p>
            <a:pPr lvl="1"/>
            <a:r>
              <a:rPr lang="zh-CN" altLang="en-US" sz="2400"/>
              <a:t>$J</a:t>
            </a:r>
            <a:endParaRPr lang="zh-CN" altLang="en-US" sz="2400"/>
          </a:p>
          <a:p>
            <a:pPr lvl="1"/>
            <a:r>
              <a:rPr lang="zh-CN" altLang="en-US" sz="2400"/>
              <a:t>$Max</a:t>
            </a:r>
            <a:endParaRPr lang="zh-CN" altLang="en-US" sz="24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80H属性分析</a:t>
            </a:r>
            <a:endParaRPr lang="zh-CN" altLang="en-US"/>
          </a:p>
        </p:txBody>
      </p:sp>
      <p:sp>
        <p:nvSpPr>
          <p:cNvPr id="3" name="内容占位符 2"/>
          <p:cNvSpPr>
            <a:spLocks noGrp="1"/>
          </p:cNvSpPr>
          <p:nvPr>
            <p:ph idx="1"/>
          </p:nvPr>
        </p:nvSpPr>
        <p:spPr>
          <a:xfrm>
            <a:off x="457200" y="1600200"/>
            <a:ext cx="8229600" cy="1168400"/>
          </a:xfrm>
        </p:spPr>
        <p:txBody>
          <a:bodyPr/>
          <a:p>
            <a:r>
              <a:rPr lang="zh-CN" altLang="en-US"/>
              <a:t>未命名数据流</a:t>
            </a:r>
            <a:endParaRPr lang="zh-CN" altLang="en-US"/>
          </a:p>
          <a:p>
            <a:pPr marL="344170" lvl="1" indent="0">
              <a:buNone/>
            </a:pPr>
            <a:r>
              <a:rPr lang="zh-CN" altLang="en-US"/>
              <a:t>8</a:t>
            </a:r>
            <a:r>
              <a:rPr lang="zh-CN" altLang="en-US" sz="2400"/>
              <a:t>0H属性的</a:t>
            </a:r>
            <a:r>
              <a:rPr lang="en-US" altLang="zh-CN" sz="2400"/>
              <a:t>\</a:t>
            </a:r>
            <a:r>
              <a:rPr lang="zh-CN" altLang="en-US" sz="2400"/>
              <a:t>未命名数据流是文件真正的数据，由Data Run来记录其属性体即文件数据的具体地址</a:t>
            </a:r>
            <a:endParaRPr lang="zh-CN" altLang="en-US" sz="2400"/>
          </a:p>
        </p:txBody>
      </p:sp>
      <p:pic>
        <p:nvPicPr>
          <p:cNvPr id="105475" name="图片 4"/>
          <p:cNvPicPr>
            <a:picLocks noChangeAspect="1"/>
          </p:cNvPicPr>
          <p:nvPr>
            <p:custDataLst>
              <p:tags r:id="rId1"/>
            </p:custDataLst>
          </p:nvPr>
        </p:nvPicPr>
        <p:blipFill>
          <a:blip r:embed="rId2"/>
          <a:srcRect r="19106"/>
          <a:stretch>
            <a:fillRect/>
          </a:stretch>
        </p:blipFill>
        <p:spPr>
          <a:xfrm>
            <a:off x="611505" y="2708910"/>
            <a:ext cx="7928610" cy="4091940"/>
          </a:xfrm>
          <a:prstGeom prst="rect">
            <a:avLst/>
          </a:prstGeom>
          <a:noFill/>
          <a:ln w="9525">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标题 1"/>
          <p:cNvSpPr>
            <a:spLocks noGrp="1"/>
          </p:cNvSpPr>
          <p:nvPr>
            <p:ph type="title"/>
          </p:nvPr>
        </p:nvSpPr>
        <p:spPr/>
        <p:txBody>
          <a:bodyPr anchor="t" anchorCtr="0"/>
          <a:p>
            <a:r>
              <a:rPr lang="zh-CN" altLang="en-US">
                <a:sym typeface="+mn-ea"/>
              </a:rPr>
              <a:t>80H属性分析</a:t>
            </a:r>
            <a:endParaRPr lang="en-US" altLang="zh-CN"/>
          </a:p>
        </p:txBody>
      </p:sp>
      <p:sp>
        <p:nvSpPr>
          <p:cNvPr id="106498" name="内容占位符 2"/>
          <p:cNvSpPr>
            <a:spLocks noGrp="1"/>
          </p:cNvSpPr>
          <p:nvPr>
            <p:ph idx="1"/>
          </p:nvPr>
        </p:nvSpPr>
        <p:spPr/>
        <p:txBody>
          <a:bodyPr anchor="t" anchorCtr="0"/>
          <a:p>
            <a:r>
              <a:rPr lang="zh-CN" altLang="en-US">
                <a:sym typeface="+mn-ea"/>
              </a:rPr>
              <a:t>未命名数据流</a:t>
            </a:r>
            <a:endParaRPr lang="zh-CN" altLang="en-US"/>
          </a:p>
          <a:p>
            <a:pPr lvl="1" indent="-325120"/>
            <a:r>
              <a:rPr lang="zh-CN" altLang="en-US"/>
              <a:t>数据属性的Run List值为“32 0C 1B 00 00 0C”</a:t>
            </a:r>
            <a:endParaRPr lang="zh-CN" altLang="en-US"/>
          </a:p>
        </p:txBody>
      </p:sp>
      <p:pic>
        <p:nvPicPr>
          <p:cNvPr id="106499" name="图片 3" descr="/private/var/folders/z1/_v6t_9s51kqckknxrtjc_wz00000gp/T/com.kingsoft.wpsoffice.mac/photoeditapp/20240312165544/temp.pngtemp"/>
          <p:cNvPicPr>
            <a:picLocks noChangeAspect="1"/>
          </p:cNvPicPr>
          <p:nvPr/>
        </p:nvPicPr>
        <p:blipFill>
          <a:blip r:embed="rId1"/>
          <a:stretch>
            <a:fillRect/>
          </a:stretch>
        </p:blipFill>
        <p:spPr>
          <a:xfrm>
            <a:off x="344488" y="2781618"/>
            <a:ext cx="8455025" cy="2948940"/>
          </a:xfrm>
          <a:prstGeom prst="rect">
            <a:avLst/>
          </a:prstGeom>
          <a:noFill/>
          <a:ln w="9525">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80H属性分析</a:t>
            </a:r>
            <a:endParaRPr lang="zh-CN" altLang="en-US"/>
          </a:p>
        </p:txBody>
      </p:sp>
      <p:sp>
        <p:nvSpPr>
          <p:cNvPr id="3" name="内容占位符 2"/>
          <p:cNvSpPr>
            <a:spLocks noGrp="1"/>
          </p:cNvSpPr>
          <p:nvPr>
            <p:ph idx="1"/>
          </p:nvPr>
        </p:nvSpPr>
        <p:spPr>
          <a:xfrm>
            <a:off x="457200" y="1600200"/>
            <a:ext cx="8229600" cy="1168400"/>
          </a:xfrm>
        </p:spPr>
        <p:txBody>
          <a:bodyPr/>
          <a:p>
            <a:r>
              <a:rPr lang="zh-CN" altLang="en-US"/>
              <a:t>命名数据流</a:t>
            </a:r>
            <a:endParaRPr lang="zh-CN" altLang="en-US"/>
          </a:p>
          <a:p>
            <a:pPr marL="344170" lvl="1" indent="0">
              <a:buNone/>
            </a:pPr>
            <a:endParaRPr lang="zh-CN" altLang="en-US" sz="2400"/>
          </a:p>
        </p:txBody>
      </p:sp>
      <p:graphicFrame>
        <p:nvGraphicFramePr>
          <p:cNvPr id="4" name="表格 3"/>
          <p:cNvGraphicFramePr/>
          <p:nvPr>
            <p:custDataLst>
              <p:tags r:id="rId1"/>
            </p:custDataLst>
          </p:nvPr>
        </p:nvGraphicFramePr>
        <p:xfrm>
          <a:off x="683260" y="2277110"/>
          <a:ext cx="7154545" cy="3769995"/>
        </p:xfrm>
        <a:graphic>
          <a:graphicData uri="http://schemas.openxmlformats.org/drawingml/2006/table">
            <a:tbl>
              <a:tblPr/>
              <a:tblGrid>
                <a:gridCol w="2792095"/>
                <a:gridCol w="2212975"/>
                <a:gridCol w="2149475"/>
              </a:tblGrid>
              <a:tr h="342265">
                <a:tc>
                  <a:txBody>
                    <a:bodyPr/>
                    <a:p>
                      <a:pPr indent="0">
                        <a:buNone/>
                      </a:pPr>
                      <a:r>
                        <a:rPr lang="en-US" sz="1800" b="0">
                          <a:solidFill>
                            <a:srgbClr val="000000"/>
                          </a:solidFill>
                          <a:latin typeface="宋体" charset="0"/>
                          <a:cs typeface="宋体" charset="0"/>
                        </a:rPr>
                        <a:t>数据流</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包含的文件摘要</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数据类型</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85800">
                <a:tc>
                  <a:txBody>
                    <a:bodyPr/>
                    <a:p>
                      <a:pPr indent="0">
                        <a:buNone/>
                      </a:pPr>
                      <a:r>
                        <a:rPr lang="en-US" sz="1800" b="0">
                          <a:solidFill>
                            <a:srgbClr val="000000"/>
                          </a:solidFill>
                          <a:latin typeface="宋体" charset="0"/>
                          <a:cs typeface="宋体" charset="0"/>
                        </a:rPr>
                        <a:t>^EDocumentSummaryInformation</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类别</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ASCII码</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85800">
                <a:tc>
                  <a:txBody>
                    <a:bodyPr/>
                    <a:p>
                      <a:pPr indent="0">
                        <a:buNone/>
                      </a:pPr>
                      <a:r>
                        <a:rPr lang="en-US" sz="1800" b="0">
                          <a:solidFill>
                            <a:srgbClr val="000000"/>
                          </a:solidFill>
                          <a:latin typeface="宋体" charset="0"/>
                          <a:cs typeface="宋体" charset="0"/>
                        </a:rPr>
                        <a:t>^ESebiesnrMkudrfcoIaamtykdDa</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来源</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Unicode编码</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2265">
                <a:tc rowSpan="6">
                  <a:txBody>
                    <a:bodyPr/>
                    <a:p>
                      <a:pPr indent="0">
                        <a:buNone/>
                      </a:pPr>
                      <a:r>
                        <a:rPr lang="en-US" sz="1800" b="0">
                          <a:solidFill>
                            <a:srgbClr val="000000"/>
                          </a:solidFill>
                          <a:latin typeface="宋体" charset="0"/>
                          <a:cs typeface="宋体" charset="0"/>
                        </a:rPr>
                        <a:t>^ESummaryInformation</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标题</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ASCII码</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3535">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p>
                      <a:pPr indent="0">
                        <a:buNone/>
                      </a:pPr>
                      <a:r>
                        <a:rPr lang="en-US" sz="1800" b="0">
                          <a:solidFill>
                            <a:srgbClr val="000000"/>
                          </a:solidFill>
                          <a:latin typeface="宋体" charset="0"/>
                          <a:cs typeface="宋体" charset="0"/>
                        </a:rPr>
                        <a:t>主题</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ASCII码</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2265">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p>
                      <a:pPr indent="0">
                        <a:buNone/>
                      </a:pPr>
                      <a:r>
                        <a:rPr lang="en-US" sz="1800" b="0">
                          <a:solidFill>
                            <a:srgbClr val="000000"/>
                          </a:solidFill>
                          <a:latin typeface="宋体" charset="0"/>
                          <a:cs typeface="宋体" charset="0"/>
                        </a:rPr>
                        <a:t>作者</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ASCII码</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2265">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p>
                      <a:pPr indent="0">
                        <a:buNone/>
                      </a:pPr>
                      <a:r>
                        <a:rPr lang="en-US" sz="1800" b="0">
                          <a:solidFill>
                            <a:srgbClr val="000000"/>
                          </a:solidFill>
                          <a:latin typeface="宋体" charset="0"/>
                          <a:cs typeface="宋体" charset="0"/>
                        </a:rPr>
                        <a:t>关键字</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ASCII码</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3535">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p>
                      <a:pPr indent="0">
                        <a:buNone/>
                      </a:pPr>
                      <a:r>
                        <a:rPr lang="en-US" sz="1800" b="0">
                          <a:solidFill>
                            <a:srgbClr val="000000"/>
                          </a:solidFill>
                          <a:latin typeface="宋体" charset="0"/>
                          <a:cs typeface="宋体" charset="0"/>
                        </a:rPr>
                        <a:t>备注</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ASCII码</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2265">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p>
                      <a:pPr indent="0">
                        <a:buNone/>
                      </a:pPr>
                      <a:r>
                        <a:rPr lang="en-US" sz="1800" b="0">
                          <a:solidFill>
                            <a:srgbClr val="000000"/>
                          </a:solidFill>
                          <a:latin typeface="宋体" charset="0"/>
                          <a:cs typeface="宋体" charset="0"/>
                        </a:rPr>
                        <a:t>修订版号码</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ASCII码</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标题 1"/>
          <p:cNvSpPr>
            <a:spLocks noGrp="1"/>
          </p:cNvSpPr>
          <p:nvPr>
            <p:ph type="title"/>
          </p:nvPr>
        </p:nvSpPr>
        <p:spPr/>
        <p:txBody>
          <a:bodyPr anchor="t" anchorCtr="0"/>
          <a:p>
            <a:r>
              <a:rPr lang="zh-CN" altLang="en-US">
                <a:sym typeface="+mn-ea"/>
              </a:rPr>
              <a:t>80H属性分析</a:t>
            </a:r>
            <a:endParaRPr lang="en-US" altLang="zh-CN"/>
          </a:p>
        </p:txBody>
      </p:sp>
      <p:sp>
        <p:nvSpPr>
          <p:cNvPr id="105474" name="内容占位符 2"/>
          <p:cNvSpPr>
            <a:spLocks noGrp="1"/>
          </p:cNvSpPr>
          <p:nvPr>
            <p:ph idx="1"/>
          </p:nvPr>
        </p:nvSpPr>
        <p:spPr/>
        <p:txBody>
          <a:bodyPr anchor="t" anchorCtr="0"/>
          <a:p>
            <a:r>
              <a:rPr lang="zh-CN" altLang="en-US"/>
              <a:t>命名数据</a:t>
            </a:r>
            <a:r>
              <a:rPr lang="zh-CN" altLang="en-US"/>
              <a:t>流</a:t>
            </a:r>
            <a:endParaRPr lang="zh-CN" altLang="en-US"/>
          </a:p>
          <a:p>
            <a:pPr lvl="1"/>
            <a:r>
              <a:rPr lang="zh-CN" altLang="en-US" sz="2400"/>
              <a:t>$Bad，坏簇数据流，该数据流只有在$BadClus元文件中才有，它是一个记录卷中簇的情况的数据流。任何好的簇、未用的簇及坏簇，都将在对应的位置做标记。NTFS不会像FAT系统那样提示“Abort，Retry，Fail?”，如果系统运行时新的坏簇被发现，系统将这个坏扇标记到坏簇文件（$BadClus）中。</a:t>
            </a:r>
            <a:endParaRPr lang="zh-CN" altLang="en-US" sz="2400"/>
          </a:p>
          <a:p>
            <a:pPr lvl="1"/>
            <a:r>
              <a:rPr lang="zh-CN" altLang="en-US" sz="2400"/>
              <a:t>$SDS，安全描述流（$SDS），只有在$Secure元文件中才有，它包含了卷中所有安全描述列表。</a:t>
            </a:r>
            <a:endParaRPr lang="zh-CN" altLang="en-US" sz="2400"/>
          </a:p>
          <a:p>
            <a:pPr lvl="1"/>
            <a:r>
              <a:rPr lang="zh-CN" altLang="en-US" sz="2400"/>
              <a:t>$J、$Max，这两个数据流只有$Extend\$UsnJrnl元文件中才有。</a:t>
            </a:r>
            <a:endParaRPr lang="zh-CN" altLang="en-US" sz="240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标题 1"/>
          <p:cNvSpPr>
            <a:spLocks noGrp="1"/>
          </p:cNvSpPr>
          <p:nvPr>
            <p:ph type="title"/>
          </p:nvPr>
        </p:nvSpPr>
        <p:spPr/>
        <p:txBody>
          <a:bodyPr anchor="t" anchorCtr="0"/>
          <a:p>
            <a:r>
              <a:rPr lang="zh-CN" altLang="en-US">
                <a:sym typeface="+mn-ea"/>
              </a:rPr>
              <a:t>90H属性分析</a:t>
            </a:r>
            <a:br>
              <a:rPr lang="zh-CN" altLang="en-US"/>
            </a:br>
            <a:endParaRPr lang="zh-CN" altLang="en-US">
              <a:sym typeface="华文新魏" panose="02010800040101010101" charset="-122"/>
            </a:endParaRPr>
          </a:p>
        </p:txBody>
      </p:sp>
      <p:sp>
        <p:nvSpPr>
          <p:cNvPr id="109570" name="内容占位符 2"/>
          <p:cNvSpPr>
            <a:spLocks noGrp="1"/>
          </p:cNvSpPr>
          <p:nvPr>
            <p:ph idx="1"/>
          </p:nvPr>
        </p:nvSpPr>
        <p:spPr>
          <a:xfrm>
            <a:off x="457200" y="1600200"/>
            <a:ext cx="8079105" cy="1139825"/>
          </a:xfrm>
        </p:spPr>
        <p:txBody>
          <a:bodyPr anchor="t" anchorCtr="0"/>
          <a:p>
            <a:pPr marL="344805" lvl="1" indent="0">
              <a:buNone/>
            </a:pPr>
            <a:r>
              <a:rPr lang="zh-CN" altLang="en-US" sz="2400"/>
              <a:t>90H属性是索引根属性，该属性是实现NTFS的B+树索引的根节点，它总是常驻属性。</a:t>
            </a:r>
            <a:endParaRPr lang="zh-CN" altLang="en-US" sz="2400"/>
          </a:p>
        </p:txBody>
      </p:sp>
      <p:pic>
        <p:nvPicPr>
          <p:cNvPr id="2" name="图片 1" descr="90"/>
          <p:cNvPicPr>
            <a:picLocks noChangeAspect="1"/>
          </p:cNvPicPr>
          <p:nvPr/>
        </p:nvPicPr>
        <p:blipFill>
          <a:blip r:embed="rId1"/>
          <a:stretch>
            <a:fillRect/>
          </a:stretch>
        </p:blipFill>
        <p:spPr>
          <a:xfrm>
            <a:off x="899160" y="2493010"/>
            <a:ext cx="7319645" cy="3773805"/>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90H属性分析</a:t>
            </a:r>
            <a:endParaRPr lang="zh-CN" altLang="en-US"/>
          </a:p>
        </p:txBody>
      </p:sp>
      <p:sp>
        <p:nvSpPr>
          <p:cNvPr id="3" name="内容占位符 2"/>
          <p:cNvSpPr>
            <a:spLocks noGrp="1"/>
          </p:cNvSpPr>
          <p:nvPr>
            <p:ph idx="1"/>
          </p:nvPr>
        </p:nvSpPr>
        <p:spPr/>
        <p:txBody>
          <a:bodyPr/>
          <a:p>
            <a:r>
              <a:rPr lang="en-US" altLang="zh-CN"/>
              <a:t>索引根</a:t>
            </a:r>
            <a:r>
              <a:rPr lang="zh-CN" altLang="en-US">
                <a:sym typeface="+mn-ea"/>
              </a:rPr>
              <a:t>结构表</a:t>
            </a:r>
            <a:endParaRPr lang="en-US" altLang="zh-CN"/>
          </a:p>
        </p:txBody>
      </p:sp>
      <p:graphicFrame>
        <p:nvGraphicFramePr>
          <p:cNvPr id="4" name="表格 3"/>
          <p:cNvGraphicFramePr/>
          <p:nvPr/>
        </p:nvGraphicFramePr>
        <p:xfrm>
          <a:off x="802005" y="2262505"/>
          <a:ext cx="7707630" cy="3471545"/>
        </p:xfrm>
        <a:graphic>
          <a:graphicData uri="http://schemas.openxmlformats.org/drawingml/2006/table">
            <a:tbl>
              <a:tblPr/>
              <a:tblGrid>
                <a:gridCol w="1087120"/>
                <a:gridCol w="1000125"/>
                <a:gridCol w="5620385"/>
              </a:tblGrid>
              <a:tr h="495935">
                <a:tc>
                  <a:txBody>
                    <a:bodyPr/>
                    <a:p>
                      <a:pPr indent="0">
                        <a:buNone/>
                      </a:pPr>
                      <a:r>
                        <a:rPr lang="en-US" sz="1800" b="0">
                          <a:solidFill>
                            <a:srgbClr val="000000"/>
                          </a:solidFill>
                          <a:latin typeface="宋体" charset="0"/>
                          <a:cs typeface="宋体" charset="0"/>
                        </a:rPr>
                        <a:t>偏移</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长</a:t>
                      </a:r>
                      <a:r>
                        <a:rPr lang="zh-CN" altLang="en-US" sz="1800" b="0">
                          <a:solidFill>
                            <a:srgbClr val="000000"/>
                          </a:solidFill>
                          <a:latin typeface="宋体" charset="0"/>
                          <a:cs typeface="宋体" charset="0"/>
                        </a:rPr>
                        <a:t>度</a:t>
                      </a:r>
                      <a:endParaRPr lang="zh-CN" altLang="en-US" sz="1800" b="0">
                        <a:solidFill>
                          <a:srgbClr val="000000"/>
                        </a:solidFill>
                        <a:latin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描述</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95935">
                <a:tc>
                  <a:txBody>
                    <a:bodyPr/>
                    <a:p>
                      <a:pPr indent="0">
                        <a:buNone/>
                      </a:pPr>
                      <a:r>
                        <a:rPr lang="en-US" sz="1800" b="0">
                          <a:solidFill>
                            <a:srgbClr val="000000"/>
                          </a:solidFill>
                          <a:latin typeface="宋体" charset="0"/>
                          <a:cs typeface="宋体" charset="0"/>
                        </a:rPr>
                        <a:t>～</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标准属性头</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95935">
                <a:tc>
                  <a:txBody>
                    <a:bodyPr/>
                    <a:p>
                      <a:pPr indent="0">
                        <a:buNone/>
                      </a:pPr>
                      <a:r>
                        <a:rPr lang="en-US" sz="1800" b="0">
                          <a:solidFill>
                            <a:srgbClr val="000000"/>
                          </a:solidFill>
                          <a:latin typeface="宋体" charset="0"/>
                          <a:cs typeface="宋体" charset="0"/>
                        </a:rPr>
                        <a:t>0x00</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4</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属性类型</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95935">
                <a:tc>
                  <a:txBody>
                    <a:bodyPr/>
                    <a:p>
                      <a:pPr indent="0">
                        <a:buNone/>
                      </a:pPr>
                      <a:r>
                        <a:rPr lang="en-US" sz="1800" b="0">
                          <a:solidFill>
                            <a:srgbClr val="000000"/>
                          </a:solidFill>
                          <a:latin typeface="宋体" charset="0"/>
                          <a:cs typeface="宋体" charset="0"/>
                        </a:rPr>
                        <a:t>0x04</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4</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校对规则</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95935">
                <a:tc>
                  <a:txBody>
                    <a:bodyPr/>
                    <a:p>
                      <a:pPr indent="0">
                        <a:buNone/>
                      </a:pPr>
                      <a:r>
                        <a:rPr lang="en-US" sz="1800" b="0">
                          <a:solidFill>
                            <a:srgbClr val="000000"/>
                          </a:solidFill>
                          <a:latin typeface="宋体" charset="0"/>
                          <a:cs typeface="宋体" charset="0"/>
                        </a:rPr>
                        <a:t>0x08</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4</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每个索引缓冲区的分配大小（字节数）</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95935">
                <a:tc>
                  <a:txBody>
                    <a:bodyPr/>
                    <a:p>
                      <a:pPr indent="0">
                        <a:buNone/>
                      </a:pPr>
                      <a:r>
                        <a:rPr lang="en-US" sz="1800" b="0">
                          <a:solidFill>
                            <a:srgbClr val="000000"/>
                          </a:solidFill>
                          <a:latin typeface="宋体" charset="0"/>
                          <a:cs typeface="宋体" charset="0"/>
                        </a:rPr>
                        <a:t>0x0C</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1</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每个索引缓冲区的簇数</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95935">
                <a:tc>
                  <a:txBody>
                    <a:bodyPr/>
                    <a:p>
                      <a:pPr indent="0">
                        <a:buNone/>
                      </a:pPr>
                      <a:r>
                        <a:rPr lang="en-US" sz="1800" b="0">
                          <a:solidFill>
                            <a:srgbClr val="000000"/>
                          </a:solidFill>
                          <a:latin typeface="宋体" charset="0"/>
                          <a:cs typeface="宋体" charset="0"/>
                        </a:rPr>
                        <a:t>0x0D</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3</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000000"/>
                          </a:solidFill>
                          <a:latin typeface="宋体" charset="0"/>
                          <a:cs typeface="宋体" charset="0"/>
                        </a:rPr>
                        <a:t>无意义（填充到属性长度能被8整除）</a:t>
                      </a:r>
                      <a:endParaRPr lang="en-US" altLang="en-US" sz="1800" b="0">
                        <a:solidFill>
                          <a:srgbClr val="000000"/>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100" name="文本框 99"/>
          <p:cNvSpPr txBox="1"/>
          <p:nvPr/>
        </p:nvSpPr>
        <p:spPr>
          <a:xfrm>
            <a:off x="802005" y="3999865"/>
            <a:ext cx="5193665" cy="586105"/>
          </a:xfrm>
          <a:prstGeom prst="rect">
            <a:avLst/>
          </a:prstGeom>
          <a:noFill/>
          <a:ln w="9525">
            <a:noFill/>
          </a:ln>
        </p:spPr>
        <p:txBody>
          <a:bodyPr>
            <a:noAutofit/>
          </a:bodyPr>
          <a:p>
            <a:pPr marL="0" indent="0" algn="l"/>
            <a:r>
              <a:rPr lang="en-US" sz="1050" b="0">
                <a:latin typeface="Calibri" charset="0"/>
                <a:cs typeface="宋体" charset="0"/>
              </a:rPr>
              <a:t> </a:t>
            </a:r>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90H属性</a:t>
            </a:r>
            <a:endParaRPr lang="zh-CN" altLang="en-US"/>
          </a:p>
        </p:txBody>
      </p:sp>
      <p:sp>
        <p:nvSpPr>
          <p:cNvPr id="3" name="内容占位符 2"/>
          <p:cNvSpPr>
            <a:spLocks noGrp="1"/>
          </p:cNvSpPr>
          <p:nvPr>
            <p:ph idx="1"/>
          </p:nvPr>
        </p:nvSpPr>
        <p:spPr/>
        <p:txBody>
          <a:bodyPr/>
          <a:p>
            <a:r>
              <a:rPr lang="zh-CN" altLang="en-US"/>
              <a:t>索引头结构表</a:t>
            </a:r>
            <a:endParaRPr lang="zh-CN" altLang="en-US"/>
          </a:p>
        </p:txBody>
      </p:sp>
      <p:graphicFrame>
        <p:nvGraphicFramePr>
          <p:cNvPr id="4" name="表格 3"/>
          <p:cNvGraphicFramePr/>
          <p:nvPr/>
        </p:nvGraphicFramePr>
        <p:xfrm>
          <a:off x="683260" y="2277110"/>
          <a:ext cx="7429500" cy="3467100"/>
        </p:xfrm>
        <a:graphic>
          <a:graphicData uri="http://schemas.openxmlformats.org/drawingml/2006/table">
            <a:tbl>
              <a:tblPr/>
              <a:tblGrid>
                <a:gridCol w="685800"/>
                <a:gridCol w="955675"/>
                <a:gridCol w="5788025"/>
              </a:tblGrid>
              <a:tr h="457200">
                <a:tc>
                  <a:txBody>
                    <a:bodyPr/>
                    <a:p>
                      <a:pPr indent="0">
                        <a:buNone/>
                      </a:pPr>
                      <a:r>
                        <a:rPr lang="en-US" sz="1800" b="0">
                          <a:latin typeface="宋体" charset="0"/>
                          <a:cs typeface="宋体" charset="0"/>
                        </a:rPr>
                        <a:t>偏移</a:t>
                      </a:r>
                      <a:endParaRPr lang="en-US" altLang="en-US" sz="1800" b="0">
                        <a:latin typeface="宋体" charset="0"/>
                        <a:ea typeface="宋体" charset="0"/>
                        <a:cs typeface="宋体" charset="0"/>
                      </a:endParaRPr>
                    </a:p>
                  </a:txBody>
                  <a:tcPr marL="50800" marR="50800" marT="50800" marB="50800" vert="horz" anchor="ctr" anchorCtr="0">
                    <a:lnL w="12700" cap="flat" cmpd="sng">
                      <a:solidFill>
                        <a:srgbClr val="DDDDDD"/>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latin typeface="宋体" charset="0"/>
                          <a:cs typeface="宋体" charset="0"/>
                        </a:rPr>
                        <a:t>长度</a:t>
                      </a:r>
                      <a:endParaRPr lang="en-US" altLang="en-US" sz="1800" b="0">
                        <a:latin typeface="宋体" charset="0"/>
                        <a:ea typeface="宋体" charset="0"/>
                        <a:cs typeface="宋体" charset="0"/>
                      </a:endParaRPr>
                    </a:p>
                  </a:txBody>
                  <a:tcPr marL="50800" marR="50800" marT="50800" marB="5080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latin typeface="宋体" charset="0"/>
                          <a:cs typeface="宋体" charset="0"/>
                        </a:rPr>
                        <a:t>描述</a:t>
                      </a:r>
                      <a:endParaRPr lang="en-US" altLang="en-US" sz="1800" b="0">
                        <a:latin typeface="宋体" charset="0"/>
                        <a:ea typeface="宋体" charset="0"/>
                        <a:cs typeface="宋体" charset="0"/>
                      </a:endParaRPr>
                    </a:p>
                  </a:txBody>
                  <a:tcPr marL="50800" marR="50800" marT="50800" marB="5080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r>
              <a:tr h="215900">
                <a:tc>
                  <a:txBody>
                    <a:bodyPr/>
                    <a:p>
                      <a:pPr indent="0">
                        <a:buNone/>
                      </a:pPr>
                      <a:r>
                        <a:rPr lang="en-US" sz="1800" b="0">
                          <a:latin typeface="宋体" charset="0"/>
                          <a:cs typeface="宋体" charset="0"/>
                        </a:rPr>
                        <a:t>-</a:t>
                      </a:r>
                      <a:endParaRPr lang="en-US" altLang="en-US" sz="1800" b="0">
                        <a:latin typeface="宋体" charset="0"/>
                        <a:ea typeface="宋体" charset="0"/>
                        <a:cs typeface="宋体" charset="0"/>
                      </a:endParaRPr>
                    </a:p>
                  </a:txBody>
                  <a:tcPr marL="50800" marR="50800" marT="50800" marB="5080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latin typeface="宋体" charset="0"/>
                          <a:cs typeface="宋体" charset="0"/>
                        </a:rPr>
                        <a:t>-</a:t>
                      </a:r>
                      <a:endParaRPr lang="en-US" altLang="en-US" sz="1800" b="0">
                        <a:latin typeface="宋体" charset="0"/>
                        <a:ea typeface="宋体" charset="0"/>
                        <a:cs typeface="宋体" charset="0"/>
                      </a:endParaRPr>
                    </a:p>
                  </a:txBody>
                  <a:tcPr marL="50800" marR="50800" marT="50800" marB="5080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latin typeface="宋体" charset="0"/>
                          <a:cs typeface="宋体" charset="0"/>
                        </a:rPr>
                        <a:t>标准属性头</a:t>
                      </a:r>
                      <a:endParaRPr lang="en-US" altLang="en-US" sz="1800" b="0">
                        <a:latin typeface="宋体" charset="0"/>
                        <a:ea typeface="宋体" charset="0"/>
                        <a:cs typeface="宋体" charset="0"/>
                      </a:endParaRPr>
                    </a:p>
                  </a:txBody>
                  <a:tcPr marL="50800" marR="50800" marT="50800" marB="5080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r>
              <a:tr h="558800">
                <a:tc>
                  <a:txBody>
                    <a:bodyPr/>
                    <a:p>
                      <a:pPr indent="0">
                        <a:buNone/>
                      </a:pPr>
                      <a:r>
                        <a:rPr lang="en-US" sz="1800" b="0">
                          <a:latin typeface="宋体" charset="0"/>
                          <a:cs typeface="宋体" charset="0"/>
                        </a:rPr>
                        <a:t>0x00</a:t>
                      </a:r>
                      <a:endParaRPr lang="en-US" altLang="en-US" sz="1800" b="0">
                        <a:latin typeface="宋体" charset="0"/>
                        <a:ea typeface="宋体" charset="0"/>
                        <a:cs typeface="宋体" charset="0"/>
                      </a:endParaRPr>
                    </a:p>
                  </a:txBody>
                  <a:tcPr marL="50800" marR="50800" marT="50800" marB="5080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latin typeface="宋体" charset="0"/>
                          <a:cs typeface="宋体" charset="0"/>
                        </a:rPr>
                        <a:t>4</a:t>
                      </a:r>
                      <a:endParaRPr lang="en-US" altLang="en-US" sz="1800" b="0">
                        <a:latin typeface="宋体" charset="0"/>
                        <a:ea typeface="宋体" charset="0"/>
                        <a:cs typeface="宋体" charset="0"/>
                      </a:endParaRPr>
                    </a:p>
                  </a:txBody>
                  <a:tcPr marL="50800" marR="50800" marT="50800" marB="5080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latin typeface="宋体" charset="0"/>
                          <a:cs typeface="宋体" charset="0"/>
                        </a:rPr>
                        <a:t>第一个索引项的偏移</a:t>
                      </a:r>
                      <a:endParaRPr lang="en-US" altLang="en-US" sz="1800" b="0">
                        <a:latin typeface="宋体" charset="0"/>
                        <a:ea typeface="宋体" charset="0"/>
                        <a:cs typeface="宋体" charset="0"/>
                      </a:endParaRPr>
                    </a:p>
                  </a:txBody>
                  <a:tcPr marL="50800" marR="50800" marT="50800" marB="5080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r>
              <a:tr h="558800">
                <a:tc>
                  <a:txBody>
                    <a:bodyPr/>
                    <a:p>
                      <a:pPr indent="0">
                        <a:buNone/>
                      </a:pPr>
                      <a:r>
                        <a:rPr lang="en-US" sz="1800" b="0">
                          <a:latin typeface="宋体" charset="0"/>
                          <a:cs typeface="宋体" charset="0"/>
                        </a:rPr>
                        <a:t>0x04</a:t>
                      </a:r>
                      <a:endParaRPr lang="en-US" altLang="en-US" sz="1800" b="0">
                        <a:latin typeface="宋体" charset="0"/>
                        <a:ea typeface="宋体" charset="0"/>
                        <a:cs typeface="宋体" charset="0"/>
                      </a:endParaRPr>
                    </a:p>
                  </a:txBody>
                  <a:tcPr marL="50800" marR="50800" marT="50800" marB="5080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latin typeface="宋体" charset="0"/>
                          <a:cs typeface="宋体" charset="0"/>
                        </a:rPr>
                        <a:t>4</a:t>
                      </a:r>
                      <a:endParaRPr lang="en-US" altLang="en-US" sz="1800" b="0">
                        <a:latin typeface="宋体" charset="0"/>
                        <a:ea typeface="宋体" charset="0"/>
                        <a:cs typeface="宋体" charset="0"/>
                      </a:endParaRPr>
                    </a:p>
                  </a:txBody>
                  <a:tcPr marL="50800" marR="50800" marT="50800" marB="5080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latin typeface="宋体" charset="0"/>
                          <a:cs typeface="宋体" charset="0"/>
                        </a:rPr>
                        <a:t>索引项的总大小</a:t>
                      </a:r>
                      <a:endParaRPr lang="en-US" altLang="en-US" sz="1800" b="0">
                        <a:latin typeface="宋体" charset="0"/>
                        <a:ea typeface="宋体" charset="0"/>
                        <a:cs typeface="宋体" charset="0"/>
                      </a:endParaRPr>
                    </a:p>
                  </a:txBody>
                  <a:tcPr marL="50800" marR="50800" marT="50800" marB="5080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r>
              <a:tr h="558800">
                <a:tc>
                  <a:txBody>
                    <a:bodyPr/>
                    <a:p>
                      <a:pPr indent="0">
                        <a:buNone/>
                      </a:pPr>
                      <a:r>
                        <a:rPr lang="en-US" sz="1800" b="0">
                          <a:latin typeface="宋体" charset="0"/>
                          <a:cs typeface="宋体" charset="0"/>
                        </a:rPr>
                        <a:t>0x08</a:t>
                      </a:r>
                      <a:endParaRPr lang="en-US" altLang="en-US" sz="1800" b="0">
                        <a:latin typeface="宋体" charset="0"/>
                        <a:ea typeface="宋体" charset="0"/>
                        <a:cs typeface="宋体" charset="0"/>
                      </a:endParaRPr>
                    </a:p>
                  </a:txBody>
                  <a:tcPr marL="50800" marR="50800" marT="50800" marB="5080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latin typeface="宋体" charset="0"/>
                          <a:cs typeface="宋体" charset="0"/>
                        </a:rPr>
                        <a:t>4</a:t>
                      </a:r>
                      <a:endParaRPr lang="en-US" altLang="en-US" sz="1800" b="0">
                        <a:latin typeface="宋体" charset="0"/>
                        <a:ea typeface="宋体" charset="0"/>
                        <a:cs typeface="宋体" charset="0"/>
                      </a:endParaRPr>
                    </a:p>
                  </a:txBody>
                  <a:tcPr marL="50800" marR="50800" marT="50800" marB="5080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latin typeface="宋体" charset="0"/>
                          <a:cs typeface="宋体" charset="0"/>
                        </a:rPr>
                        <a:t>索引项的分配大小</a:t>
                      </a:r>
                      <a:endParaRPr lang="en-US" altLang="en-US" sz="1800" b="0">
                        <a:latin typeface="宋体" charset="0"/>
                        <a:ea typeface="宋体" charset="0"/>
                        <a:cs typeface="宋体" charset="0"/>
                      </a:endParaRPr>
                    </a:p>
                  </a:txBody>
                  <a:tcPr marL="50800" marR="50800" marT="50800" marB="5080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r>
              <a:tr h="558800">
                <a:tc>
                  <a:txBody>
                    <a:bodyPr/>
                    <a:p>
                      <a:pPr indent="0">
                        <a:buNone/>
                      </a:pPr>
                      <a:r>
                        <a:rPr lang="en-US" sz="1800" b="0">
                          <a:latin typeface="宋体" charset="0"/>
                          <a:cs typeface="宋体" charset="0"/>
                        </a:rPr>
                        <a:t>0x0C</a:t>
                      </a:r>
                      <a:endParaRPr lang="en-US" altLang="en-US" sz="1800" b="0">
                        <a:latin typeface="宋体" charset="0"/>
                        <a:ea typeface="宋体" charset="0"/>
                        <a:cs typeface="宋体" charset="0"/>
                      </a:endParaRPr>
                    </a:p>
                  </a:txBody>
                  <a:tcPr marL="50800" marR="50800" marT="50800" marB="5080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latin typeface="宋体" charset="0"/>
                          <a:cs typeface="宋体" charset="0"/>
                        </a:rPr>
                        <a:t>1</a:t>
                      </a:r>
                      <a:endParaRPr lang="en-US" altLang="en-US" sz="1800" b="0">
                        <a:latin typeface="宋体" charset="0"/>
                        <a:ea typeface="宋体" charset="0"/>
                        <a:cs typeface="宋体" charset="0"/>
                      </a:endParaRPr>
                    </a:p>
                  </a:txBody>
                  <a:tcPr marL="50800" marR="50800" marT="50800" marB="5080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latin typeface="宋体" charset="0"/>
                          <a:cs typeface="宋体" charset="0"/>
                        </a:rPr>
                        <a:t>标志</a:t>
                      </a:r>
                      <a:endParaRPr lang="en-US" altLang="en-US" sz="1800" b="0">
                        <a:latin typeface="宋体" charset="0"/>
                        <a:ea typeface="宋体" charset="0"/>
                        <a:cs typeface="宋体" charset="0"/>
                      </a:endParaRPr>
                    </a:p>
                  </a:txBody>
                  <a:tcPr marL="50800" marR="50800" marT="50800" marB="5080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r>
              <a:tr h="558800">
                <a:tc>
                  <a:txBody>
                    <a:bodyPr/>
                    <a:p>
                      <a:pPr indent="0">
                        <a:buNone/>
                      </a:pPr>
                      <a:r>
                        <a:rPr lang="en-US" sz="1800" b="0">
                          <a:latin typeface="宋体" charset="0"/>
                          <a:cs typeface="宋体" charset="0"/>
                        </a:rPr>
                        <a:t>0x0D</a:t>
                      </a:r>
                      <a:endParaRPr lang="en-US" altLang="en-US" sz="1800" b="0">
                        <a:latin typeface="宋体" charset="0"/>
                        <a:ea typeface="宋体" charset="0"/>
                        <a:cs typeface="宋体" charset="0"/>
                      </a:endParaRPr>
                    </a:p>
                  </a:txBody>
                  <a:tcPr marL="50800" marR="50800" marT="50800" marB="5080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latin typeface="宋体" charset="0"/>
                          <a:cs typeface="宋体" charset="0"/>
                        </a:rPr>
                        <a:t>3</a:t>
                      </a:r>
                      <a:endParaRPr lang="en-US" altLang="en-US" sz="1800" b="0">
                        <a:latin typeface="宋体" charset="0"/>
                        <a:ea typeface="宋体" charset="0"/>
                        <a:cs typeface="宋体" charset="0"/>
                      </a:endParaRPr>
                    </a:p>
                  </a:txBody>
                  <a:tcPr marL="50800" marR="50800" marT="50800" marB="5080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latin typeface="宋体" charset="0"/>
                          <a:cs typeface="宋体" charset="0"/>
                        </a:rPr>
                        <a:t>填充（到8字节）</a:t>
                      </a:r>
                      <a:endParaRPr lang="en-US" altLang="en-US" sz="1800" b="0">
                        <a:latin typeface="宋体" charset="0"/>
                        <a:ea typeface="宋体" charset="0"/>
                        <a:cs typeface="宋体" charset="0"/>
                      </a:endParaRPr>
                    </a:p>
                  </a:txBody>
                  <a:tcPr marL="50800" marR="50800" marT="50800" marB="5080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90H属性</a:t>
            </a:r>
            <a:endParaRPr lang="zh-CN" altLang="en-US"/>
          </a:p>
        </p:txBody>
      </p:sp>
      <p:sp>
        <p:nvSpPr>
          <p:cNvPr id="3" name="内容占位符 2"/>
          <p:cNvSpPr>
            <a:spLocks noGrp="1"/>
          </p:cNvSpPr>
          <p:nvPr>
            <p:ph idx="1"/>
          </p:nvPr>
        </p:nvSpPr>
        <p:spPr/>
        <p:txBody>
          <a:bodyPr/>
          <a:p>
            <a:r>
              <a:rPr lang="zh-CN" altLang="en-US"/>
              <a:t>索引项结构表</a:t>
            </a:r>
            <a:endParaRPr lang="zh-CN" altLang="en-US"/>
          </a:p>
        </p:txBody>
      </p:sp>
      <p:graphicFrame>
        <p:nvGraphicFramePr>
          <p:cNvPr id="4" name="表格 3"/>
          <p:cNvGraphicFramePr/>
          <p:nvPr>
            <p:custDataLst>
              <p:tags r:id="rId1"/>
            </p:custDataLst>
          </p:nvPr>
        </p:nvGraphicFramePr>
        <p:xfrm>
          <a:off x="467995" y="2188845"/>
          <a:ext cx="8154035" cy="3905250"/>
        </p:xfrm>
        <a:graphic>
          <a:graphicData uri="http://schemas.openxmlformats.org/drawingml/2006/table">
            <a:tbl>
              <a:tblPr/>
              <a:tblGrid>
                <a:gridCol w="890270"/>
                <a:gridCol w="725170"/>
                <a:gridCol w="2150110"/>
                <a:gridCol w="1123950"/>
                <a:gridCol w="897890"/>
                <a:gridCol w="2366645"/>
              </a:tblGrid>
              <a:tr h="325120">
                <a:tc>
                  <a:txBody>
                    <a:bodyPr/>
                    <a:p>
                      <a:pPr indent="0" algn="ctr">
                        <a:buNone/>
                      </a:pPr>
                      <a:r>
                        <a:rPr lang="en-US" sz="1800" b="0">
                          <a:latin typeface="宋体" pitchFamily="2" charset="-122"/>
                          <a:ea typeface="宋体" pitchFamily="2" charset="-122"/>
                          <a:cs typeface="宋体" pitchFamily="2" charset="-122"/>
                        </a:rPr>
                        <a:t>偏移</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长度</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itchFamily="2" charset="-122"/>
                          <a:ea typeface="宋体" pitchFamily="2" charset="-122"/>
                          <a:cs typeface="宋体" pitchFamily="2" charset="-122"/>
                        </a:rPr>
                        <a:t>描述</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偏移</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长度</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itchFamily="2" charset="-122"/>
                          <a:ea typeface="宋体" pitchFamily="2" charset="-122"/>
                          <a:cs typeface="宋体" pitchFamily="2" charset="-122"/>
                        </a:rPr>
                        <a:t>描述</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755">
                <a:tc>
                  <a:txBody>
                    <a:bodyPr/>
                    <a:p>
                      <a:pPr indent="0" algn="ctr">
                        <a:buNone/>
                      </a:pPr>
                      <a:r>
                        <a:rPr lang="en-US" sz="1800" b="0">
                          <a:latin typeface="宋体" pitchFamily="2" charset="-122"/>
                          <a:ea typeface="宋体" pitchFamily="2" charset="-122"/>
                          <a:cs typeface="宋体" pitchFamily="2" charset="-122"/>
                        </a:rPr>
                        <a:t>0x00</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8</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itchFamily="2" charset="-122"/>
                          <a:ea typeface="宋体" pitchFamily="2" charset="-122"/>
                          <a:cs typeface="宋体" pitchFamily="2" charset="-122"/>
                        </a:rPr>
                        <a:t>文件的MFT参考号</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0x30</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8</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itchFamily="2" charset="-122"/>
                          <a:ea typeface="宋体" pitchFamily="2" charset="-122"/>
                          <a:cs typeface="宋体" pitchFamily="2" charset="-122"/>
                        </a:rPr>
                        <a:t>最后访问时间</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755">
                <a:tc>
                  <a:txBody>
                    <a:bodyPr/>
                    <a:p>
                      <a:pPr indent="0" algn="ctr">
                        <a:buNone/>
                      </a:pPr>
                      <a:r>
                        <a:rPr lang="en-US" sz="1800" b="0">
                          <a:latin typeface="宋体" pitchFamily="2" charset="-122"/>
                          <a:ea typeface="宋体" pitchFamily="2" charset="-122"/>
                          <a:cs typeface="宋体" pitchFamily="2" charset="-122"/>
                        </a:rPr>
                        <a:t>0x08</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2</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itchFamily="2" charset="-122"/>
                          <a:ea typeface="宋体" pitchFamily="2" charset="-122"/>
                          <a:cs typeface="宋体" pitchFamily="2" charset="-122"/>
                        </a:rPr>
                        <a:t>索引项大小</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0x38</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8</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itchFamily="2" charset="-122"/>
                          <a:ea typeface="宋体" pitchFamily="2" charset="-122"/>
                          <a:cs typeface="宋体" pitchFamily="2" charset="-122"/>
                        </a:rPr>
                        <a:t>文件分配大小</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120">
                <a:tc>
                  <a:txBody>
                    <a:bodyPr/>
                    <a:p>
                      <a:pPr indent="0" algn="ctr">
                        <a:buNone/>
                      </a:pPr>
                      <a:r>
                        <a:rPr lang="en-US" sz="1800" b="0">
                          <a:latin typeface="宋体" pitchFamily="2" charset="-122"/>
                          <a:ea typeface="宋体" pitchFamily="2" charset="-122"/>
                          <a:cs typeface="宋体" pitchFamily="2" charset="-122"/>
                        </a:rPr>
                        <a:t>0x0A</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2</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itchFamily="2" charset="-122"/>
                          <a:ea typeface="宋体" pitchFamily="2" charset="-122"/>
                          <a:cs typeface="宋体" pitchFamily="2" charset="-122"/>
                        </a:rPr>
                        <a:t>文件名偏移</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0x40</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8</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itchFamily="2" charset="-122"/>
                          <a:ea typeface="宋体" pitchFamily="2" charset="-122"/>
                          <a:cs typeface="宋体" pitchFamily="2" charset="-122"/>
                        </a:rPr>
                        <a:t>文件实际大小</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755">
                <a:tc>
                  <a:txBody>
                    <a:bodyPr/>
                    <a:p>
                      <a:pPr indent="0" algn="ctr">
                        <a:buNone/>
                      </a:pPr>
                      <a:r>
                        <a:rPr lang="en-US" sz="1800" b="0">
                          <a:latin typeface="宋体" pitchFamily="2" charset="-122"/>
                          <a:ea typeface="宋体" pitchFamily="2" charset="-122"/>
                          <a:cs typeface="宋体" pitchFamily="2" charset="-122"/>
                        </a:rPr>
                        <a:t>0x0C</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2</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itchFamily="2" charset="-122"/>
                          <a:ea typeface="宋体" pitchFamily="2" charset="-122"/>
                          <a:cs typeface="宋体" pitchFamily="2" charset="-122"/>
                        </a:rPr>
                        <a:t>索引标志</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0x48</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8</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itchFamily="2" charset="-122"/>
                          <a:ea typeface="宋体" pitchFamily="2" charset="-122"/>
                          <a:cs typeface="宋体" pitchFamily="2" charset="-122"/>
                        </a:rPr>
                        <a:t>文件标志</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120">
                <a:tc>
                  <a:txBody>
                    <a:bodyPr/>
                    <a:p>
                      <a:pPr indent="0" algn="ctr">
                        <a:buNone/>
                      </a:pPr>
                      <a:r>
                        <a:rPr lang="en-US" sz="1800" b="0">
                          <a:latin typeface="宋体" pitchFamily="2" charset="-122"/>
                          <a:ea typeface="宋体" pitchFamily="2" charset="-122"/>
                          <a:cs typeface="宋体" pitchFamily="2" charset="-122"/>
                        </a:rPr>
                        <a:t>0x0E</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2</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itchFamily="2" charset="-122"/>
                          <a:ea typeface="宋体" pitchFamily="2" charset="-122"/>
                          <a:cs typeface="宋体" pitchFamily="2" charset="-122"/>
                        </a:rPr>
                        <a:t>填充（到8字节）</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0x50</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1</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itchFamily="2" charset="-122"/>
                          <a:ea typeface="宋体" pitchFamily="2" charset="-122"/>
                          <a:cs typeface="宋体" pitchFamily="2" charset="-122"/>
                        </a:rPr>
                        <a:t>文件名长度（F）</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50875">
                <a:tc>
                  <a:txBody>
                    <a:bodyPr/>
                    <a:p>
                      <a:pPr indent="0" algn="ctr">
                        <a:buNone/>
                      </a:pPr>
                      <a:r>
                        <a:rPr lang="en-US" sz="1800" b="0">
                          <a:latin typeface="宋体" pitchFamily="2" charset="-122"/>
                          <a:ea typeface="宋体" pitchFamily="2" charset="-122"/>
                          <a:cs typeface="宋体" pitchFamily="2" charset="-122"/>
                        </a:rPr>
                        <a:t>0x10</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8</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itchFamily="2" charset="-122"/>
                          <a:ea typeface="宋体" pitchFamily="2" charset="-122"/>
                          <a:cs typeface="宋体" pitchFamily="2" charset="-122"/>
                        </a:rPr>
                        <a:t>父目录的MFT文件参考号</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0x51</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1</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itchFamily="2" charset="-122"/>
                          <a:ea typeface="宋体" pitchFamily="2" charset="-122"/>
                          <a:cs typeface="宋体" pitchFamily="2" charset="-122"/>
                        </a:rPr>
                        <a:t>文件名命名空间</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755">
                <a:tc>
                  <a:txBody>
                    <a:bodyPr/>
                    <a:p>
                      <a:pPr indent="0" algn="ctr">
                        <a:buNone/>
                      </a:pPr>
                      <a:r>
                        <a:rPr lang="en-US" sz="1800" b="0">
                          <a:latin typeface="宋体" pitchFamily="2" charset="-122"/>
                          <a:ea typeface="宋体" pitchFamily="2" charset="-122"/>
                          <a:cs typeface="宋体" pitchFamily="2" charset="-122"/>
                        </a:rPr>
                        <a:t>0x18</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8</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itchFamily="2" charset="-122"/>
                          <a:ea typeface="宋体" pitchFamily="2" charset="-122"/>
                          <a:cs typeface="宋体" pitchFamily="2" charset="-122"/>
                        </a:rPr>
                        <a:t>文件创建时间</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0x52</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2F</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itchFamily="2" charset="-122"/>
                          <a:ea typeface="宋体" pitchFamily="2" charset="-122"/>
                          <a:cs typeface="宋体" pitchFamily="2" charset="-122"/>
                        </a:rPr>
                        <a:t>文件名</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120">
                <a:tc>
                  <a:txBody>
                    <a:bodyPr/>
                    <a:p>
                      <a:pPr indent="0" algn="ctr">
                        <a:buNone/>
                      </a:pPr>
                      <a:r>
                        <a:rPr lang="en-US" sz="1800" b="0">
                          <a:latin typeface="宋体" pitchFamily="2" charset="-122"/>
                          <a:ea typeface="宋体" pitchFamily="2" charset="-122"/>
                          <a:cs typeface="宋体" pitchFamily="2" charset="-122"/>
                        </a:rPr>
                        <a:t>0x20</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8</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itchFamily="2" charset="-122"/>
                          <a:ea typeface="宋体" pitchFamily="2" charset="-122"/>
                          <a:cs typeface="宋体" pitchFamily="2" charset="-122"/>
                        </a:rPr>
                        <a:t>最后修改时间</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2F+0x52</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P</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itchFamily="2" charset="-122"/>
                          <a:ea typeface="宋体" pitchFamily="2" charset="-122"/>
                          <a:cs typeface="宋体" pitchFamily="2" charset="-122"/>
                        </a:rPr>
                        <a:t>填充（到8字节）</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50875">
                <a:tc>
                  <a:txBody>
                    <a:bodyPr/>
                    <a:p>
                      <a:pPr indent="0" algn="ctr">
                        <a:buNone/>
                      </a:pPr>
                      <a:r>
                        <a:rPr lang="en-US" sz="1800" b="0">
                          <a:latin typeface="宋体" pitchFamily="2" charset="-122"/>
                          <a:ea typeface="宋体" pitchFamily="2" charset="-122"/>
                          <a:cs typeface="宋体" pitchFamily="2" charset="-122"/>
                        </a:rPr>
                        <a:t>0x28</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8</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itchFamily="2" charset="-122"/>
                          <a:ea typeface="宋体" pitchFamily="2" charset="-122"/>
                          <a:cs typeface="宋体" pitchFamily="2" charset="-122"/>
                        </a:rPr>
                        <a:t>文件记录最后修改时间</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P+2F+0x52</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itchFamily="2" charset="-122"/>
                          <a:ea typeface="宋体" pitchFamily="2" charset="-122"/>
                          <a:cs typeface="宋体" pitchFamily="2" charset="-122"/>
                        </a:rPr>
                        <a:t>8</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itchFamily="2" charset="-122"/>
                          <a:ea typeface="宋体" pitchFamily="2" charset="-122"/>
                          <a:cs typeface="宋体" pitchFamily="2" charset="-122"/>
                        </a:rPr>
                        <a:t>子节点索引缓存的VCN</a:t>
                      </a:r>
                      <a:endParaRPr lang="en-US" altLang="en-US" sz="1800" b="0">
                        <a:latin typeface="宋体" pitchFamily="2" charset="-122"/>
                        <a:ea typeface="宋体" pitchFamily="2" charset="-122"/>
                        <a:cs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A0H属性</a:t>
            </a:r>
            <a:endParaRPr lang="zh-CN" altLang="en-US"/>
          </a:p>
        </p:txBody>
      </p:sp>
      <p:sp>
        <p:nvSpPr>
          <p:cNvPr id="3" name="内容占位符 2"/>
          <p:cNvSpPr>
            <a:spLocks noGrp="1"/>
          </p:cNvSpPr>
          <p:nvPr>
            <p:ph idx="1"/>
          </p:nvPr>
        </p:nvSpPr>
        <p:spPr/>
        <p:txBody>
          <a:bodyPr/>
          <a:p>
            <a:r>
              <a:rPr lang="zh-CN" altLang="en-US"/>
              <a:t>A0H类型属性，即INDEX_ALLOCATION，它是索引分配属性，也是一个索引的基本结构，存储着组成索引的B＋树目录所有子节点的定位信息。</a:t>
            </a:r>
            <a:endParaRPr lang="zh-CN" altLang="en-US"/>
          </a:p>
          <a:p>
            <a:r>
              <a:rPr lang="zh-CN" altLang="en-US"/>
              <a:t>它总是非常驻属性，没有最大最小值限制。</a:t>
            </a:r>
            <a:endParaRPr lang="zh-CN" altLang="en-US"/>
          </a:p>
          <a:p>
            <a:r>
              <a:rPr lang="zh-CN" altLang="en-US"/>
              <a:t>A0H属性的Run List所描述的数据流，也就是NTFS的B＋树结构的索引缓冲区。</a:t>
            </a:r>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A0H属性</a:t>
            </a:r>
            <a:endParaRPr lang="zh-CN" altLang="en-US"/>
          </a:p>
        </p:txBody>
      </p:sp>
      <p:sp>
        <p:nvSpPr>
          <p:cNvPr id="3" name="内容占位符 2"/>
          <p:cNvSpPr>
            <a:spLocks noGrp="1"/>
          </p:cNvSpPr>
          <p:nvPr>
            <p:ph idx="1"/>
          </p:nvPr>
        </p:nvSpPr>
        <p:spPr/>
        <p:txBody>
          <a:bodyPr/>
          <a:p>
            <a:r>
              <a:rPr lang="zh-CN" altLang="en-US"/>
              <a:t>结构</a:t>
            </a:r>
            <a:endParaRPr lang="zh-CN" altLang="en-US"/>
          </a:p>
          <a:p>
            <a:endParaRPr lang="zh-CN" altLang="en-US"/>
          </a:p>
          <a:p>
            <a:endParaRPr lang="zh-CN" altLang="en-US"/>
          </a:p>
          <a:p>
            <a:endParaRPr lang="zh-CN" altLang="en-US"/>
          </a:p>
        </p:txBody>
      </p:sp>
      <p:graphicFrame>
        <p:nvGraphicFramePr>
          <p:cNvPr id="4" name="表格 3"/>
          <p:cNvGraphicFramePr/>
          <p:nvPr>
            <p:custDataLst>
              <p:tags r:id="rId1"/>
            </p:custDataLst>
          </p:nvPr>
        </p:nvGraphicFramePr>
        <p:xfrm>
          <a:off x="971550" y="2132965"/>
          <a:ext cx="4528185" cy="1003300"/>
        </p:xfrm>
        <a:graphic>
          <a:graphicData uri="http://schemas.openxmlformats.org/drawingml/2006/table">
            <a:tbl>
              <a:tblPr/>
              <a:tblGrid>
                <a:gridCol w="1102995"/>
                <a:gridCol w="1205230"/>
                <a:gridCol w="2219960"/>
              </a:tblGrid>
              <a:tr h="453390">
                <a:tc>
                  <a:txBody>
                    <a:bodyPr/>
                    <a:p>
                      <a:pPr indent="0">
                        <a:buNone/>
                      </a:pPr>
                      <a:r>
                        <a:rPr lang="en-US" sz="1800" b="0">
                          <a:latin typeface="宋体" charset="0"/>
                          <a:cs typeface="宋体" charset="0"/>
                        </a:rPr>
                        <a:t>～</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标准属性头</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49910">
                <a:tc>
                  <a:txBody>
                    <a:bodyPr/>
                    <a:p>
                      <a:pPr indent="0">
                        <a:buNone/>
                      </a:pPr>
                      <a:r>
                        <a:rPr lang="en-US" sz="1800" b="0">
                          <a:latin typeface="宋体" charset="0"/>
                          <a:cs typeface="宋体" charset="0"/>
                        </a:rPr>
                        <a:t>0x00</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charset="0"/>
                          <a:cs typeface="宋体" charset="0"/>
                        </a:rPr>
                        <a:t>Data Run列表</a:t>
                      </a:r>
                      <a:endParaRPr lang="en-US" altLang="en-US" sz="1800" b="0">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pic>
        <p:nvPicPr>
          <p:cNvPr id="5" name="图片 4"/>
          <p:cNvPicPr>
            <a:picLocks noChangeAspect="1"/>
          </p:cNvPicPr>
          <p:nvPr/>
        </p:nvPicPr>
        <p:blipFill>
          <a:blip r:embed="rId2"/>
          <a:stretch>
            <a:fillRect/>
          </a:stretch>
        </p:blipFill>
        <p:spPr>
          <a:xfrm>
            <a:off x="394970" y="3501390"/>
            <a:ext cx="8340090" cy="2251075"/>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标题 1"/>
          <p:cNvSpPr>
            <a:spLocks noGrp="1"/>
          </p:cNvSpPr>
          <p:nvPr>
            <p:ph type="title"/>
          </p:nvPr>
        </p:nvSpPr>
        <p:spPr/>
        <p:txBody>
          <a:bodyPr anchor="t" anchorCtr="0"/>
          <a:p>
            <a:r>
              <a:rPr lang="zh-CN" altLang="en-US"/>
              <a:t>元文件$Root</a:t>
            </a:r>
            <a:endParaRPr lang="zh-CN" altLang="en-US"/>
          </a:p>
        </p:txBody>
      </p:sp>
      <p:sp>
        <p:nvSpPr>
          <p:cNvPr id="107522" name="内容占位符 2"/>
          <p:cNvSpPr>
            <a:spLocks noGrp="1"/>
          </p:cNvSpPr>
          <p:nvPr>
            <p:ph idx="1"/>
          </p:nvPr>
        </p:nvSpPr>
        <p:spPr>
          <a:xfrm>
            <a:off x="457200" y="1600200"/>
            <a:ext cx="2063750" cy="4530725"/>
          </a:xfrm>
        </p:spPr>
        <p:txBody>
          <a:bodyPr anchor="t" anchorCtr="0"/>
          <a:p>
            <a:pPr marL="0" indent="0">
              <a:lnSpc>
                <a:spcPct val="170000"/>
              </a:lnSpc>
              <a:buNone/>
            </a:pPr>
            <a:r>
              <a:rPr lang="zh-CN" altLang="en-US" sz="2400"/>
              <a:t>元文件$Root是用来管理根目录的，其文件名实际上是“.”，它包含6个属性。</a:t>
            </a:r>
            <a:endParaRPr lang="zh-CN" altLang="en-US" sz="2400"/>
          </a:p>
          <a:p>
            <a:endParaRPr lang="zh-CN" altLang="en-US" sz="2400"/>
          </a:p>
        </p:txBody>
      </p:sp>
      <p:pic>
        <p:nvPicPr>
          <p:cNvPr id="2" name="图片 1"/>
          <p:cNvPicPr>
            <a:picLocks noChangeAspect="1"/>
          </p:cNvPicPr>
          <p:nvPr/>
        </p:nvPicPr>
        <p:blipFill>
          <a:blip r:embed="rId1"/>
          <a:stretch>
            <a:fillRect/>
          </a:stretch>
        </p:blipFill>
        <p:spPr>
          <a:xfrm>
            <a:off x="2987675" y="1412240"/>
            <a:ext cx="5766435" cy="5380355"/>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标题 1"/>
          <p:cNvSpPr>
            <a:spLocks noGrp="1"/>
          </p:cNvSpPr>
          <p:nvPr>
            <p:ph type="title"/>
          </p:nvPr>
        </p:nvSpPr>
        <p:spPr/>
        <p:txBody>
          <a:bodyPr anchor="t" anchorCtr="0"/>
          <a:p>
            <a:r>
              <a:rPr lang="zh-CN" altLang="en-US"/>
              <a:t>元文件$Root</a:t>
            </a:r>
            <a:endParaRPr lang="zh-CN" altLang="en-US"/>
          </a:p>
        </p:txBody>
      </p:sp>
      <p:sp>
        <p:nvSpPr>
          <p:cNvPr id="108546" name="内容占位符 2"/>
          <p:cNvSpPr>
            <a:spLocks noGrp="1"/>
          </p:cNvSpPr>
          <p:nvPr>
            <p:ph idx="1"/>
          </p:nvPr>
        </p:nvSpPr>
        <p:spPr/>
        <p:txBody>
          <a:bodyPr anchor="t" anchorCtr="0"/>
          <a:p>
            <a:r>
              <a:rPr lang="zh-CN" altLang="en-US"/>
              <a:t>10H属性</a:t>
            </a:r>
            <a:endParaRPr lang="zh-CN" altLang="en-US"/>
          </a:p>
          <a:p>
            <a:pPr lvl="1" indent="-325120"/>
            <a:r>
              <a:rPr lang="zh-CN" altLang="en-US" sz="2400"/>
              <a:t>定义了$</a:t>
            </a:r>
            <a:r>
              <a:rPr lang="en-US" altLang="zh-CN" sz="2400"/>
              <a:t>R</a:t>
            </a:r>
            <a:r>
              <a:rPr lang="zh-CN" altLang="en-US" sz="2400"/>
              <a:t>oot创建时间、最后修改时间、该MFT修改时间、文件最后访问时间、文件标志等信息。</a:t>
            </a:r>
            <a:endParaRPr lang="zh-CN" altLang="en-US"/>
          </a:p>
          <a:p>
            <a:r>
              <a:rPr lang="zh-CN" altLang="en-US"/>
              <a:t>30H属性</a:t>
            </a:r>
            <a:endParaRPr lang="zh-CN" altLang="en-US"/>
          </a:p>
          <a:p>
            <a:pPr lvl="1" indent="-325120"/>
            <a:r>
              <a:rPr sz="2400"/>
              <a:t>30H属性定义了根目录的父目录的文件参考号为根目录本身、根目录的一些时间属性、系统分配给根目录的大小（这里为0字节）、实际使用的大小（这里为0字节）；定义了文件的标志为10000006H，表示其为目录、存档、隐藏、系统文件；并定义了该文件的文件名长度为1个字符，命名空间为3；在属性的最后定义了该文件的文件名为Unicode字符串“.”。</a:t>
            </a:r>
            <a:endParaRPr sz="240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标题 1"/>
          <p:cNvSpPr>
            <a:spLocks noGrp="1"/>
          </p:cNvSpPr>
          <p:nvPr>
            <p:ph type="title"/>
          </p:nvPr>
        </p:nvSpPr>
        <p:spPr/>
        <p:txBody>
          <a:bodyPr anchor="t" anchorCtr="0"/>
          <a:p>
            <a:r>
              <a:rPr lang="zh-CN" altLang="en-US"/>
              <a:t>元文件$Root</a:t>
            </a:r>
            <a:endParaRPr lang="zh-CN" altLang="en-US"/>
          </a:p>
        </p:txBody>
      </p:sp>
      <p:sp>
        <p:nvSpPr>
          <p:cNvPr id="108546" name="内容占位符 2"/>
          <p:cNvSpPr>
            <a:spLocks noGrp="1"/>
          </p:cNvSpPr>
          <p:nvPr>
            <p:ph idx="1"/>
          </p:nvPr>
        </p:nvSpPr>
        <p:spPr/>
        <p:txBody>
          <a:bodyPr anchor="t" anchorCtr="0"/>
          <a:p>
            <a:r>
              <a:rPr lang="zh-CN" altLang="en-US"/>
              <a:t>90H属性</a:t>
            </a:r>
            <a:endParaRPr lang="zh-CN" altLang="en-US"/>
          </a:p>
          <a:p>
            <a:pPr lvl="1" indent="-325120"/>
            <a:r>
              <a:rPr sz="2400"/>
              <a:t>90H属性是索引根属性，为常驻属性，属性名为“$I30”，表示其为文件名索引。</a:t>
            </a:r>
            <a:endParaRPr sz="2400"/>
          </a:p>
          <a:p>
            <a:pPr lvl="1" indent="-325120"/>
            <a:r>
              <a:rPr sz="2400"/>
              <a:t>属性中定义了90H属性的索引属性类型为30H，也就是30H类型的索引；定义了单位字节的索引分配的大小（这里为1000H）、每索引记录的簇数（这里为01）等。</a:t>
            </a:r>
            <a:endParaRPr sz="2400"/>
          </a:p>
          <a:p>
            <a:endParaRPr sz="240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标题 1"/>
          <p:cNvSpPr>
            <a:spLocks noGrp="1"/>
          </p:cNvSpPr>
          <p:nvPr>
            <p:ph type="title"/>
          </p:nvPr>
        </p:nvSpPr>
        <p:spPr/>
        <p:txBody>
          <a:bodyPr anchor="t" anchorCtr="0"/>
          <a:p>
            <a:r>
              <a:rPr lang="zh-CN" altLang="en-US"/>
              <a:t>元文件$Root</a:t>
            </a:r>
            <a:endParaRPr lang="zh-CN" altLang="en-US"/>
          </a:p>
        </p:txBody>
      </p:sp>
      <p:sp>
        <p:nvSpPr>
          <p:cNvPr id="108546" name="内容占位符 2"/>
          <p:cNvSpPr>
            <a:spLocks noGrp="1"/>
          </p:cNvSpPr>
          <p:nvPr>
            <p:ph idx="1"/>
          </p:nvPr>
        </p:nvSpPr>
        <p:spPr/>
        <p:txBody>
          <a:bodyPr anchor="t" anchorCtr="0"/>
          <a:p>
            <a:pPr>
              <a:lnSpc>
                <a:spcPct val="90000"/>
              </a:lnSpc>
            </a:pPr>
            <a:r>
              <a:rPr lang="zh-CN" altLang="en-US"/>
              <a:t>A0H属性</a:t>
            </a:r>
            <a:endParaRPr lang="zh-CN" altLang="en-US"/>
          </a:p>
          <a:p>
            <a:pPr lvl="1" indent="-325120">
              <a:lnSpc>
                <a:spcPct val="90000"/>
              </a:lnSpc>
            </a:pPr>
            <a:r>
              <a:rPr sz="2400"/>
              <a:t>根目录的索引分配属性定义了根目录索引缓冲区的开始VCN和结束VCN，以及数据流的起始LCN和占用的簇数。</a:t>
            </a:r>
            <a:endParaRPr sz="2400"/>
          </a:p>
          <a:p>
            <a:pPr lvl="1" indent="-325120">
              <a:lnSpc>
                <a:spcPct val="90000"/>
              </a:lnSpc>
            </a:pPr>
            <a:r>
              <a:rPr sz="2400"/>
              <a:t>本例中根目录索引缓冲区开始于4014H簇，占一个簇。根目录A0H属性的数据流是一些索引项的集合。</a:t>
            </a:r>
            <a:endParaRPr sz="2400"/>
          </a:p>
          <a:p>
            <a:pPr lvl="0" indent="-325120">
              <a:lnSpc>
                <a:spcPct val="90000"/>
              </a:lnSpc>
            </a:pPr>
            <a:r>
              <a:rPr sz="2765"/>
              <a:t>B0H属性</a:t>
            </a:r>
            <a:endParaRPr sz="2765"/>
          </a:p>
          <a:p>
            <a:pPr lvl="1" indent="-325120">
              <a:lnSpc>
                <a:spcPct val="90000"/>
              </a:lnSpc>
            </a:pPr>
            <a:r>
              <a:rPr sz="2400"/>
              <a:t>根目录的B0属性被命名为“$I30”，表示其为目录。该属性是由一系列的位构成的虚拟簇使用情况表，它标记了根目录哪些虚拟簇已被使用。</a:t>
            </a:r>
            <a:endParaRPr sz="2400"/>
          </a:p>
          <a:p>
            <a:pPr lvl="1" indent="-325120">
              <a:lnSpc>
                <a:spcPct val="90000"/>
              </a:lnSpc>
            </a:pPr>
            <a:r>
              <a:rPr sz="2400"/>
              <a:t>当前属性的属性体为“01H”，也就是说只占用了0号VCN一个簇。</a:t>
            </a:r>
            <a:endParaRPr sz="2400"/>
          </a:p>
          <a:p>
            <a:endParaRPr sz="240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华文新魏" panose="02010800040101010101" charset="-122"/>
              </a:rPr>
              <a:t>元文件$Root</a:t>
            </a:r>
            <a:endParaRPr lang="zh-CN" altLang="en-US"/>
          </a:p>
        </p:txBody>
      </p:sp>
      <p:sp>
        <p:nvSpPr>
          <p:cNvPr id="3" name="内容占位符 2"/>
          <p:cNvSpPr>
            <a:spLocks noGrp="1"/>
          </p:cNvSpPr>
          <p:nvPr>
            <p:ph idx="1"/>
          </p:nvPr>
        </p:nvSpPr>
        <p:spPr/>
        <p:txBody>
          <a:bodyPr/>
          <a:p>
            <a:r>
              <a:rPr lang="zh-CN" altLang="en-US"/>
              <a:t>例</a:t>
            </a:r>
            <a:endParaRPr lang="zh-CN" altLang="en-US"/>
          </a:p>
          <a:p>
            <a:pPr marL="0" indent="0">
              <a:buNone/>
            </a:pPr>
            <a:r>
              <a:rPr lang="zh-CN" altLang="en-US" sz="2400"/>
              <a:t>下图A0H属性的“Run List”可以找到索引区域，偏移到索引区域所在的簇，起始簇：18265（</a:t>
            </a:r>
            <a:r>
              <a:rPr lang="en-US" altLang="zh-CN" sz="2400"/>
              <a:t>0x5947</a:t>
            </a:r>
            <a:r>
              <a:rPr lang="zh-CN" altLang="en-US" sz="2400"/>
              <a:t>），簇大小：3</a:t>
            </a:r>
            <a:endParaRPr lang="zh-CN" altLang="en-US" sz="2400"/>
          </a:p>
        </p:txBody>
      </p:sp>
      <p:pic>
        <p:nvPicPr>
          <p:cNvPr id="100" name="图片 99"/>
          <p:cNvPicPr/>
          <p:nvPr>
            <p:custDataLst>
              <p:tags r:id="rId1"/>
            </p:custDataLst>
          </p:nvPr>
        </p:nvPicPr>
        <p:blipFill>
          <a:blip r:embed="rId2"/>
          <a:srcRect r="22870"/>
          <a:stretch>
            <a:fillRect/>
          </a:stretch>
        </p:blipFill>
        <p:spPr>
          <a:xfrm>
            <a:off x="971550" y="3140710"/>
            <a:ext cx="6694170" cy="2966720"/>
          </a:xfrm>
          <a:prstGeom prst="rect">
            <a:avLst/>
          </a:prstGeom>
          <a:noFill/>
          <a:ln w="9525">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102" name="图片 101"/>
          <p:cNvPicPr/>
          <p:nvPr/>
        </p:nvPicPr>
        <p:blipFill>
          <a:blip r:embed="rId1"/>
          <a:stretch>
            <a:fillRect/>
          </a:stretch>
        </p:blipFill>
        <p:spPr>
          <a:xfrm>
            <a:off x="323850" y="188595"/>
            <a:ext cx="8326120" cy="6464300"/>
          </a:xfrm>
          <a:prstGeom prst="rect">
            <a:avLst/>
          </a:prstGeom>
          <a:noFill/>
          <a:ln w="9525">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标题 1"/>
          <p:cNvSpPr>
            <a:spLocks noGrp="1"/>
          </p:cNvSpPr>
          <p:nvPr>
            <p:ph type="title"/>
          </p:nvPr>
        </p:nvSpPr>
        <p:spPr/>
        <p:txBody>
          <a:bodyPr anchor="t" anchorCtr="0"/>
          <a:p>
            <a:r>
              <a:rPr lang="zh-CN" altLang="en-US"/>
              <a:t>NTFS的索引结构分析</a:t>
            </a:r>
            <a:endParaRPr lang="zh-CN" altLang="en-US"/>
          </a:p>
        </p:txBody>
      </p:sp>
      <p:sp>
        <p:nvSpPr>
          <p:cNvPr id="111618" name="内容占位符 2"/>
          <p:cNvSpPr>
            <a:spLocks noGrp="1"/>
          </p:cNvSpPr>
          <p:nvPr>
            <p:ph idx="1"/>
          </p:nvPr>
        </p:nvSpPr>
        <p:spPr/>
        <p:txBody>
          <a:bodyPr anchor="t" anchorCtr="0"/>
          <a:p>
            <a:r>
              <a:rPr lang="zh-CN" altLang="en-US"/>
              <a:t>B</a:t>
            </a:r>
            <a:r>
              <a:rPr lang="en-US" altLang="zh-CN"/>
              <a:t>+</a:t>
            </a:r>
            <a:r>
              <a:rPr lang="zh-CN" altLang="en-US"/>
              <a:t>树</a:t>
            </a:r>
            <a:endParaRPr lang="zh-CN" altLang="en-US"/>
          </a:p>
        </p:txBody>
      </p:sp>
      <p:pic>
        <p:nvPicPr>
          <p:cNvPr id="111619" name="图片 3"/>
          <p:cNvPicPr>
            <a:picLocks noChangeAspect="1"/>
          </p:cNvPicPr>
          <p:nvPr/>
        </p:nvPicPr>
        <p:blipFill>
          <a:blip r:embed="rId1"/>
          <a:stretch>
            <a:fillRect/>
          </a:stretch>
        </p:blipFill>
        <p:spPr>
          <a:xfrm>
            <a:off x="1100138" y="2200275"/>
            <a:ext cx="6581775" cy="3790950"/>
          </a:xfrm>
          <a:prstGeom prst="rect">
            <a:avLst/>
          </a:prstGeom>
          <a:noFill/>
          <a:ln w="9525">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标题 1"/>
          <p:cNvSpPr>
            <a:spLocks noGrp="1"/>
          </p:cNvSpPr>
          <p:nvPr>
            <p:ph type="title"/>
          </p:nvPr>
        </p:nvSpPr>
        <p:spPr/>
        <p:txBody>
          <a:bodyPr anchor="t" anchorCtr="0"/>
          <a:p>
            <a:r>
              <a:rPr lang="zh-CN" altLang="en-US"/>
              <a:t>NTFS的索引结构分析</a:t>
            </a:r>
            <a:br>
              <a:rPr lang="zh-CN" altLang="en-US"/>
            </a:br>
            <a:endParaRPr lang="zh-CN" altLang="en-US"/>
          </a:p>
        </p:txBody>
      </p:sp>
      <p:sp>
        <p:nvSpPr>
          <p:cNvPr id="112642" name="内容占位符 2"/>
          <p:cNvSpPr>
            <a:spLocks noGrp="1"/>
          </p:cNvSpPr>
          <p:nvPr>
            <p:ph idx="1"/>
          </p:nvPr>
        </p:nvSpPr>
        <p:spPr/>
        <p:txBody>
          <a:bodyPr anchor="t" anchorCtr="0"/>
          <a:p>
            <a:r>
              <a:rPr lang="zh-CN" altLang="en-US"/>
              <a:t>B</a:t>
            </a:r>
            <a:r>
              <a:rPr lang="en-US" altLang="zh-CN"/>
              <a:t>+</a:t>
            </a:r>
            <a:r>
              <a:rPr lang="zh-CN" altLang="en-US"/>
              <a:t>树</a:t>
            </a:r>
            <a:endParaRPr lang="zh-CN" altLang="en-US"/>
          </a:p>
          <a:p>
            <a:pPr lvl="1" indent="-325120"/>
            <a:r>
              <a:rPr lang="zh-CN" altLang="en-US"/>
              <a:t>一个包含3个节点，每个节点3个项，共9项的目录的MFT条目，其中索引根（Index Root）属性指向B</a:t>
            </a:r>
            <a:r>
              <a:rPr lang="en-US" altLang="zh-CN"/>
              <a:t>+</a:t>
            </a:r>
            <a:r>
              <a:rPr lang="zh-CN" altLang="en-US"/>
              <a:t>树的根</a:t>
            </a:r>
            <a:r>
              <a:rPr lang="en-US" altLang="zh-CN"/>
              <a:t>.	</a:t>
            </a:r>
            <a:endParaRPr lang="en-US" altLang="zh-CN"/>
          </a:p>
          <a:p>
            <a:pPr lvl="1" indent="-325120"/>
            <a:r>
              <a:rPr lang="en-US" altLang="zh-CN"/>
              <a:t>NTFS分配了两个索引缓冲区来存放另外的项（索引根以及索引缓冲区一般能够存储三个以上文件项，这依赖于文件名的长度）。一个MFT条目占1KB的空间，而一个索引缓冲区占4KB的空间。</a:t>
            </a:r>
            <a:endParaRPr lang="en-US" altLang="zh-CN"/>
          </a:p>
          <a:p>
            <a:pPr lvl="1" indent="-325120"/>
            <a:r>
              <a:rPr lang="en-US" altLang="zh-CN"/>
              <a:t>索引缓冲区位置和大小由目录的文件记录中A0H属性的Run List定义.</a:t>
            </a:r>
            <a:endParaRPr lang="en-US" altLang="zh-CN"/>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NTFS的索引结构分析</a:t>
            </a:r>
            <a:endParaRPr lang="zh-CN" altLang="en-US"/>
          </a:p>
        </p:txBody>
      </p:sp>
      <p:sp>
        <p:nvSpPr>
          <p:cNvPr id="3" name="内容占位符 2"/>
          <p:cNvSpPr>
            <a:spLocks noGrp="1"/>
          </p:cNvSpPr>
          <p:nvPr>
            <p:ph idx="1"/>
          </p:nvPr>
        </p:nvSpPr>
        <p:spPr/>
        <p:txBody>
          <a:bodyPr/>
          <a:p>
            <a:pPr>
              <a:lnSpc>
                <a:spcPct val="130000"/>
              </a:lnSpc>
            </a:pPr>
            <a:r>
              <a:rPr lang="en-US" altLang="zh-CN" sz="2400"/>
              <a:t>N</a:t>
            </a:r>
            <a:r>
              <a:rPr lang="zh-CN" altLang="en-US" sz="2400"/>
              <a:t>TFS的存储项是按字母顺序进行的。假设运行一个程序试图打开目录中的e.doc文件，NTFS会首先去读索引根属性，其中包含了d.pic、h.ppt及i.ddt三个文件项，并将名称“e.doc”与第一个项的名称“d.pic”进行比较，NTFS得出结论：e.doc在字母序上排在d.pic之后。</a:t>
            </a:r>
            <a:endParaRPr lang="zh-CN" altLang="en-US" sz="2400"/>
          </a:p>
          <a:p>
            <a:pPr>
              <a:lnSpc>
                <a:spcPct val="130000"/>
              </a:lnSpc>
            </a:pPr>
            <a:r>
              <a:rPr lang="zh-CN" altLang="en-US" sz="2400"/>
              <a:t>因此转而处理下一个项“h.ppt”，经过比较以后，由于e.doc的字母序在h.ppt之前，NTFS就会检索h.ppt项中索引缓冲区的虚拟簇号（VCN）。</a:t>
            </a:r>
            <a:endParaRPr lang="zh-CN" altLang="en-US" sz="2400"/>
          </a:p>
          <a:p>
            <a:endParaRPr lang="zh-CN" altLang="en-US" sz="240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NTFS的索引结构分析</a:t>
            </a:r>
            <a:endParaRPr lang="zh-CN" altLang="en-US"/>
          </a:p>
        </p:txBody>
      </p:sp>
      <p:sp>
        <p:nvSpPr>
          <p:cNvPr id="3" name="内容占位符 2"/>
          <p:cNvSpPr>
            <a:spLocks noGrp="1"/>
          </p:cNvSpPr>
          <p:nvPr>
            <p:ph idx="1"/>
          </p:nvPr>
        </p:nvSpPr>
        <p:spPr/>
        <p:txBody>
          <a:bodyPr/>
          <a:p>
            <a:r>
              <a:rPr lang="zh-CN" altLang="en-US" sz="2400"/>
              <a:t>索引缓冲区中存储着字母序比h.ppt小但比d.pic大的项。VCN代表一个簇在一个文件或目录中的顺序，NTFS能够将虚拟簇号映射成逻辑簇号（LCN），而逻辑簇号表示着一个簇相对于一个卷的起始点的相对偏移量。</a:t>
            </a:r>
            <a:endParaRPr lang="zh-CN" altLang="en-US" sz="2400"/>
          </a:p>
          <a:p>
            <a:r>
              <a:rPr lang="zh-CN" altLang="en-US" sz="2400"/>
              <a:t>如果h.ppt项中并不存在这个索引缓冲区的虚拟簇号，则NTFS可以立即断定这个目录中不存在e.doc文件，并报告打开文件失败。</a:t>
            </a:r>
            <a:endParaRPr lang="zh-CN" altLang="en-US" sz="2400"/>
          </a:p>
          <a:p>
            <a:r>
              <a:rPr lang="zh-CN" altLang="en-US" sz="2400"/>
              <a:t>当获得索引缓冲区的虚拟簇号以后，NTFS就会继续查找。索引缓冲区的第一个项正是要找的e.doc，于是NTFS就从e.doc项中读出它对应的文件记录的位置。</a:t>
            </a:r>
            <a:endParaRPr lang="zh-CN" altLang="en-US" sz="240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标题 1"/>
          <p:cNvSpPr>
            <a:spLocks noGrp="1"/>
          </p:cNvSpPr>
          <p:nvPr>
            <p:ph type="title"/>
          </p:nvPr>
        </p:nvSpPr>
        <p:spPr/>
        <p:txBody>
          <a:bodyPr anchor="t" anchorCtr="0"/>
          <a:p>
            <a:r>
              <a:rPr lang="zh-CN" altLang="en-US">
                <a:sym typeface="华文新魏" panose="02010800040101010101" charset="-122"/>
              </a:rPr>
              <a:t>NTFS的索引结构分析</a:t>
            </a:r>
            <a:endParaRPr lang="zh-CN" altLang="en-US"/>
          </a:p>
        </p:txBody>
      </p:sp>
      <p:sp>
        <p:nvSpPr>
          <p:cNvPr id="113666" name="内容占位符 2"/>
          <p:cNvSpPr>
            <a:spLocks noGrp="1"/>
          </p:cNvSpPr>
          <p:nvPr>
            <p:ph idx="1"/>
          </p:nvPr>
        </p:nvSpPr>
        <p:spPr/>
        <p:txBody>
          <a:bodyPr anchor="t" anchorCtr="0"/>
          <a:p>
            <a:pPr marL="344805" lvl="1" indent="0">
              <a:buNone/>
            </a:pPr>
            <a:r>
              <a:rPr lang="zh-CN" altLang="en-US"/>
              <a:t>索引缓冲区</a:t>
            </a:r>
            <a:endParaRPr lang="zh-CN" altLang="en-US"/>
          </a:p>
          <a:p>
            <a:pPr marL="344805" lvl="1" indent="0">
              <a:buNone/>
            </a:pPr>
            <a:endParaRPr lang="zh-CN" altLang="en-US"/>
          </a:p>
          <a:p>
            <a:pPr marL="344805" lvl="1" indent="0">
              <a:buNone/>
            </a:pPr>
            <a:endParaRPr lang="zh-CN" altLang="en-US"/>
          </a:p>
          <a:p>
            <a:pPr marL="344805" lvl="1" indent="0">
              <a:buNone/>
            </a:pPr>
            <a:endParaRPr lang="zh-CN" altLang="en-US"/>
          </a:p>
          <a:p>
            <a:pPr marL="344805" lvl="1" indent="0">
              <a:buNone/>
            </a:pPr>
            <a:endParaRPr lang="zh-CN" altLang="en-US"/>
          </a:p>
          <a:p>
            <a:pPr marL="344805" lvl="1" indent="0">
              <a:buNone/>
            </a:pPr>
            <a:endParaRPr lang="zh-CN" altLang="en-US"/>
          </a:p>
          <a:p>
            <a:pPr marL="344805" lvl="1" indent="0">
              <a:buNone/>
            </a:pPr>
            <a:r>
              <a:rPr lang="zh-CN" altLang="en-US"/>
              <a:t>起始簇号是4014H</a:t>
            </a:r>
            <a:r>
              <a:rPr lang="en-US" altLang="zh-CN"/>
              <a:t>--&gt;16 404号簇</a:t>
            </a:r>
            <a:endParaRPr lang="en-US" altLang="zh-CN"/>
          </a:p>
        </p:txBody>
      </p:sp>
      <p:pic>
        <p:nvPicPr>
          <p:cNvPr id="113667" name="图片 3"/>
          <p:cNvPicPr>
            <a:picLocks noChangeAspect="1"/>
          </p:cNvPicPr>
          <p:nvPr/>
        </p:nvPicPr>
        <p:blipFill>
          <a:blip r:embed="rId1"/>
          <a:stretch>
            <a:fillRect/>
          </a:stretch>
        </p:blipFill>
        <p:spPr>
          <a:xfrm>
            <a:off x="827405" y="2204403"/>
            <a:ext cx="6457950" cy="1838325"/>
          </a:xfrm>
          <a:prstGeom prst="rect">
            <a:avLst/>
          </a:prstGeom>
          <a:noFill/>
          <a:ln w="9525">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89" name="标题 1"/>
          <p:cNvSpPr>
            <a:spLocks noGrp="1"/>
          </p:cNvSpPr>
          <p:nvPr>
            <p:ph type="title"/>
          </p:nvPr>
        </p:nvSpPr>
        <p:spPr/>
        <p:txBody>
          <a:bodyPr anchor="t" anchorCtr="0"/>
          <a:p>
            <a:r>
              <a:rPr lang="zh-CN" altLang="en-US"/>
              <a:t>NTFS的索引结构分析</a:t>
            </a:r>
            <a:br>
              <a:rPr lang="zh-CN" altLang="en-US"/>
            </a:br>
            <a:endParaRPr lang="zh-CN" altLang="en-US"/>
          </a:p>
        </p:txBody>
      </p:sp>
      <p:sp>
        <p:nvSpPr>
          <p:cNvPr id="114690" name="内容占位符 2"/>
          <p:cNvSpPr>
            <a:spLocks noGrp="1"/>
          </p:cNvSpPr>
          <p:nvPr>
            <p:ph idx="1"/>
          </p:nvPr>
        </p:nvSpPr>
        <p:spPr>
          <a:xfrm>
            <a:off x="1115060" y="1556385"/>
            <a:ext cx="852170" cy="4530725"/>
          </a:xfrm>
        </p:spPr>
        <p:txBody>
          <a:bodyPr anchor="t" anchorCtr="0"/>
          <a:p>
            <a:pPr marL="0" indent="0">
              <a:buNone/>
            </a:pPr>
            <a:r>
              <a:rPr lang="zh-CN" altLang="en-US"/>
              <a:t>索引缓冲区</a:t>
            </a:r>
            <a:endParaRPr lang="zh-CN" altLang="en-US"/>
          </a:p>
        </p:txBody>
      </p:sp>
      <p:pic>
        <p:nvPicPr>
          <p:cNvPr id="114691" name="图片 3"/>
          <p:cNvPicPr>
            <a:picLocks noChangeAspect="1"/>
          </p:cNvPicPr>
          <p:nvPr/>
        </p:nvPicPr>
        <p:blipFill>
          <a:blip r:embed="rId1"/>
          <a:stretch>
            <a:fillRect/>
          </a:stretch>
        </p:blipFill>
        <p:spPr>
          <a:xfrm>
            <a:off x="2627630" y="1401445"/>
            <a:ext cx="6005195" cy="5423535"/>
          </a:xfrm>
          <a:prstGeom prst="rect">
            <a:avLst/>
          </a:prstGeom>
          <a:noFill/>
          <a:ln w="9525">
            <a:noFill/>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文件</a:t>
            </a:r>
            <a:r>
              <a:rPr lang="zh-CN" altLang="en-US"/>
              <a:t>定位</a:t>
            </a:r>
            <a:endParaRPr lang="zh-CN" altLang="en-US"/>
          </a:p>
        </p:txBody>
      </p:sp>
      <p:sp>
        <p:nvSpPr>
          <p:cNvPr id="3" name="内容占位符 2"/>
          <p:cNvSpPr>
            <a:spLocks noGrp="1"/>
          </p:cNvSpPr>
          <p:nvPr>
            <p:ph idx="1"/>
          </p:nvPr>
        </p:nvSpPr>
        <p:spPr/>
        <p:txBody>
          <a:bodyPr/>
          <a:p>
            <a:r>
              <a:rPr lang="zh-CN" altLang="en-US"/>
              <a:t>第1步　定位DBR</a:t>
            </a:r>
            <a:endParaRPr lang="zh-CN" altLang="en-US"/>
          </a:p>
          <a:p>
            <a:pPr lvl="1"/>
            <a:r>
              <a:rPr lang="zh-CN" altLang="en-US"/>
              <a:t>通过分区所在硬盘的分区表定位到开始位置，在63号扇区。这个扇区就是G盘的DBR扇区。</a:t>
            </a:r>
            <a:endParaRPr lang="zh-CN" altLang="en-US"/>
          </a:p>
          <a:p>
            <a:r>
              <a:rPr lang="zh-CN" altLang="en-US"/>
              <a:t>第2步　定位$MFT</a:t>
            </a:r>
            <a:endParaRPr lang="zh-CN" altLang="en-US"/>
          </a:p>
          <a:p>
            <a:pPr lvl="1"/>
            <a:r>
              <a:rPr lang="zh-CN" altLang="en-US"/>
              <a:t>访问DBR扇区的BPB，通过“$MFT起始簇号”、“每簇扇区数”两个参数的值便可计算出$MFT的开始扇区。</a:t>
            </a:r>
            <a:endParaRPr lang="zh-CN" altLang="en-US"/>
          </a:p>
          <a:p>
            <a:endParaRPr lang="zh-C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文件定位</a:t>
            </a:r>
            <a:r>
              <a:rPr lang="zh-CN" altLang="en-US"/>
              <a:t>示例</a:t>
            </a:r>
            <a:endParaRPr lang="zh-CN" altLang="en-US"/>
          </a:p>
        </p:txBody>
      </p:sp>
      <p:sp>
        <p:nvSpPr>
          <p:cNvPr id="3" name="内容占位符 2"/>
          <p:cNvSpPr>
            <a:spLocks noGrp="1"/>
          </p:cNvSpPr>
          <p:nvPr>
            <p:ph idx="1"/>
          </p:nvPr>
        </p:nvSpPr>
        <p:spPr/>
        <p:txBody>
          <a:bodyPr/>
          <a:p>
            <a:r>
              <a:rPr lang="zh-CN" altLang="en-US"/>
              <a:t>定位到“36.txt”这个文件在分区中的存放地址</a:t>
            </a:r>
            <a:endParaRPr lang="zh-CN" altLang="en-US"/>
          </a:p>
        </p:txBody>
      </p:sp>
      <p:pic>
        <p:nvPicPr>
          <p:cNvPr id="6" name="图片 5"/>
          <p:cNvPicPr>
            <a:picLocks noChangeAspect="1"/>
          </p:cNvPicPr>
          <p:nvPr/>
        </p:nvPicPr>
        <p:blipFill>
          <a:blip r:embed="rId1"/>
          <a:stretch>
            <a:fillRect/>
          </a:stretch>
        </p:blipFill>
        <p:spPr>
          <a:xfrm>
            <a:off x="971550" y="2114550"/>
            <a:ext cx="6160770" cy="4154805"/>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文件</a:t>
            </a:r>
            <a:r>
              <a:rPr lang="zh-CN" altLang="en-US"/>
              <a:t>定位</a:t>
            </a:r>
            <a:endParaRPr lang="zh-CN" altLang="en-US"/>
          </a:p>
        </p:txBody>
      </p:sp>
      <p:sp>
        <p:nvSpPr>
          <p:cNvPr id="3" name="内容占位符 2"/>
          <p:cNvSpPr>
            <a:spLocks noGrp="1"/>
          </p:cNvSpPr>
          <p:nvPr>
            <p:ph idx="1"/>
          </p:nvPr>
        </p:nvSpPr>
        <p:spPr/>
        <p:txBody>
          <a:bodyPr/>
          <a:p>
            <a:r>
              <a:rPr lang="zh-CN" altLang="en-US"/>
              <a:t>第3步　定位根目录的文件记录</a:t>
            </a:r>
            <a:endParaRPr lang="zh-CN" altLang="en-US"/>
          </a:p>
          <a:p>
            <a:pPr lvl="1"/>
            <a:r>
              <a:rPr lang="zh-CN" altLang="en-US" sz="2400"/>
              <a:t>找到$MFT后，在$MFT中寻找根目录的文件记录，5号文件记录就是根目录了。</a:t>
            </a:r>
            <a:endParaRPr lang="zh-CN" altLang="en-US" sz="2400"/>
          </a:p>
          <a:p>
            <a:pPr lvl="0"/>
            <a:r>
              <a:rPr lang="zh-CN" altLang="en-US"/>
              <a:t>第4步　分析索引属性</a:t>
            </a:r>
            <a:endParaRPr lang="zh-CN" altLang="en-US"/>
          </a:p>
          <a:p>
            <a:pPr lvl="1"/>
            <a:r>
              <a:rPr lang="zh-CN" altLang="en-US" sz="2400"/>
              <a:t>在根目录的文件记录中有7个属性，对于小目录来说，有索引根（90H）属性就够了；而对于大目录来说，还需要有索引分配（A0H）属性。</a:t>
            </a:r>
            <a:endParaRPr lang="zh-CN" altLang="en-US" sz="2400"/>
          </a:p>
          <a:p>
            <a:pPr lvl="1"/>
            <a:r>
              <a:rPr lang="zh-CN" altLang="en-US" sz="2400"/>
              <a:t>根目录若是一个大目录，在它的文件记录中有一个90H属性，但里面没有实质的索引项。A0H属性数据流就是索引缓冲区，也就是B＋树的节点。根目录下的文件及目录的索引项就存放在这些节点中。</a:t>
            </a:r>
            <a:endParaRPr lang="zh-CN" altLang="en-US" sz="240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文件</a:t>
            </a:r>
            <a:r>
              <a:rPr lang="zh-CN" altLang="en-US"/>
              <a:t>定位</a:t>
            </a:r>
            <a:endParaRPr lang="zh-CN" altLang="en-US"/>
          </a:p>
        </p:txBody>
      </p:sp>
      <p:pic>
        <p:nvPicPr>
          <p:cNvPr id="4" name="内容占位符 3"/>
          <p:cNvPicPr>
            <a:picLocks noChangeAspect="1"/>
          </p:cNvPicPr>
          <p:nvPr>
            <p:ph idx="1"/>
          </p:nvPr>
        </p:nvPicPr>
        <p:blipFill>
          <a:blip r:embed="rId1"/>
          <a:stretch>
            <a:fillRect/>
          </a:stretch>
        </p:blipFill>
        <p:spPr>
          <a:xfrm>
            <a:off x="2699385" y="332740"/>
            <a:ext cx="6175375" cy="6447790"/>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文件定位</a:t>
            </a:r>
            <a:endParaRPr lang="zh-CN" altLang="en-US"/>
          </a:p>
        </p:txBody>
      </p:sp>
      <p:sp>
        <p:nvSpPr>
          <p:cNvPr id="3" name="内容占位符 2"/>
          <p:cNvSpPr>
            <a:spLocks noGrp="1"/>
          </p:cNvSpPr>
          <p:nvPr>
            <p:ph idx="1"/>
          </p:nvPr>
        </p:nvSpPr>
        <p:spPr/>
        <p:txBody>
          <a:bodyPr/>
          <a:p>
            <a:r>
              <a:rPr lang="zh-CN" altLang="en-US"/>
              <a:t>示例</a:t>
            </a:r>
            <a:r>
              <a:rPr lang="zh-CN" altLang="en-US"/>
              <a:t>分析</a:t>
            </a:r>
            <a:endParaRPr lang="zh-CN" altLang="en-US"/>
          </a:p>
          <a:p>
            <a:pPr lvl="1"/>
            <a:r>
              <a:rPr lang="zh-CN" altLang="en-US" sz="2400"/>
              <a:t>A0H属性中，Run List包含多个数据流，“31 08 9B 10 03 21 08 77 CA 21 08 45 01 21 </a:t>
            </a:r>
            <a:r>
              <a:rPr lang="zh-CN" altLang="en-US" sz="2400">
                <a:solidFill>
                  <a:srgbClr val="FF0000"/>
                </a:solidFill>
              </a:rPr>
              <a:t>08 9B</a:t>
            </a:r>
            <a:r>
              <a:rPr lang="zh-CN" altLang="en-US" sz="2400"/>
              <a:t> 03 21 10 F0 20 21 08 0E 05”。</a:t>
            </a:r>
            <a:endParaRPr lang="zh-CN" altLang="en-US" sz="2400"/>
          </a:p>
          <a:p>
            <a:pPr lvl="1"/>
            <a:r>
              <a:rPr lang="zh-CN" altLang="en-US" sz="2400"/>
              <a:t>①”处圈中的两个字节“13 00”并不是Run List中的数据，而是更新序列号。这两个字节需要用更新数组中的两个字节替换，也就是图中“②”处圈中的两个字节“08 9B”。</a:t>
            </a:r>
            <a:endParaRPr lang="zh-CN" altLang="en-US" sz="240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文件定位</a:t>
            </a:r>
            <a:endParaRPr lang="zh-CN" altLang="en-US"/>
          </a:p>
        </p:txBody>
      </p:sp>
      <p:sp>
        <p:nvSpPr>
          <p:cNvPr id="3" name="内容占位符 2"/>
          <p:cNvSpPr>
            <a:spLocks noGrp="1"/>
          </p:cNvSpPr>
          <p:nvPr>
            <p:ph idx="1"/>
          </p:nvPr>
        </p:nvSpPr>
        <p:spPr/>
        <p:txBody>
          <a:bodyPr/>
          <a:p>
            <a:r>
              <a:rPr lang="zh-CN" altLang="en-US"/>
              <a:t>示例</a:t>
            </a:r>
            <a:r>
              <a:rPr lang="zh-CN" altLang="en-US"/>
              <a:t>结果</a:t>
            </a:r>
            <a:endParaRPr lang="zh-CN" altLang="en-US"/>
          </a:p>
          <a:p>
            <a:pPr marL="0" indent="0">
              <a:buNone/>
            </a:pPr>
            <a:r>
              <a:rPr lang="zh-CN" altLang="en-US" sz="2400">
                <a:sym typeface="+mn-ea"/>
              </a:rPr>
              <a:t>“31 08 9B 10 03 ”：</a:t>
            </a:r>
            <a:r>
              <a:rPr lang="en-US" altLang="zh-CN" sz="2400">
                <a:sym typeface="+mn-ea"/>
              </a:rPr>
              <a:t>3109BH--&gt;200859</a:t>
            </a:r>
            <a:endParaRPr lang="en-US" altLang="zh-CN" sz="2400">
              <a:sym typeface="+mn-ea"/>
            </a:endParaRPr>
          </a:p>
          <a:p>
            <a:pPr marL="0" indent="0">
              <a:buNone/>
            </a:pPr>
            <a:r>
              <a:rPr lang="en-US" altLang="zh-CN" sz="2400">
                <a:sym typeface="+mn-ea"/>
              </a:rPr>
              <a:t>“</a:t>
            </a:r>
            <a:r>
              <a:rPr lang="zh-CN" altLang="en-US" sz="2400">
                <a:sym typeface="+mn-ea"/>
              </a:rPr>
              <a:t>21 08 77 CA</a:t>
            </a:r>
            <a:r>
              <a:rPr lang="en-US" altLang="zh-CN" sz="2400">
                <a:sym typeface="+mn-ea"/>
              </a:rPr>
              <a:t>”:3109BH+ CA77H(-13705)--&gt;200859-13705</a:t>
            </a:r>
            <a:endParaRPr lang="en-US" altLang="zh-CN" sz="2400">
              <a:sym typeface="+mn-ea"/>
            </a:endParaRPr>
          </a:p>
        </p:txBody>
      </p:sp>
      <p:graphicFrame>
        <p:nvGraphicFramePr>
          <p:cNvPr id="4" name="表格 3"/>
          <p:cNvGraphicFramePr/>
          <p:nvPr>
            <p:custDataLst>
              <p:tags r:id="rId1"/>
            </p:custDataLst>
          </p:nvPr>
        </p:nvGraphicFramePr>
        <p:xfrm>
          <a:off x="1403350" y="3357245"/>
          <a:ext cx="5768340" cy="2677795"/>
        </p:xfrm>
        <a:graphic>
          <a:graphicData uri="http://schemas.openxmlformats.org/drawingml/2006/table">
            <a:tbl>
              <a:tblPr/>
              <a:tblGrid>
                <a:gridCol w="1219835"/>
                <a:gridCol w="2842895"/>
                <a:gridCol w="1705610"/>
              </a:tblGrid>
              <a:tr h="532765">
                <a:tc>
                  <a:txBody>
                    <a:bodyPr/>
                    <a:p>
                      <a:pPr indent="0">
                        <a:buNone/>
                      </a:pPr>
                      <a:r>
                        <a:rPr lang="en-US" sz="1600" b="0">
                          <a:solidFill>
                            <a:schemeClr val="tx1"/>
                          </a:solidFill>
                          <a:latin typeface="Arial" panose="020B0604020202090204" pitchFamily="34" charset="0"/>
                          <a:cs typeface="Arial" panose="020B0604020202090204" pitchFamily="34" charset="0"/>
                        </a:rPr>
                        <a:t>数据流编号</a:t>
                      </a:r>
                      <a:endParaRPr lang="en-US" altLang="en-US" sz="1600" b="0">
                        <a:solidFill>
                          <a:schemeClr val="tx1"/>
                        </a:solidFill>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chemeClr val="tx1"/>
                          </a:solidFill>
                          <a:latin typeface="Arial" panose="020B0604020202090204" pitchFamily="34" charset="0"/>
                          <a:cs typeface="Arial" panose="020B0604020202090204" pitchFamily="34" charset="0"/>
                        </a:rPr>
                        <a:t>数据流起始LCN（逻辑簇号）</a:t>
                      </a:r>
                      <a:endParaRPr lang="en-US" altLang="en-US" sz="1600" b="0">
                        <a:solidFill>
                          <a:schemeClr val="tx1"/>
                        </a:solidFill>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chemeClr val="tx1"/>
                          </a:solidFill>
                          <a:latin typeface="Arial" panose="020B0604020202090204" pitchFamily="34" charset="0"/>
                          <a:cs typeface="Arial" panose="020B0604020202090204" pitchFamily="34" charset="0"/>
                        </a:rPr>
                        <a:t>数据流长度（簇）</a:t>
                      </a:r>
                      <a:endParaRPr lang="en-US" altLang="en-US" sz="1600" b="0">
                        <a:solidFill>
                          <a:schemeClr val="tx1"/>
                        </a:solidFill>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66065">
                <a:tc>
                  <a:txBody>
                    <a:bodyPr/>
                    <a:p>
                      <a:pPr indent="0">
                        <a:buNone/>
                      </a:pPr>
                      <a:r>
                        <a:rPr lang="en-US" sz="1600" b="0">
                          <a:solidFill>
                            <a:schemeClr val="tx1"/>
                          </a:solidFill>
                          <a:latin typeface="Arial" panose="020B0604020202090204" pitchFamily="34" charset="0"/>
                          <a:cs typeface="Arial" panose="020B0604020202090204" pitchFamily="34" charset="0"/>
                        </a:rPr>
                        <a:t>1</a:t>
                      </a:r>
                      <a:endParaRPr lang="en-US" altLang="en-US" sz="1600" b="0">
                        <a:solidFill>
                          <a:schemeClr val="tx1"/>
                        </a:solidFill>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chemeClr val="tx1"/>
                          </a:solidFill>
                          <a:latin typeface="Arial" panose="020B0604020202090204" pitchFamily="34" charset="0"/>
                          <a:cs typeface="Arial" panose="020B0604020202090204" pitchFamily="34" charset="0"/>
                        </a:rPr>
                        <a:t>200 859</a:t>
                      </a:r>
                      <a:endParaRPr lang="en-US" altLang="en-US" sz="1600" b="0">
                        <a:solidFill>
                          <a:schemeClr val="tx1"/>
                        </a:solidFill>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chemeClr val="tx1"/>
                          </a:solidFill>
                          <a:latin typeface="Arial" panose="020B0604020202090204" pitchFamily="34" charset="0"/>
                          <a:cs typeface="Arial" panose="020B0604020202090204" pitchFamily="34" charset="0"/>
                        </a:rPr>
                        <a:t>8</a:t>
                      </a:r>
                      <a:endParaRPr lang="en-US" altLang="en-US" sz="1600" b="0">
                        <a:solidFill>
                          <a:schemeClr val="tx1"/>
                        </a:solidFill>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33070">
                <a:tc>
                  <a:txBody>
                    <a:bodyPr/>
                    <a:p>
                      <a:pPr indent="0">
                        <a:buNone/>
                      </a:pPr>
                      <a:r>
                        <a:rPr lang="en-US" sz="1600" b="0">
                          <a:solidFill>
                            <a:schemeClr val="tx1"/>
                          </a:solidFill>
                          <a:latin typeface="Arial" panose="020B0604020202090204" pitchFamily="34" charset="0"/>
                          <a:cs typeface="Arial" panose="020B0604020202090204" pitchFamily="34" charset="0"/>
                        </a:rPr>
                        <a:t>2</a:t>
                      </a:r>
                      <a:endParaRPr lang="en-US" altLang="en-US" sz="1600" b="0">
                        <a:solidFill>
                          <a:schemeClr val="tx1"/>
                        </a:solidFill>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chemeClr val="tx1"/>
                          </a:solidFill>
                          <a:latin typeface="Arial" panose="020B0604020202090204" pitchFamily="34" charset="0"/>
                          <a:cs typeface="Arial" panose="020B0604020202090204" pitchFamily="34" charset="0"/>
                        </a:rPr>
                        <a:t>200 859-13705＝187 154</a:t>
                      </a:r>
                      <a:endParaRPr lang="en-US" altLang="en-US" sz="1600" b="0">
                        <a:solidFill>
                          <a:schemeClr val="tx1"/>
                        </a:solidFill>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chemeClr val="tx1"/>
                          </a:solidFill>
                          <a:latin typeface="Arial" panose="020B0604020202090204" pitchFamily="34" charset="0"/>
                          <a:cs typeface="Arial" panose="020B0604020202090204" pitchFamily="34" charset="0"/>
                        </a:rPr>
                        <a:t>8</a:t>
                      </a:r>
                      <a:endParaRPr lang="en-US" altLang="en-US" sz="1600" b="0">
                        <a:solidFill>
                          <a:schemeClr val="tx1"/>
                        </a:solidFill>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600" b="0">
                          <a:solidFill>
                            <a:schemeClr val="tx1"/>
                          </a:solidFill>
                          <a:latin typeface="Arial" panose="020B0604020202090204" pitchFamily="34" charset="0"/>
                          <a:cs typeface="Arial" panose="020B0604020202090204" pitchFamily="34" charset="0"/>
                        </a:rPr>
                        <a:t>3</a:t>
                      </a:r>
                      <a:endParaRPr lang="en-US" altLang="en-US" sz="1600" b="0">
                        <a:solidFill>
                          <a:schemeClr val="tx1"/>
                        </a:solidFill>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chemeClr val="tx1"/>
                          </a:solidFill>
                          <a:latin typeface="Arial" panose="020B0604020202090204" pitchFamily="34" charset="0"/>
                          <a:cs typeface="Arial" panose="020B0604020202090204" pitchFamily="34" charset="0"/>
                        </a:rPr>
                        <a:t>187 154＋325＝187 479</a:t>
                      </a:r>
                      <a:endParaRPr lang="en-US" altLang="en-US" sz="1600" b="0">
                        <a:solidFill>
                          <a:schemeClr val="tx1"/>
                        </a:solidFill>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chemeClr val="tx1"/>
                          </a:solidFill>
                          <a:latin typeface="Arial" panose="020B0604020202090204" pitchFamily="34" charset="0"/>
                          <a:cs typeface="Arial" panose="020B0604020202090204" pitchFamily="34" charset="0"/>
                        </a:rPr>
                        <a:t>8</a:t>
                      </a:r>
                      <a:endParaRPr lang="en-US" altLang="en-US" sz="1600" b="0">
                        <a:solidFill>
                          <a:schemeClr val="tx1"/>
                        </a:solidFill>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8290">
                <a:tc>
                  <a:txBody>
                    <a:bodyPr/>
                    <a:p>
                      <a:pPr indent="0">
                        <a:buNone/>
                      </a:pPr>
                      <a:r>
                        <a:rPr lang="en-US" sz="1600" b="0">
                          <a:solidFill>
                            <a:schemeClr val="tx1"/>
                          </a:solidFill>
                          <a:latin typeface="Arial" panose="020B0604020202090204" pitchFamily="34" charset="0"/>
                          <a:cs typeface="Arial" panose="020B0604020202090204" pitchFamily="34" charset="0"/>
                        </a:rPr>
                        <a:t>4</a:t>
                      </a:r>
                      <a:endParaRPr lang="en-US" altLang="en-US" sz="1600" b="0">
                        <a:solidFill>
                          <a:schemeClr val="tx1"/>
                        </a:solidFill>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chemeClr val="tx1"/>
                          </a:solidFill>
                          <a:latin typeface="Arial" panose="020B0604020202090204" pitchFamily="34" charset="0"/>
                          <a:cs typeface="Arial" panose="020B0604020202090204" pitchFamily="34" charset="0"/>
                        </a:rPr>
                        <a:t>187 479＋923＝188 402</a:t>
                      </a:r>
                      <a:endParaRPr lang="en-US" altLang="en-US" sz="1600" b="0">
                        <a:solidFill>
                          <a:schemeClr val="tx1"/>
                        </a:solidFill>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chemeClr val="tx1"/>
                          </a:solidFill>
                          <a:latin typeface="Arial" panose="020B0604020202090204" pitchFamily="34" charset="0"/>
                          <a:cs typeface="Arial" panose="020B0604020202090204" pitchFamily="34" charset="0"/>
                        </a:rPr>
                        <a:t>8</a:t>
                      </a:r>
                      <a:endParaRPr lang="en-US" altLang="en-US" sz="1600" b="0">
                        <a:solidFill>
                          <a:schemeClr val="tx1"/>
                        </a:solidFill>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33705">
                <a:tc>
                  <a:txBody>
                    <a:bodyPr/>
                    <a:p>
                      <a:pPr indent="0">
                        <a:buNone/>
                      </a:pPr>
                      <a:r>
                        <a:rPr lang="en-US" sz="1600" b="0">
                          <a:solidFill>
                            <a:schemeClr val="tx1"/>
                          </a:solidFill>
                          <a:latin typeface="Arial" panose="020B0604020202090204" pitchFamily="34" charset="0"/>
                          <a:cs typeface="Arial" panose="020B0604020202090204" pitchFamily="34" charset="0"/>
                        </a:rPr>
                        <a:t>5</a:t>
                      </a:r>
                      <a:endParaRPr lang="en-US" altLang="en-US" sz="1600" b="0">
                        <a:solidFill>
                          <a:schemeClr val="tx1"/>
                        </a:solidFill>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chemeClr val="tx1"/>
                          </a:solidFill>
                          <a:latin typeface="Arial" panose="020B0604020202090204" pitchFamily="34" charset="0"/>
                          <a:cs typeface="Arial" panose="020B0604020202090204" pitchFamily="34" charset="0"/>
                        </a:rPr>
                        <a:t>188 402＋8432＝196 834</a:t>
                      </a:r>
                      <a:endParaRPr lang="en-US" altLang="en-US" sz="1600" b="0">
                        <a:solidFill>
                          <a:schemeClr val="tx1"/>
                        </a:solidFill>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chemeClr val="tx1"/>
                          </a:solidFill>
                          <a:latin typeface="Arial" panose="020B0604020202090204" pitchFamily="34" charset="0"/>
                          <a:cs typeface="Arial" panose="020B0604020202090204" pitchFamily="34" charset="0"/>
                        </a:rPr>
                        <a:t>16</a:t>
                      </a:r>
                      <a:endParaRPr lang="en-US" altLang="en-US" sz="1600" b="0">
                        <a:solidFill>
                          <a:schemeClr val="tx1"/>
                        </a:solidFill>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33705">
                <a:tc>
                  <a:txBody>
                    <a:bodyPr/>
                    <a:p>
                      <a:pPr indent="0">
                        <a:buNone/>
                      </a:pPr>
                      <a:r>
                        <a:rPr lang="en-US" sz="1600" b="0">
                          <a:solidFill>
                            <a:schemeClr val="tx1"/>
                          </a:solidFill>
                          <a:latin typeface="Arial" panose="020B0604020202090204" pitchFamily="34" charset="0"/>
                          <a:cs typeface="Arial" panose="020B0604020202090204" pitchFamily="34" charset="0"/>
                        </a:rPr>
                        <a:t>6</a:t>
                      </a:r>
                      <a:endParaRPr lang="en-US" altLang="en-US" sz="1600" b="0">
                        <a:solidFill>
                          <a:schemeClr val="tx1"/>
                        </a:solidFill>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chemeClr val="tx1"/>
                          </a:solidFill>
                          <a:latin typeface="Arial" panose="020B0604020202090204" pitchFamily="34" charset="0"/>
                          <a:cs typeface="Arial" panose="020B0604020202090204" pitchFamily="34" charset="0"/>
                        </a:rPr>
                        <a:t>196 834＋1294＝198 128</a:t>
                      </a:r>
                      <a:endParaRPr lang="en-US" altLang="en-US" sz="1600" b="0">
                        <a:solidFill>
                          <a:schemeClr val="tx1"/>
                        </a:solidFill>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solidFill>
                            <a:schemeClr val="tx1"/>
                          </a:solidFill>
                          <a:latin typeface="Arial" panose="020B0604020202090204" pitchFamily="34" charset="0"/>
                          <a:cs typeface="Arial" panose="020B0604020202090204" pitchFamily="34" charset="0"/>
                        </a:rPr>
                        <a:t>8</a:t>
                      </a:r>
                      <a:endParaRPr lang="en-US" altLang="en-US" sz="1600" b="0">
                        <a:solidFill>
                          <a:schemeClr val="tx1"/>
                        </a:solidFill>
                        <a:latin typeface="Arial" panose="020B0604020202090204" pitchFamily="34" charset="0"/>
                        <a:ea typeface="Arial" panose="020B0604020202090204" pitchFamily="34" charset="0"/>
                        <a:cs typeface="Arial" panose="020B0604020202090204" pitchFamily="34"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文件定位</a:t>
            </a:r>
            <a:endParaRPr lang="zh-CN" altLang="en-US"/>
          </a:p>
        </p:txBody>
      </p:sp>
      <p:sp>
        <p:nvSpPr>
          <p:cNvPr id="3" name="内容占位符 2"/>
          <p:cNvSpPr>
            <a:spLocks noGrp="1"/>
          </p:cNvSpPr>
          <p:nvPr>
            <p:ph idx="1"/>
          </p:nvPr>
        </p:nvSpPr>
        <p:spPr/>
        <p:txBody>
          <a:bodyPr/>
          <a:p>
            <a:pPr lvl="0" algn="l"/>
            <a:r>
              <a:rPr lang="zh-CN" altLang="en-US"/>
              <a:t>第5步　分析位图属性</a:t>
            </a:r>
            <a:endParaRPr lang="zh-CN" altLang="en-US"/>
          </a:p>
          <a:p>
            <a:pPr lvl="1" algn="l"/>
            <a:r>
              <a:rPr lang="zh-CN" altLang="en-US"/>
              <a:t>在A0H属性的Run List所列出的数据流分配中，</a:t>
            </a:r>
            <a:r>
              <a:rPr lang="zh-CN" altLang="en-US">
                <a:sym typeface="+mn-ea"/>
              </a:rPr>
              <a:t>由位图（B0H）属性确定的</a:t>
            </a:r>
            <a:r>
              <a:rPr lang="zh-CN" altLang="en-US"/>
              <a:t>哪些簇</a:t>
            </a:r>
            <a:r>
              <a:rPr lang="zh-CN" altLang="en-US"/>
              <a:t>被实际使用了。</a:t>
            </a:r>
            <a:endParaRPr lang="zh-CN" altLang="en-US"/>
          </a:p>
          <a:p>
            <a:pPr lvl="1" algn="l"/>
            <a:r>
              <a:rPr lang="zh-CN" altLang="en-US"/>
              <a:t>示例中的</a:t>
            </a:r>
            <a:r>
              <a:rPr lang="en-US" altLang="zh-CN"/>
              <a:t>B0H</a:t>
            </a:r>
            <a:r>
              <a:rPr lang="zh-CN" altLang="en-US"/>
              <a:t>属性是一个常驻属性，属性体的大小为8个字节，其值为“77H”，换算成二进制为“01110111”，它的含义是，当前分配给索引项的空间中有6个被使用的索引缓冲区。</a:t>
            </a:r>
            <a:endParaRPr lang="zh-CN" alt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文件</a:t>
            </a:r>
            <a:r>
              <a:rPr lang="zh-CN" altLang="en-US"/>
              <a:t>定位</a:t>
            </a:r>
            <a:endParaRPr lang="zh-CN" altLang="en-US"/>
          </a:p>
        </p:txBody>
      </p:sp>
      <p:sp>
        <p:nvSpPr>
          <p:cNvPr id="3" name="内容占位符 2"/>
          <p:cNvSpPr>
            <a:spLocks noGrp="1"/>
          </p:cNvSpPr>
          <p:nvPr>
            <p:ph idx="1"/>
          </p:nvPr>
        </p:nvSpPr>
        <p:spPr/>
        <p:txBody>
          <a:bodyPr/>
          <a:p>
            <a:pPr marL="0" indent="0">
              <a:buNone/>
            </a:pPr>
            <a:r>
              <a:rPr lang="zh-CN" altLang="en-US"/>
              <a:t>示例</a:t>
            </a:r>
            <a:r>
              <a:rPr lang="en-US" altLang="zh-CN"/>
              <a:t>B0H</a:t>
            </a:r>
            <a:r>
              <a:rPr lang="zh-CN" altLang="en-US"/>
              <a:t>含义</a:t>
            </a:r>
            <a:endParaRPr lang="zh-CN" altLang="en-US"/>
          </a:p>
        </p:txBody>
      </p:sp>
      <p:graphicFrame>
        <p:nvGraphicFramePr>
          <p:cNvPr id="4" name="表格 3"/>
          <p:cNvGraphicFramePr/>
          <p:nvPr>
            <p:custDataLst>
              <p:tags r:id="rId1"/>
            </p:custDataLst>
          </p:nvPr>
        </p:nvGraphicFramePr>
        <p:xfrm>
          <a:off x="949325" y="2348865"/>
          <a:ext cx="6484620" cy="3699510"/>
        </p:xfrm>
        <a:graphic>
          <a:graphicData uri="http://schemas.openxmlformats.org/drawingml/2006/table">
            <a:tbl>
              <a:tblPr/>
              <a:tblGrid>
                <a:gridCol w="720090"/>
                <a:gridCol w="2481580"/>
                <a:gridCol w="2004695"/>
                <a:gridCol w="1278255"/>
              </a:tblGrid>
              <a:tr h="807085">
                <a:tc>
                  <a:txBody>
                    <a:bodyPr/>
                    <a:p>
                      <a:pPr indent="0">
                        <a:buNone/>
                      </a:pPr>
                      <a:r>
                        <a:rPr lang="en-US" sz="1800" b="0">
                          <a:solidFill>
                            <a:srgbClr val="3D464D"/>
                          </a:solidFill>
                          <a:latin typeface="宋体" charset="0"/>
                          <a:cs typeface="宋体" charset="0"/>
                        </a:rPr>
                        <a:t>数据流编号</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3D464D"/>
                          </a:solidFill>
                          <a:latin typeface="宋体" charset="0"/>
                          <a:cs typeface="宋体" charset="0"/>
                        </a:rPr>
                        <a:t>数据流起始LCN（逻辑簇号）</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3D464D"/>
                          </a:solidFill>
                          <a:latin typeface="宋体" charset="0"/>
                          <a:cs typeface="宋体" charset="0"/>
                        </a:rPr>
                        <a:t>数据流起始VCN（虚拟簇号）</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3D464D"/>
                          </a:solidFill>
                          <a:latin typeface="宋体" charset="0"/>
                          <a:cs typeface="宋体" charset="0"/>
                        </a:rPr>
                        <a:t>数据流长度（簇）</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85445">
                <a:tc>
                  <a:txBody>
                    <a:bodyPr/>
                    <a:p>
                      <a:pPr indent="0">
                        <a:buNone/>
                      </a:pPr>
                      <a:r>
                        <a:rPr lang="en-US" sz="1800" b="0">
                          <a:solidFill>
                            <a:srgbClr val="3D464D"/>
                          </a:solidFill>
                          <a:latin typeface="宋体" charset="0"/>
                          <a:cs typeface="宋体" charset="0"/>
                        </a:rPr>
                        <a:t>1</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3D464D"/>
                          </a:solidFill>
                          <a:latin typeface="宋体" charset="0"/>
                          <a:cs typeface="宋体" charset="0"/>
                        </a:rPr>
                        <a:t>200 859</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3D464D"/>
                          </a:solidFill>
                          <a:latin typeface="宋体" charset="0"/>
                          <a:cs typeface="宋体" charset="0"/>
                        </a:rPr>
                        <a:t>0（已用）</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3D464D"/>
                          </a:solidFill>
                          <a:latin typeface="宋体" charset="0"/>
                          <a:cs typeface="宋体" charset="0"/>
                        </a:rPr>
                        <a:t>8</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01650">
                <a:tc>
                  <a:txBody>
                    <a:bodyPr/>
                    <a:p>
                      <a:pPr indent="0">
                        <a:buNone/>
                      </a:pPr>
                      <a:r>
                        <a:rPr lang="en-US" sz="1800" b="0">
                          <a:solidFill>
                            <a:srgbClr val="3D464D"/>
                          </a:solidFill>
                          <a:latin typeface="宋体" charset="0"/>
                          <a:cs typeface="宋体" charset="0"/>
                        </a:rPr>
                        <a:t>2</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3D464D"/>
                          </a:solidFill>
                          <a:latin typeface="宋体" charset="0"/>
                          <a:cs typeface="宋体" charset="0"/>
                        </a:rPr>
                        <a:t>200 859-13705＝187 154</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3D464D"/>
                          </a:solidFill>
                          <a:latin typeface="宋体" charset="0"/>
                          <a:cs typeface="宋体" charset="0"/>
                        </a:rPr>
                        <a:t>8（已用）</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3D464D"/>
                          </a:solidFill>
                          <a:latin typeface="宋体" charset="0"/>
                          <a:cs typeface="宋体" charset="0"/>
                        </a:rPr>
                        <a:t>8</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01015">
                <a:tc>
                  <a:txBody>
                    <a:bodyPr/>
                    <a:p>
                      <a:pPr indent="0">
                        <a:buNone/>
                      </a:pPr>
                      <a:r>
                        <a:rPr lang="en-US" sz="1800" b="0">
                          <a:solidFill>
                            <a:srgbClr val="3D464D"/>
                          </a:solidFill>
                          <a:latin typeface="宋体" charset="0"/>
                          <a:cs typeface="宋体" charset="0"/>
                        </a:rPr>
                        <a:t>3</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3D464D"/>
                          </a:solidFill>
                          <a:latin typeface="宋体" charset="0"/>
                          <a:cs typeface="宋体" charset="0"/>
                        </a:rPr>
                        <a:t>187 154＋325＝187 479</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3D464D"/>
                          </a:solidFill>
                          <a:latin typeface="宋体" charset="0"/>
                          <a:cs typeface="宋体" charset="0"/>
                        </a:rPr>
                        <a:t>16（已用）</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3D464D"/>
                          </a:solidFill>
                          <a:latin typeface="宋体" charset="0"/>
                          <a:cs typeface="宋体" charset="0"/>
                        </a:rPr>
                        <a:t>8</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01650">
                <a:tc>
                  <a:txBody>
                    <a:bodyPr/>
                    <a:p>
                      <a:pPr indent="0">
                        <a:buNone/>
                      </a:pPr>
                      <a:r>
                        <a:rPr lang="en-US" sz="1800" b="0">
                          <a:solidFill>
                            <a:srgbClr val="3D464D"/>
                          </a:solidFill>
                          <a:latin typeface="宋体" charset="0"/>
                          <a:cs typeface="宋体" charset="0"/>
                        </a:rPr>
                        <a:t>4</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3D464D"/>
                          </a:solidFill>
                          <a:latin typeface="宋体" charset="0"/>
                          <a:cs typeface="宋体" charset="0"/>
                        </a:rPr>
                        <a:t>187 479＋923＝188 402</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3D464D"/>
                          </a:solidFill>
                          <a:latin typeface="宋体" charset="0"/>
                          <a:cs typeface="宋体" charset="0"/>
                        </a:rPr>
                        <a:t>24（未用）</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3D464D"/>
                          </a:solidFill>
                          <a:latin typeface="宋体" charset="0"/>
                          <a:cs typeface="宋体" charset="0"/>
                        </a:rPr>
                        <a:t>8</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01015">
                <a:tc>
                  <a:txBody>
                    <a:bodyPr/>
                    <a:p>
                      <a:pPr indent="0">
                        <a:buNone/>
                      </a:pPr>
                      <a:r>
                        <a:rPr lang="en-US" sz="1800" b="0">
                          <a:solidFill>
                            <a:srgbClr val="3D464D"/>
                          </a:solidFill>
                          <a:latin typeface="宋体" charset="0"/>
                          <a:cs typeface="宋体" charset="0"/>
                        </a:rPr>
                        <a:t>5</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3D464D"/>
                          </a:solidFill>
                          <a:latin typeface="宋体" charset="0"/>
                          <a:cs typeface="宋体" charset="0"/>
                        </a:rPr>
                        <a:t>188 402＋8432＝196 834</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3D464D"/>
                          </a:solidFill>
                          <a:latin typeface="宋体" charset="0"/>
                          <a:cs typeface="宋体" charset="0"/>
                        </a:rPr>
                        <a:t>32（已用）</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3D464D"/>
                          </a:solidFill>
                          <a:latin typeface="宋体" charset="0"/>
                          <a:cs typeface="宋体" charset="0"/>
                        </a:rPr>
                        <a:t>16</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01650">
                <a:tc>
                  <a:txBody>
                    <a:bodyPr/>
                    <a:p>
                      <a:pPr indent="0">
                        <a:buNone/>
                      </a:pPr>
                      <a:r>
                        <a:rPr lang="en-US" sz="1800" b="0">
                          <a:solidFill>
                            <a:srgbClr val="3D464D"/>
                          </a:solidFill>
                          <a:latin typeface="宋体" charset="0"/>
                          <a:cs typeface="宋体" charset="0"/>
                        </a:rPr>
                        <a:t>6</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3D464D"/>
                          </a:solidFill>
                          <a:latin typeface="宋体" charset="0"/>
                          <a:cs typeface="宋体" charset="0"/>
                        </a:rPr>
                        <a:t>196 834＋1294＝198 128</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3D464D"/>
                          </a:solidFill>
                          <a:latin typeface="宋体" charset="0"/>
                          <a:cs typeface="宋体" charset="0"/>
                        </a:rPr>
                        <a:t>48（已用）</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solidFill>
                            <a:srgbClr val="3D464D"/>
                          </a:solidFill>
                          <a:latin typeface="宋体" charset="0"/>
                          <a:cs typeface="宋体" charset="0"/>
                        </a:rPr>
                        <a:t>8</a:t>
                      </a:r>
                      <a:endParaRPr lang="en-US" altLang="en-US" sz="1800" b="0">
                        <a:solidFill>
                          <a:srgbClr val="3D464D"/>
                        </a:solidFill>
                        <a:latin typeface="宋体" charset="0"/>
                        <a:ea typeface="宋体" charset="0"/>
                        <a:cs typeface="宋体" charset="0"/>
                      </a:endParaRPr>
                    </a:p>
                  </a:txBody>
                  <a:tcPr marL="0" marR="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文件</a:t>
            </a:r>
            <a:r>
              <a:rPr lang="zh-CN" altLang="en-US"/>
              <a:t>定位</a:t>
            </a:r>
            <a:endParaRPr lang="zh-CN" altLang="en-US"/>
          </a:p>
        </p:txBody>
      </p:sp>
      <p:sp>
        <p:nvSpPr>
          <p:cNvPr id="3" name="内容占位符 2"/>
          <p:cNvSpPr>
            <a:spLocks noGrp="1"/>
          </p:cNvSpPr>
          <p:nvPr>
            <p:ph idx="1"/>
          </p:nvPr>
        </p:nvSpPr>
        <p:spPr/>
        <p:txBody>
          <a:bodyPr/>
          <a:p>
            <a:r>
              <a:rPr lang="zh-CN" altLang="en-US"/>
              <a:t>第6步　遍历B＋树</a:t>
            </a:r>
            <a:endParaRPr lang="zh-CN" altLang="en-US"/>
          </a:p>
          <a:p>
            <a:pPr lvl="1"/>
            <a:r>
              <a:rPr lang="zh-CN" altLang="en-US"/>
              <a:t>B＋树的节点分别存放在LCN为200859、187154、187479、196834、198128的各个簇中。到这些簇中遍历一下，结果发现在196 834号簇所在的索引缓冲区中的节点含有子节点。</a:t>
            </a:r>
            <a:endParaRPr lang="zh-CN" altLang="en-US"/>
          </a:p>
          <a:p>
            <a:pPr lvl="1"/>
            <a:r>
              <a:rPr lang="zh-CN" altLang="en-US"/>
              <a:t>示例中目标文件“36.txt”的文件名大于“34.txt”，小于“53.txt”，所以文件“36.txt”的节点一定在“53.txt”的子节点中。下图中“53.txt”的索引项可以看出，其子节点的起始VCN是“10H”，</a:t>
            </a:r>
            <a:r>
              <a:rPr lang="zh-CN" altLang="en-US"/>
              <a:t>查找索引缓冲区LCN与VCN对应关系，可知VCN的16号簇对应LCN的187479号簇。</a:t>
            </a:r>
            <a:endParaRPr lang="zh-CN" alt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文件</a:t>
            </a:r>
            <a:r>
              <a:rPr lang="zh-CN" altLang="en-US"/>
              <a:t>定位</a:t>
            </a:r>
            <a:endParaRPr lang="zh-CN" altLang="en-US"/>
          </a:p>
        </p:txBody>
      </p:sp>
      <p:pic>
        <p:nvPicPr>
          <p:cNvPr id="4" name="内容占位符 3"/>
          <p:cNvPicPr>
            <a:picLocks noChangeAspect="1"/>
          </p:cNvPicPr>
          <p:nvPr>
            <p:ph idx="1"/>
          </p:nvPr>
        </p:nvPicPr>
        <p:blipFill>
          <a:blip r:embed="rId1"/>
          <a:stretch>
            <a:fillRect/>
          </a:stretch>
        </p:blipFill>
        <p:spPr>
          <a:xfrm>
            <a:off x="2411730" y="1412875"/>
            <a:ext cx="6038215" cy="5097145"/>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文件</a:t>
            </a:r>
            <a:r>
              <a:rPr lang="zh-CN" altLang="en-US"/>
              <a:t>定位</a:t>
            </a:r>
            <a:endParaRPr lang="zh-CN" altLang="en-US"/>
          </a:p>
        </p:txBody>
      </p:sp>
      <p:sp>
        <p:nvSpPr>
          <p:cNvPr id="3" name="内容占位符 2"/>
          <p:cNvSpPr>
            <a:spLocks noGrp="1"/>
          </p:cNvSpPr>
          <p:nvPr>
            <p:ph idx="1"/>
          </p:nvPr>
        </p:nvSpPr>
        <p:spPr>
          <a:xfrm>
            <a:off x="457200" y="1600200"/>
            <a:ext cx="1848485" cy="4530725"/>
          </a:xfrm>
        </p:spPr>
        <p:txBody>
          <a:bodyPr/>
          <a:p>
            <a:pPr marL="0" indent="0">
              <a:buNone/>
            </a:pPr>
            <a:r>
              <a:rPr lang="zh-CN" altLang="en-US" sz="2400"/>
              <a:t>示例：跳转到187479号簇，在该索引缓冲区中进行顺序遍历，很快发现其中的第二个节点就是目标文件“36.txt”的节点。</a:t>
            </a:r>
            <a:endParaRPr lang="zh-CN" altLang="en-US" sz="2400"/>
          </a:p>
        </p:txBody>
      </p:sp>
      <p:pic>
        <p:nvPicPr>
          <p:cNvPr id="4" name="图片 3"/>
          <p:cNvPicPr>
            <a:picLocks noChangeAspect="1"/>
          </p:cNvPicPr>
          <p:nvPr/>
        </p:nvPicPr>
        <p:blipFill>
          <a:blip r:embed="rId1"/>
          <a:stretch>
            <a:fillRect/>
          </a:stretch>
        </p:blipFill>
        <p:spPr>
          <a:xfrm>
            <a:off x="2305685" y="1557020"/>
            <a:ext cx="6686550" cy="4410075"/>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文件</a:t>
            </a:r>
            <a:r>
              <a:rPr lang="zh-CN" altLang="en-US"/>
              <a:t>定位</a:t>
            </a:r>
            <a:endParaRPr lang="zh-CN" altLang="en-US"/>
          </a:p>
        </p:txBody>
      </p:sp>
      <p:sp>
        <p:nvSpPr>
          <p:cNvPr id="3" name="内容占位符 2"/>
          <p:cNvSpPr>
            <a:spLocks noGrp="1"/>
          </p:cNvSpPr>
          <p:nvPr>
            <p:ph idx="1"/>
          </p:nvPr>
        </p:nvSpPr>
        <p:spPr>
          <a:xfrm>
            <a:off x="457200" y="1600200"/>
            <a:ext cx="3002915" cy="4530725"/>
          </a:xfrm>
        </p:spPr>
        <p:txBody>
          <a:bodyPr/>
          <a:p>
            <a:pPr marL="0" lvl="1"/>
            <a:r>
              <a:rPr lang="zh-CN" altLang="en-US" sz="2800"/>
              <a:t>第7步　访问目标文件的文件记录，</a:t>
            </a:r>
            <a:r>
              <a:rPr lang="zh-CN" altLang="en-US" sz="2600">
                <a:sym typeface="+mn-ea"/>
              </a:rPr>
              <a:t>索引项中可以获得其$MFT参考号，</a:t>
            </a:r>
            <a:r>
              <a:rPr lang="zh-CN" altLang="en-US">
                <a:sym typeface="+mn-ea"/>
              </a:rPr>
              <a:t>进入$MFT文件，找到文件记录。</a:t>
            </a:r>
            <a:endParaRPr lang="zh-CN" altLang="en-US"/>
          </a:p>
          <a:p>
            <a:pPr marL="0" indent="0">
              <a:buNone/>
            </a:pPr>
            <a:r>
              <a:rPr lang="zh-CN" altLang="en-US" sz="2400"/>
              <a:t>示例中是其文件记录号为“4CH”</a:t>
            </a:r>
            <a:r>
              <a:rPr lang="zh-CN" altLang="en-US"/>
              <a:t>。</a:t>
            </a:r>
            <a:endParaRPr lang="zh-CN" altLang="en-US"/>
          </a:p>
        </p:txBody>
      </p:sp>
      <p:pic>
        <p:nvPicPr>
          <p:cNvPr id="4" name="图片 3"/>
          <p:cNvPicPr>
            <a:picLocks noChangeAspect="1"/>
          </p:cNvPicPr>
          <p:nvPr/>
        </p:nvPicPr>
        <p:blipFill>
          <a:blip r:embed="rId1"/>
          <a:stretch>
            <a:fillRect/>
          </a:stretch>
        </p:blipFill>
        <p:spPr>
          <a:xfrm>
            <a:off x="3419475" y="1772920"/>
            <a:ext cx="5591810" cy="3907155"/>
          </a:xfrm>
          <a:prstGeom prst="rect">
            <a:avLst/>
          </a:prstGeom>
        </p:spPr>
      </p:pic>
    </p:spTree>
  </p:cSld>
  <p:clrMapOvr>
    <a:masterClrMapping/>
  </p:clrMapOvr>
</p:sld>
</file>

<file path=ppt/tags/tag1.xml><?xml version="1.0" encoding="utf-8"?>
<p:tagLst xmlns:p="http://schemas.openxmlformats.org/presentationml/2006/main">
  <p:tag name="TABLE_ENDDRAG_ORIGIN_RECT" val="656*368"/>
  <p:tag name="TABLE_ENDDRAG_RECT" val="31*116*656*368"/>
</p:tagLst>
</file>

<file path=ppt/tags/tag2.xml><?xml version="1.0" encoding="utf-8"?>
<p:tagLst xmlns:p="http://schemas.openxmlformats.org/presentationml/2006/main">
  <p:tag name="TABLE_ENDDRAG_ORIGIN_RECT" val="639*363"/>
  <p:tag name="TABLE_ENDDRAG_RECT" val="25*122*639*363"/>
</p:tagLst>
</file>

<file path=ppt/tags/tag3.xml><?xml version="1.0" encoding="utf-8"?>
<p:tagLst xmlns:p="http://schemas.openxmlformats.org/presentationml/2006/main">
  <p:tag name="TABLE_ENDDRAG_ORIGIN_RECT" val="655*368"/>
  <p:tag name="TABLE_ENDDRAG_RECT" val="28*111*655*368"/>
</p:tagLst>
</file>

<file path=ppt/tags/tag4.xml><?xml version="1.0" encoding="utf-8"?>
<p:tagLst xmlns:p="http://schemas.openxmlformats.org/presentationml/2006/main">
  <p:tag name="TABLE_ENDDRAG_ORIGIN_RECT" val="656*368"/>
  <p:tag name="TABLE_ENDDRAG_RECT" val="26*117*656*368"/>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TABLE_ENDDRAG_ORIGIN_RECT" val="643*361"/>
  <p:tag name="TABLE_ENDDRAG_RECT" val="36*122*643*361"/>
</p:tagLst>
</file>

<file path=ppt/tags/tag8.xml><?xml version="1.0" encoding="utf-8"?>
<p:tagLst xmlns:p="http://schemas.openxmlformats.org/presentationml/2006/main">
  <p:tag name="TABLE_ENDDRAG_ORIGIN_RECT" val="638*374"/>
  <p:tag name="TABLE_ENDDRAG_RECT" val="33*112*638*374"/>
</p:tagLst>
</file>

<file path=ppt/tags/tag9.xml><?xml version="1.0" encoding="utf-8"?>
<p:tagLst xmlns:p="http://schemas.openxmlformats.org/presentationml/2006/main">
  <p:tag name="TABLE_ENDDRAG_ORIGIN_RECT" val="619*388"/>
  <p:tag name="TABLE_ENDDRAG_RECT" val="31*116*619*388"/>
</p:tagLst>
</file>

<file path=ppt/tags/tag10.xml><?xml version="1.0" encoding="utf-8"?>
<p:tagLst xmlns:p="http://schemas.openxmlformats.org/presentationml/2006/main">
  <p:tag name="TABLE_ENDDRAG_ORIGIN_RECT" val="622*364"/>
  <p:tag name="TABLE_ENDDRAG_RECT" val="31*113*622*364"/>
</p:tagLst>
</file>

<file path=ppt/tags/tag11.xml><?xml version="1.0" encoding="utf-8"?>
<p:tagLst xmlns:p="http://schemas.openxmlformats.org/presentationml/2006/main">
  <p:tag name="TABLE_ENDDRAG_ORIGIN_RECT" val="630*360"/>
  <p:tag name="TABLE_ENDDRAG_RECT" val="31*122*630*360"/>
</p:tagLst>
</file>

<file path=ppt/tags/tag12.xml><?xml version="1.0" encoding="utf-8"?>
<p:tagLst xmlns:p="http://schemas.openxmlformats.org/presentationml/2006/main">
  <p:tag name="TABLE_ENDDRAG_ORIGIN_RECT" val="635*334"/>
  <p:tag name="TABLE_ENDDRAG_RECT" val="-275*103*635*334"/>
</p:tagLst>
</file>

<file path=ppt/tags/tag13.xml><?xml version="1.0" encoding="utf-8"?>
<p:tagLst xmlns:p="http://schemas.openxmlformats.org/presentationml/2006/main">
  <p:tag name="TABLE_ENDDRAG_ORIGIN_RECT" val="624*255"/>
  <p:tag name="TABLE_ENDDRAG_RECT" val="47*115*624*255"/>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TABLE_ENDDRAG_ORIGIN_RECT" val="563*234"/>
  <p:tag name="TABLE_ENDDRAG_RECT" val="53*247*563*234"/>
</p:tagLst>
</file>

<file path=ppt/tags/tag17.xml><?xml version="1.0" encoding="utf-8"?>
<p:tagLst xmlns:p="http://schemas.openxmlformats.org/presentationml/2006/main">
  <p:tag name="TABLE_ENDDRAG_ORIGIN_RECT" val="642*277"/>
  <p:tag name="TABLE_ENDDRAG_RECT" val="36*201*642*277"/>
</p:tagLst>
</file>

<file path=ppt/tags/tag18.xml><?xml version="1.0" encoding="utf-8"?>
<p:tagLst xmlns:p="http://schemas.openxmlformats.org/presentationml/2006/main">
  <p:tag name="TABLE_ENDDRAG_ORIGIN_RECT" val="356*100"/>
  <p:tag name="TABLE_ENDDRAG_RECT" val="58*201*356*100"/>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TABLE_ENDDRAG_ORIGIN_RECT" val="454*210"/>
  <p:tag name="TABLE_ENDDRAG_RECT" val="65*267*454*210"/>
</p:tagLst>
</file>

<file path=ppt/tags/tag21.xml><?xml version="1.0" encoding="utf-8"?>
<p:tagLst xmlns:p="http://schemas.openxmlformats.org/presentationml/2006/main">
  <p:tag name="TABLE_ENDDRAG_ORIGIN_RECT" val="510*280"/>
  <p:tag name="TABLE_ENDDRAG_RECT" val="74*184*510*280"/>
</p:tagLst>
</file>

<file path=ppt/tags/tag22.xml><?xml version="1.0" encoding="utf-8"?>
<p:tagLst xmlns:p="http://schemas.openxmlformats.org/presentationml/2006/main">
  <p:tag name="commondata" val="eyJoZGlkIjoiYWFiZjc4NTQwNTllODVhOTg5M2NmMGU2YzQyNGRkZWYifQ=="/>
</p:tagLst>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楷体_GB2312"/>
        <a:cs typeface=""/>
      </a:majorFont>
      <a:minorFont>
        <a:latin typeface="Arial"/>
        <a:ea typeface="华文新魏"/>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Edge</Template>
  <TotalTime>0</TotalTime>
  <Words>15767</Words>
  <Application>WPS 演示</Application>
  <PresentationFormat>全屏显示(4:3)</PresentationFormat>
  <Paragraphs>2141</Paragraphs>
  <Slides>100</Slides>
  <Notes>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100</vt:i4>
      </vt:variant>
    </vt:vector>
  </HeadingPairs>
  <TitlesOfParts>
    <vt:vector size="122" baseType="lpstr">
      <vt:lpstr>Arial</vt:lpstr>
      <vt:lpstr>宋体</vt:lpstr>
      <vt:lpstr>Wingdings</vt:lpstr>
      <vt:lpstr>汉仪书宋二KW</vt:lpstr>
      <vt:lpstr>Garamond</vt:lpstr>
      <vt:lpstr>苹方-简</vt:lpstr>
      <vt:lpstr>楷体_GB2312</vt:lpstr>
      <vt:lpstr>汉仪楷体简</vt:lpstr>
      <vt:lpstr>楷体_GB2312</vt:lpstr>
      <vt:lpstr>华文新魏</vt:lpstr>
      <vt:lpstr>宋体-简</vt:lpstr>
      <vt:lpstr>等线</vt:lpstr>
      <vt:lpstr>汉仪中等线KW</vt:lpstr>
      <vt:lpstr>微软雅黑</vt:lpstr>
      <vt:lpstr>汉仪旗黑</vt:lpstr>
      <vt:lpstr>宋体</vt:lpstr>
      <vt:lpstr>Arial Unicode MS</vt:lpstr>
      <vt:lpstr>DengXian</vt:lpstr>
      <vt:lpstr>Times New Roman</vt:lpstr>
      <vt:lpstr>Calibri</vt:lpstr>
      <vt:lpstr>Helvetica Neue</vt:lpstr>
      <vt:lpstr>Edge</vt:lpstr>
      <vt:lpstr>FAT32文件系统</vt:lpstr>
      <vt:lpstr>FAT32文件系统</vt:lpstr>
      <vt:lpstr>FAT32文件系统</vt:lpstr>
      <vt:lpstr>FAT32文件系统</vt:lpstr>
      <vt:lpstr>FAT32文件系统</vt:lpstr>
      <vt:lpstr>FAT32文件系统</vt:lpstr>
      <vt:lpstr>FAT32文件系统</vt:lpstr>
      <vt:lpstr>FAT32 DBR</vt:lpstr>
      <vt:lpstr>FAT32 DBR</vt:lpstr>
      <vt:lpstr>FAT32 DBR</vt:lpstr>
      <vt:lpstr>FAT32 DBR</vt:lpstr>
      <vt:lpstr>FAT32 DBR</vt:lpstr>
      <vt:lpstr>FAT32 DBR </vt:lpstr>
      <vt:lpstr>FAT32 DBR</vt:lpstr>
      <vt:lpstr>FAT32 DBR </vt:lpstr>
      <vt:lpstr>FAT32 DBR</vt:lpstr>
      <vt:lpstr>FAT32 DBR </vt:lpstr>
      <vt:lpstr>保留扇区</vt:lpstr>
      <vt:lpstr>FAT32 FAT</vt:lpstr>
      <vt:lpstr>FAT32 FAT </vt:lpstr>
      <vt:lpstr>FAT32 FAT</vt:lpstr>
      <vt:lpstr>FAT32 FAT </vt:lpstr>
      <vt:lpstr>FAT32 FAT</vt:lpstr>
      <vt:lpstr>FAT32文件系统目录项</vt:lpstr>
      <vt:lpstr>FAT32目录结构</vt:lpstr>
      <vt:lpstr>FAT32文件系统目录项 </vt:lpstr>
      <vt:lpstr>长文件名目录项</vt:lpstr>
      <vt:lpstr>PowerPoint 演示文稿</vt:lpstr>
      <vt:lpstr>LongnameTestAndSmallSize</vt:lpstr>
      <vt:lpstr>NTFS文件系统</vt:lpstr>
      <vt:lpstr>NTFS文件系统</vt:lpstr>
      <vt:lpstr>NTFS文件系统</vt:lpstr>
      <vt:lpstr>NTFS文件系统</vt:lpstr>
      <vt:lpstr>NTFS文件系统 </vt:lpstr>
      <vt:lpstr>NTFS引导扇区</vt:lpstr>
      <vt:lpstr>NTFS引导扇区</vt:lpstr>
      <vt:lpstr>MFT </vt:lpstr>
      <vt:lpstr>MFT</vt:lpstr>
      <vt:lpstr>MFT</vt:lpstr>
      <vt:lpstr>文件记录头</vt:lpstr>
      <vt:lpstr>文件记录头</vt:lpstr>
      <vt:lpstr>文件记录头</vt:lpstr>
      <vt:lpstr>文件记录头</vt:lpstr>
      <vt:lpstr>文件记录头</vt:lpstr>
      <vt:lpstr>MFT </vt:lpstr>
      <vt:lpstr>属性列表</vt:lpstr>
      <vt:lpstr>属性列表</vt:lpstr>
      <vt:lpstr>MFT</vt:lpstr>
      <vt:lpstr>MFT</vt:lpstr>
      <vt:lpstr>常驻没有属性名的属性头结构 </vt:lpstr>
      <vt:lpstr>常驻有属性名的属性头结构</vt:lpstr>
      <vt:lpstr>非常驻没有属性名的属性头结构</vt:lpstr>
      <vt:lpstr>非常驻有属性名的属性头结构</vt:lpstr>
      <vt:lpstr>10H属性分析</vt:lpstr>
      <vt:lpstr>10H属性分析</vt:lpstr>
      <vt:lpstr>10H属性分析</vt:lpstr>
      <vt:lpstr>10H属性分析</vt:lpstr>
      <vt:lpstr>20H属性分析</vt:lpstr>
      <vt:lpstr>20H属性分析</vt:lpstr>
      <vt:lpstr>20H属性分析</vt:lpstr>
      <vt:lpstr>20H属性分析</vt:lpstr>
      <vt:lpstr>30H属性分析</vt:lpstr>
      <vt:lpstr>30H属性分析 </vt:lpstr>
      <vt:lpstr>30H属性分析</vt:lpstr>
      <vt:lpstr>80H属性分析 </vt:lpstr>
      <vt:lpstr>80H属性分析</vt:lpstr>
      <vt:lpstr>80H属性分析</vt:lpstr>
      <vt:lpstr>80H属性分析</vt:lpstr>
      <vt:lpstr>80H属性分析</vt:lpstr>
      <vt:lpstr>80H属性分析</vt:lpstr>
      <vt:lpstr>90H属性分析 </vt:lpstr>
      <vt:lpstr>90H属性分析</vt:lpstr>
      <vt:lpstr>90H属性</vt:lpstr>
      <vt:lpstr>90H属性</vt:lpstr>
      <vt:lpstr>A0H属性</vt:lpstr>
      <vt:lpstr>A0H属性</vt:lpstr>
      <vt:lpstr>元文件$Root</vt:lpstr>
      <vt:lpstr>元文件$Root</vt:lpstr>
      <vt:lpstr>元文件$Root</vt:lpstr>
      <vt:lpstr>元文件$Root</vt:lpstr>
      <vt:lpstr>元文件$Root</vt:lpstr>
      <vt:lpstr>PowerPoint 演示文稿</vt:lpstr>
      <vt:lpstr>NTFS的索引结构分析</vt:lpstr>
      <vt:lpstr>NTFS的索引结构分析 </vt:lpstr>
      <vt:lpstr>NTFS的索引结构分析</vt:lpstr>
      <vt:lpstr>NTFS的索引结构分析</vt:lpstr>
      <vt:lpstr>NTFS的索引结构分析</vt:lpstr>
      <vt:lpstr>NTFS的索引结构分析 </vt:lpstr>
      <vt:lpstr>文件定位</vt:lpstr>
      <vt:lpstr>文件定位示例</vt:lpstr>
      <vt:lpstr>文件定位</vt:lpstr>
      <vt:lpstr>文件定位</vt:lpstr>
      <vt:lpstr>文件定位</vt:lpstr>
      <vt:lpstr>文件定位</vt:lpstr>
      <vt:lpstr>文件定位</vt:lpstr>
      <vt:lpstr>文件定位</vt:lpstr>
      <vt:lpstr>文件定位</vt:lpstr>
      <vt:lpstr>文件定位</vt:lpstr>
      <vt:lpstr>文件定位</vt:lpstr>
      <vt:lpstr>文件定位</vt:lpstr>
    </vt:vector>
  </TitlesOfParts>
  <Company>www.ftpdown.com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FtpDown</dc:creator>
  <cp:lastModifiedBy>杨吉云</cp:lastModifiedBy>
  <cp:revision>137</cp:revision>
  <cp:lastPrinted>2025-03-07T08:18:06Z</cp:lastPrinted>
  <dcterms:created xsi:type="dcterms:W3CDTF">2025-03-07T08:18:06Z</dcterms:created>
  <dcterms:modified xsi:type="dcterms:W3CDTF">2025-03-07T08:18:06Z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2052-6.10.2.8876</vt:lpwstr>
  </property>
  <property fmtid="{D5CDD505-2E9C-101B-9397-08002B2CF9AE}" pid="3" name="ICV">
    <vt:lpwstr>58E18012F31D5D0A61B1D565EE36389E_43</vt:lpwstr>
  </property>
</Properties>
</file>